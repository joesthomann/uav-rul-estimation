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12"/>
  </p:notesMasterIdLst>
  <p:handoutMasterIdLst>
    <p:handoutMasterId r:id="rId13"/>
  </p:handoutMasterIdLst>
  <p:sldIdLst>
    <p:sldId id="256" r:id="rId9"/>
    <p:sldId id="257" r:id="rId10"/>
    <p:sldId id="258" r:id="rId11"/>
    <p:sldId id="259" r:id="rId8"/>
    <p:sldId id="260" r:id="rId7"/>
    <p:sldId id="261" r:id="rId6"/>
    <p:sldId id="262" r:id="rId5"/>
    <p:sldId id="263" r:id="rId4"/>
    <p:sldId id="264" r:id="rId3"/>
    <p:sldId id="265" r:id="rId2"/>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Lst>
  <p:sldSz cx="9144000" cy="5143500" type="screen16x9"/>
  <p:notesSz cx="6858000" cy="9144000"/>
  <p:defaultTextStyle>
    <a:defPPr>
      <a:defRPr lang="en-US"/>
    </a:defPPr>
    <a:lvl1pPr marL="0" algn="l" defTabSz="713232" rtl="0" eaLnBrk="1" latinLnBrk="0" hangingPunct="1">
      <a:defRPr sz="1404" kern="1200">
        <a:solidFill>
          <a:schemeClr val="tx1"/>
        </a:solidFill>
        <a:latin typeface="+mn-lt"/>
        <a:ea typeface="+mn-ea"/>
        <a:cs typeface="+mn-cs"/>
      </a:defRPr>
    </a:lvl1pPr>
    <a:lvl2pPr marL="356616" algn="l" defTabSz="713232" rtl="0" eaLnBrk="1" latinLnBrk="0" hangingPunct="1">
      <a:defRPr sz="1404" kern="1200">
        <a:solidFill>
          <a:schemeClr val="tx1"/>
        </a:solidFill>
        <a:latin typeface="+mn-lt"/>
        <a:ea typeface="+mn-ea"/>
        <a:cs typeface="+mn-cs"/>
      </a:defRPr>
    </a:lvl2pPr>
    <a:lvl3pPr marL="713232" algn="l" defTabSz="713232" rtl="0" eaLnBrk="1" latinLnBrk="0" hangingPunct="1">
      <a:defRPr sz="1404" kern="1200">
        <a:solidFill>
          <a:schemeClr val="tx1"/>
        </a:solidFill>
        <a:latin typeface="+mn-lt"/>
        <a:ea typeface="+mn-ea"/>
        <a:cs typeface="+mn-cs"/>
      </a:defRPr>
    </a:lvl3pPr>
    <a:lvl4pPr marL="1069848" algn="l" defTabSz="713232" rtl="0" eaLnBrk="1" latinLnBrk="0" hangingPunct="1">
      <a:defRPr sz="1404" kern="1200">
        <a:solidFill>
          <a:schemeClr val="tx1"/>
        </a:solidFill>
        <a:latin typeface="+mn-lt"/>
        <a:ea typeface="+mn-ea"/>
        <a:cs typeface="+mn-cs"/>
      </a:defRPr>
    </a:lvl4pPr>
    <a:lvl5pPr marL="1426464" algn="l" defTabSz="713232" rtl="0" eaLnBrk="1" latinLnBrk="0" hangingPunct="1">
      <a:defRPr sz="1404" kern="1200">
        <a:solidFill>
          <a:schemeClr val="tx1"/>
        </a:solidFill>
        <a:latin typeface="+mn-lt"/>
        <a:ea typeface="+mn-ea"/>
        <a:cs typeface="+mn-cs"/>
      </a:defRPr>
    </a:lvl5pPr>
    <a:lvl6pPr marL="1783080" algn="l" defTabSz="713232" rtl="0" eaLnBrk="1" latinLnBrk="0" hangingPunct="1">
      <a:defRPr sz="1404" kern="1200">
        <a:solidFill>
          <a:schemeClr val="tx1"/>
        </a:solidFill>
        <a:latin typeface="+mn-lt"/>
        <a:ea typeface="+mn-ea"/>
        <a:cs typeface="+mn-cs"/>
      </a:defRPr>
    </a:lvl6pPr>
    <a:lvl7pPr marL="2139696" algn="l" defTabSz="713232" rtl="0" eaLnBrk="1" latinLnBrk="0" hangingPunct="1">
      <a:defRPr sz="1404" kern="1200">
        <a:solidFill>
          <a:schemeClr val="tx1"/>
        </a:solidFill>
        <a:latin typeface="+mn-lt"/>
        <a:ea typeface="+mn-ea"/>
        <a:cs typeface="+mn-cs"/>
      </a:defRPr>
    </a:lvl7pPr>
    <a:lvl8pPr marL="2496312" algn="l" defTabSz="713232" rtl="0" eaLnBrk="1" latinLnBrk="0" hangingPunct="1">
      <a:defRPr sz="1404" kern="1200">
        <a:solidFill>
          <a:schemeClr val="tx1"/>
        </a:solidFill>
        <a:latin typeface="+mn-lt"/>
        <a:ea typeface="+mn-ea"/>
        <a:cs typeface="+mn-cs"/>
      </a:defRPr>
    </a:lvl8pPr>
    <a:lvl9pPr marL="2852928" algn="l" defTabSz="713232" rtl="0" eaLnBrk="1" latinLnBrk="0" hangingPunct="1">
      <a:defRPr sz="1404" kern="1200">
        <a:solidFill>
          <a:schemeClr val="tx1"/>
        </a:solidFill>
        <a:latin typeface="+mn-lt"/>
        <a:ea typeface="+mn-ea"/>
        <a:cs typeface="+mn-cs"/>
      </a:defRPr>
    </a:lvl9pPr>
  </p:defaultTextStyle>
  <p:extLst>
    <p:ext uri="{EFAFB233-063F-42B5-8137-9DF3F51BA10A}">
      <p15:sldGuideLst xmlns:p15="http://schemas.microsoft.com/office/powerpoint/2012/main">
        <p15:guide id="3" pos="294" userDrawn="1">
          <p15:clr>
            <a:srgbClr val="A4A3A4"/>
          </p15:clr>
        </p15:guide>
        <p15:guide id="4" orient="horz" pos="162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65" autoAdjust="0"/>
    <p:restoredTop sz="94712" autoAdjust="0"/>
  </p:normalViewPr>
  <p:slideViewPr>
    <p:cSldViewPr snapToGrid="0">
      <p:cViewPr varScale="1">
        <p:scale>
          <a:sx n="140" d="100"/>
          <a:sy n="140" d="100"/>
        </p:scale>
        <p:origin x="696" y="102"/>
      </p:cViewPr>
      <p:guideLst>
        <p:guide pos="294"/>
        <p:guide orient="horz" pos="1620"/>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81" d="100"/>
          <a:sy n="81" d="100"/>
        </p:scale>
        <p:origin x="3336" y="10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0.xml"/><Relationship Id="rId3" Type="http://schemas.openxmlformats.org/officeDocument/2006/relationships/slide" Target="slides/slide9.xml"/><Relationship Id="rId4" Type="http://schemas.openxmlformats.org/officeDocument/2006/relationships/slide" Target="slides/slide8.xml"/><Relationship Id="rId5" Type="http://schemas.openxmlformats.org/officeDocument/2006/relationships/slide" Target="slides/slide7.xml"/><Relationship Id="rId6" Type="http://schemas.openxmlformats.org/officeDocument/2006/relationships/slide" Target="slides/slide6.xml"/><Relationship Id="rId7" Type="http://schemas.openxmlformats.org/officeDocument/2006/relationships/slide" Target="slides/slide5.xml"/><Relationship Id="rId8" Type="http://schemas.openxmlformats.org/officeDocument/2006/relationships/slide" Target="slides/slide4.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notesMaster" Target="notesMasters/notesMaster1.xml"/><Relationship Id="rId13" Type="http://schemas.openxmlformats.org/officeDocument/2006/relationships/handoutMaster" Target="handoutMasters/handout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6/11/relationships/changesInfo" Target="changesInfos/changesInfo1.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st Homann" userId="e7a6558bf2a09ce7" providerId="LiveId" clId="{22C8940F-5B34-43DC-9005-A79948EA2237}"/>
    <pc:docChg chg="mod">
      <pc:chgData name="Joest Homann" userId="e7a6558bf2a09ce7" providerId="LiveId" clId="{22C8940F-5B34-43DC-9005-A79948EA2237}" dt="2026-09-08T16:48:42.698" v="0"/>
      <pc:docMkLst>
        <pc:docMk/>
      </pc:docMkLst>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468313" y="243069"/>
            <a:ext cx="5903912" cy="458788"/>
          </a:xfrm>
          <a:prstGeom prst="rect">
            <a:avLst/>
          </a:prstGeom>
        </p:spPr>
        <p:txBody>
          <a:bodyPr vert="horz" lIns="0" tIns="0" rIns="0" bIns="0" rtlCol="0"/>
          <a:lstStyle>
            <a:lvl1pPr algn="l">
              <a:defRPr sz="1200"/>
            </a:lvl1pPr>
          </a:lstStyle>
          <a:p>
            <a:r>
              <a:rPr lang="en-US" b="1"/>
              <a:t>Titel der Präsentation</a:t>
            </a:r>
          </a:p>
        </p:txBody>
      </p:sp>
      <p:sp>
        <p:nvSpPr>
          <p:cNvPr id="3" name="Datumsplatzhalter 2"/>
          <p:cNvSpPr>
            <a:spLocks noGrp="1"/>
          </p:cNvSpPr>
          <p:nvPr>
            <p:ph type="dt" sz="quarter" idx="1"/>
          </p:nvPr>
        </p:nvSpPr>
        <p:spPr>
          <a:xfrm>
            <a:off x="5483506" y="8777812"/>
            <a:ext cx="648000" cy="144000"/>
          </a:xfrm>
          <a:prstGeom prst="rect">
            <a:avLst/>
          </a:prstGeom>
        </p:spPr>
        <p:txBody>
          <a:bodyPr vert="horz" lIns="0" tIns="0" rIns="0" bIns="0" rtlCol="0" anchor="t"/>
          <a:lstStyle>
            <a:lvl1pPr algn="r">
              <a:defRPr sz="1200"/>
            </a:lvl1pPr>
          </a:lstStyle>
          <a:p>
            <a:pPr algn="l"/>
            <a:fld id="{5ED5F780-471C-4CCE-BB88-8634FF48E50C}" type="datetime1">
              <a:rPr lang="de-DE" sz="800" smtClean="0"/>
              <a:t>08.09.2026</a:t>
            </a:fld>
            <a:endParaRPr lang="en-US" sz="800"/>
          </a:p>
        </p:txBody>
      </p:sp>
      <p:sp>
        <p:nvSpPr>
          <p:cNvPr id="4" name="Fußzeilenplatzhalter 3"/>
          <p:cNvSpPr>
            <a:spLocks noGrp="1"/>
          </p:cNvSpPr>
          <p:nvPr>
            <p:ph type="ftr" sz="quarter" idx="2"/>
          </p:nvPr>
        </p:nvSpPr>
        <p:spPr>
          <a:xfrm>
            <a:off x="468313" y="8777813"/>
            <a:ext cx="4500000" cy="144000"/>
          </a:xfrm>
          <a:prstGeom prst="rect">
            <a:avLst/>
          </a:prstGeom>
        </p:spPr>
        <p:txBody>
          <a:bodyPr vert="horz" lIns="0" tIns="0" rIns="0" bIns="0" rtlCol="0" anchor="t"/>
          <a:lstStyle>
            <a:lvl1pPr algn="l">
              <a:defRPr sz="1200"/>
            </a:lvl1pPr>
          </a:lstStyle>
          <a:p>
            <a:r>
              <a:rPr lang="en-US" sz="800"/>
              <a:t>Universität Stuttgart</a:t>
            </a:r>
          </a:p>
        </p:txBody>
      </p:sp>
      <p:sp>
        <p:nvSpPr>
          <p:cNvPr id="5" name="Foliennummernplatzhalter 4"/>
          <p:cNvSpPr>
            <a:spLocks noGrp="1"/>
          </p:cNvSpPr>
          <p:nvPr>
            <p:ph type="sldNum" sz="quarter" idx="3"/>
          </p:nvPr>
        </p:nvSpPr>
        <p:spPr>
          <a:xfrm>
            <a:off x="6270195" y="8777813"/>
            <a:ext cx="360000" cy="144000"/>
          </a:xfrm>
          <a:prstGeom prst="rect">
            <a:avLst/>
          </a:prstGeom>
        </p:spPr>
        <p:txBody>
          <a:bodyPr vert="horz" lIns="0" tIns="0" rIns="0" bIns="0" rtlCol="0" anchor="t"/>
          <a:lstStyle>
            <a:lvl1pPr algn="r">
              <a:defRPr sz="1200"/>
            </a:lvl1pPr>
          </a:lstStyle>
          <a:p>
            <a:pPr algn="l"/>
            <a:fld id="{EE9A79A6-2547-4C8F-B0ED-316280A1A122}" type="slidenum">
              <a:rPr lang="en-US" sz="800" smtClean="0"/>
              <a:pPr algn="l"/>
              <a:t>‹Nr.›</a:t>
            </a:fld>
            <a:endParaRPr lang="en-US" sz="800"/>
          </a:p>
        </p:txBody>
      </p:sp>
    </p:spTree>
    <p:extLst>
      <p:ext uri="{BB962C8B-B14F-4D97-AF65-F5344CB8AC3E}">
        <p14:creationId xmlns:p14="http://schemas.microsoft.com/office/powerpoint/2010/main" val="2561533372"/>
      </p:ext>
    </p:extLst>
  </p:cSld>
  <p:clrMap bg1="lt1" tx1="dk1" bg2="lt2" tx2="dk2" accent1="accent1" accent2="accent2" accent3="accent3" accent4="accent4" accent5="accent5" accent6="accent6" hlink="hlink" folHlink="folHlink"/>
  <p:hf/>
  <p:extLst>
    <p:ext uri="{56416CCD-93CA-4268-BC5B-53C4BB910035}">
      <p15:sldGuideLst xmlns:p15="http://schemas.microsoft.com/office/powerpoint/2012/main">
        <p15:guide id="1" orient="horz" pos="2880" userDrawn="1">
          <p15:clr>
            <a:srgbClr val="F26B43"/>
          </p15:clr>
        </p15:guide>
        <p15:guide id="2" pos="295" userDrawn="1">
          <p15:clr>
            <a:srgbClr val="F26B43"/>
          </p15:clr>
        </p15:guide>
        <p15:guide id="3" pos="4014"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347680" y="256832"/>
            <a:ext cx="6113274" cy="475050"/>
          </a:xfrm>
          <a:prstGeom prst="rect">
            <a:avLst/>
          </a:prstGeom>
        </p:spPr>
        <p:txBody>
          <a:bodyPr vert="horz" lIns="0" tIns="0" rIns="0" bIns="0" rtlCol="0"/>
          <a:lstStyle>
            <a:lvl1pPr algn="l">
              <a:defRPr sz="1200" b="1"/>
            </a:lvl1pPr>
          </a:lstStyle>
          <a:p>
            <a:r>
              <a:rPr lang="en-US"/>
              <a:t>Titel der Präsentation</a:t>
            </a:r>
          </a:p>
        </p:txBody>
      </p:sp>
      <p:sp>
        <p:nvSpPr>
          <p:cNvPr id="3" name="Datumsplatzhalter 2"/>
          <p:cNvSpPr>
            <a:spLocks noGrp="1"/>
          </p:cNvSpPr>
          <p:nvPr>
            <p:ph type="dt" idx="1"/>
          </p:nvPr>
        </p:nvSpPr>
        <p:spPr>
          <a:xfrm>
            <a:off x="5295600" y="8776800"/>
            <a:ext cx="648000" cy="144000"/>
          </a:xfrm>
          <a:prstGeom prst="rect">
            <a:avLst/>
          </a:prstGeom>
        </p:spPr>
        <p:txBody>
          <a:bodyPr vert="horz" lIns="0" tIns="0" rIns="0" bIns="0" rtlCol="0" anchor="t"/>
          <a:lstStyle>
            <a:lvl1pPr algn="l">
              <a:defRPr sz="800"/>
            </a:lvl1pPr>
          </a:lstStyle>
          <a:p>
            <a:fld id="{C284191B-A352-458B-81F0-1FA2149F7941}" type="datetime1">
              <a:rPr lang="de-DE" smtClean="0"/>
              <a:t>08.09.2026</a:t>
            </a:fld>
            <a:endParaRPr lang="en-US"/>
          </a:p>
        </p:txBody>
      </p:sp>
      <p:sp>
        <p:nvSpPr>
          <p:cNvPr id="4" name="Folienbildplatzhalter 3"/>
          <p:cNvSpPr>
            <a:spLocks noGrp="1" noRot="1" noChangeAspect="1"/>
          </p:cNvSpPr>
          <p:nvPr>
            <p:ph type="sldImg" idx="2"/>
          </p:nvPr>
        </p:nvSpPr>
        <p:spPr>
          <a:xfrm>
            <a:off x="6350" y="1020763"/>
            <a:ext cx="6792913" cy="3821112"/>
          </a:xfrm>
          <a:prstGeom prst="rect">
            <a:avLst/>
          </a:prstGeom>
          <a:noFill/>
          <a:ln w="6350">
            <a:solidFill>
              <a:schemeClr val="tx1"/>
            </a:solidFill>
          </a:ln>
        </p:spPr>
        <p:txBody>
          <a:bodyPr vert="horz" lIns="91440" tIns="45720" rIns="91440" bIns="45720" rtlCol="0" anchor="ctr"/>
          <a:lstStyle/>
          <a:p>
            <a:endParaRPr lang="en-US"/>
          </a:p>
        </p:txBody>
      </p:sp>
      <p:sp>
        <p:nvSpPr>
          <p:cNvPr id="5" name="Notizenplatzhalter 4"/>
          <p:cNvSpPr>
            <a:spLocks noGrp="1"/>
          </p:cNvSpPr>
          <p:nvPr>
            <p:ph type="body" sz="quarter" idx="3"/>
          </p:nvPr>
        </p:nvSpPr>
        <p:spPr>
          <a:xfrm>
            <a:off x="347992" y="5016760"/>
            <a:ext cx="6112961" cy="3645977"/>
          </a:xfrm>
          <a:prstGeom prst="rect">
            <a:avLst/>
          </a:prstGeom>
        </p:spPr>
        <p:txBody>
          <a:bodyPr vert="horz" lIns="0" tIns="0" rIns="0" bIns="0" rtlCol="0"/>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6" name="Fußzeilenplatzhalter 5"/>
          <p:cNvSpPr>
            <a:spLocks noGrp="1"/>
          </p:cNvSpPr>
          <p:nvPr>
            <p:ph type="ftr" sz="quarter" idx="4"/>
          </p:nvPr>
        </p:nvSpPr>
        <p:spPr>
          <a:xfrm>
            <a:off x="323850" y="8776800"/>
            <a:ext cx="4644150" cy="144000"/>
          </a:xfrm>
          <a:prstGeom prst="rect">
            <a:avLst/>
          </a:prstGeom>
        </p:spPr>
        <p:txBody>
          <a:bodyPr vert="horz" lIns="0" tIns="0" rIns="0" bIns="0" rtlCol="0" anchor="t"/>
          <a:lstStyle>
            <a:lvl1pPr algn="l">
              <a:defRPr sz="800"/>
            </a:lvl1pPr>
          </a:lstStyle>
          <a:p>
            <a:r>
              <a:rPr lang="en-US"/>
              <a:t>Universität Stuttgart</a:t>
            </a:r>
            <a:endParaRPr lang="en-US" dirty="0"/>
          </a:p>
        </p:txBody>
      </p:sp>
      <p:sp>
        <p:nvSpPr>
          <p:cNvPr id="7" name="Foliennummernplatzhalter 6"/>
          <p:cNvSpPr>
            <a:spLocks noGrp="1"/>
          </p:cNvSpPr>
          <p:nvPr>
            <p:ph type="sldNum" sz="quarter" idx="5"/>
          </p:nvPr>
        </p:nvSpPr>
        <p:spPr>
          <a:xfrm>
            <a:off x="6120175" y="8776800"/>
            <a:ext cx="360000" cy="144000"/>
          </a:xfrm>
          <a:prstGeom prst="rect">
            <a:avLst/>
          </a:prstGeom>
        </p:spPr>
        <p:txBody>
          <a:bodyPr vert="horz" lIns="0" tIns="0" rIns="0" bIns="0" rtlCol="0" anchor="t"/>
          <a:lstStyle>
            <a:lvl1pPr algn="r">
              <a:defRPr sz="800"/>
            </a:lvl1pPr>
          </a:lstStyle>
          <a:p>
            <a:fld id="{05DD1DF0-DD4E-4B0C-B0FD-D16D9D2A9750}" type="slidenum">
              <a:rPr lang="en-US" smtClean="0"/>
              <a:pPr/>
              <a:t>‹Nr.›</a:t>
            </a:fld>
            <a:endParaRPr lang="en-US" dirty="0"/>
          </a:p>
        </p:txBody>
      </p:sp>
    </p:spTree>
    <p:extLst>
      <p:ext uri="{BB962C8B-B14F-4D97-AF65-F5344CB8AC3E}">
        <p14:creationId xmlns:p14="http://schemas.microsoft.com/office/powerpoint/2010/main" val="3888985705"/>
      </p:ext>
    </p:extLst>
  </p:cSld>
  <p:clrMap bg1="lt1" tx1="dk1" bg2="lt2" tx2="dk2" accent1="accent1" accent2="accent2" accent3="accent3" accent4="accent4" accent5="accent5" accent6="accent6" hlink="hlink" folHlink="folHlink"/>
  <p:hf/>
  <p:notesStyle>
    <a:lvl1pPr marL="180975" indent="-180975" algn="l" defTabSz="713232" rtl="0" eaLnBrk="1" latinLnBrk="0" hangingPunct="1">
      <a:lnSpc>
        <a:spcPct val="120000"/>
      </a:lnSpc>
      <a:buClr>
        <a:schemeClr val="accent1"/>
      </a:buClr>
      <a:buFont typeface="Arial" panose="020B0604020202020204" pitchFamily="34" charset="0"/>
      <a:buChar char="•"/>
      <a:defRPr sz="1000" kern="1200">
        <a:solidFill>
          <a:schemeClr val="tx1"/>
        </a:solidFill>
        <a:latin typeface="+mn-lt"/>
        <a:ea typeface="+mn-ea"/>
        <a:cs typeface="+mn-cs"/>
      </a:defRPr>
    </a:lvl1pPr>
    <a:lvl2pPr marL="358775" indent="-177800" algn="l" defTabSz="713232" rtl="0" eaLnBrk="1" latinLnBrk="0" hangingPunct="1">
      <a:lnSpc>
        <a:spcPct val="120000"/>
      </a:lnSpc>
      <a:buFont typeface="Arial" panose="020B0604020202020204" pitchFamily="34" charset="0"/>
      <a:buChar char="•"/>
      <a:defRPr sz="1000" kern="1200">
        <a:solidFill>
          <a:schemeClr val="tx1"/>
        </a:solidFill>
        <a:latin typeface="+mn-lt"/>
        <a:ea typeface="+mn-ea"/>
        <a:cs typeface="+mn-cs"/>
      </a:defRPr>
    </a:lvl2pPr>
    <a:lvl3pPr marL="538163" indent="-179388" algn="l" defTabSz="713232" rtl="0" eaLnBrk="1" latinLnBrk="0" hangingPunct="1">
      <a:lnSpc>
        <a:spcPct val="120000"/>
      </a:lnSpc>
      <a:buFont typeface="Arial" panose="020B0604020202020204" pitchFamily="34" charset="0"/>
      <a:buChar char="•"/>
      <a:defRPr sz="1000" kern="1200">
        <a:solidFill>
          <a:schemeClr val="tx1"/>
        </a:solidFill>
        <a:latin typeface="+mn-lt"/>
        <a:ea typeface="+mn-ea"/>
        <a:cs typeface="+mn-cs"/>
      </a:defRPr>
    </a:lvl3pPr>
    <a:lvl4pPr marL="719138" indent="-180975" algn="l" defTabSz="713232" rtl="0" eaLnBrk="1" latinLnBrk="0" hangingPunct="1">
      <a:lnSpc>
        <a:spcPct val="120000"/>
      </a:lnSpc>
      <a:buFont typeface="Arial" panose="020B0604020202020204" pitchFamily="34" charset="0"/>
      <a:buChar char="•"/>
      <a:defRPr sz="1000" kern="1200">
        <a:solidFill>
          <a:schemeClr val="tx1"/>
        </a:solidFill>
        <a:latin typeface="+mn-lt"/>
        <a:ea typeface="+mn-ea"/>
        <a:cs typeface="+mn-cs"/>
      </a:defRPr>
    </a:lvl4pPr>
    <a:lvl5pPr marL="896938" indent="-177800" algn="l" defTabSz="713232" rtl="0" eaLnBrk="1" latinLnBrk="0" hangingPunct="1">
      <a:lnSpc>
        <a:spcPct val="120000"/>
      </a:lnSpc>
      <a:buFont typeface="Arial" panose="020B0604020202020204" pitchFamily="34" charset="0"/>
      <a:buChar char="•"/>
      <a:defRPr sz="1000"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04" userDrawn="1">
          <p15:clr>
            <a:srgbClr val="F26B43"/>
          </p15:clr>
        </p15:guide>
        <p15:guide id="3" pos="4082"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fleet of inspection UAVs records twenty-eight anonymous telemetry channels once per flight cycle. We are given a UAV we have never seen, observed up to some cutoff, and asked how many cycles it has left.</a:t>
            </a:r>
          </a:p>
          <a:p/>
          <a:p>
            <a:r>
              <a:t>This is a real training UAV: two hundred and twenty-nine cycles to failure. Cut it at cycle one hundred and forty-eight, the median test length, and everything right of the line is unknown. Those eighty-one cycles are what we predict.</a:t>
            </a:r>
          </a:p>
          <a:p/>
          <a:p>
            <a:r>
              <a:t>Our best submitted model scores zero point eight seven six five two. This talk answers one question: which decisions produced that number. Most were made before any model was trained.</a:t>
            </a:r>
          </a:p>
          <a:p/>
          <a:p>
            <a:r>
              <a:t>----- speaker reference, not spoken -----</a:t>
            </a:r>
          </a:p>
          <a:p>
            <a:r>
              <a:t>Planned duration: 0.75 min</a:t>
            </a:r>
          </a:p>
          <a:p>
            <a:r>
              <a:t>Figure: generated for this talk from data/train.csv · claims C01-C04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whole answer on one axis.</a:t>
            </a:r>
          </a:p>
          <a:p/>
          <a:p>
            <a:r>
              <a:t>Run three: a tuned XGBoost on the raw remaining-life target under our original scenarios, zero point five four. Run four changed the validation scenarios and capped the fitting target at a hundred and twenty-five: zero point eight four five. Run five brought the drift-pruned features and a calibrated tree blend. Run six added conditional calibration, run seven a cross-fitted residual correction: zero point eight seven six five.</a:t>
            </a:r>
          </a:p>
          <a:p/>
          <a:p>
            <a:r>
              <a:t>Two qualifications. Each point is a submission, not an isolated ablation, so a run can carry more than one change. And the deltas shrink by two orders of magnitude: one decision is worth three tenths of R squared, everything after it about three hundredths. That first decision is about the data and the evaluation, not the model. So we start there.</a:t>
            </a:r>
          </a:p>
          <a:p/>
          <a:p>
            <a:r>
              <a:t>----- speaker reference, not spoken -----</a:t>
            </a:r>
          </a:p>
          <a:p>
            <a:r>
              <a:t>Planned duration: 1.00 min</a:t>
            </a:r>
          </a:p>
          <a:p>
            <a:r>
              <a:t>Figure: generated from kaggle_scores.csv and pipeline_experiments.md · claims C05-C12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0 is a reproducible audit of the data before any model exists. Its first job is subtraction.</a:t>
            </a:r>
          </a:p>
          <a:p/>
          <a:p>
            <a:r>
              <a:t>Two channels, twenty and twenty-seven, take exactly one value in the whole training set. Four more — three, eight, fourteen and seventeen — vary only at machine precision: between ninety-three and ninety-eight percent of their rows sit inside a flatline run of at least five identical cycles. All six fail the effectively-constant test.</a:t>
            </a:r>
          </a:p>
          <a:p/>
          <a:p>
            <a:r>
              <a:t>Twenty-eight channels become twenty-two, and the six never enter any feature set. That decision comes from the data, not from a model score.</a:t>
            </a:r>
          </a:p>
          <a:p/>
          <a:p>
            <a:r>
              <a:t>----- speaker reference, not spoken -----</a:t>
            </a:r>
          </a:p>
          <a:p>
            <a:r>
              <a:t>Planned duration: 0.75 min</a:t>
            </a:r>
          </a:p>
          <a:p>
            <a:r>
              <a:t>Figure: repository script re-run at slide size · 0_data_analysis/broad_data_review/plot_constant_features.py · claims C13-C18</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job is to find which of the twenty-two remaining channels track degradation. Four views, one per panel.</a:t>
            </a:r>
          </a:p>
          <a:p/>
          <a:p>
            <a:r>
              <a:t>The left panel pools every row — the weakest evidence, because it mixes UAVs of different ages. The second controls for flight cycle. The third computes the correlation inside each UAV separately, and the fourth gives the share of UAVs trending the same way.</a:t>
            </a:r>
          </a:p>
          <a:p/>
          <a:p>
            <a:r>
              <a:t>The declared threshold is a within-UAV correlation of at least zero point three, with the same direction in at least seventy percent of UAVs. Ten channels pass. Seven, thirteen, nineteen, twenty-one and twenty-two increase in one hundred percent of UAVs; sixteen, twenty-five and twenty-eight decrease in one hundred percent.</a:t>
            </a:r>
          </a:p>
          <a:p/>
          <a:p>
            <a:r>
              <a:t>Now telemetry eighteen. Visible age-controlled association in the second panel; essentially nothing in the third, at minus zero point zero one nine. A pooled analysis would have promoted it as a degradation signal. Inside a single UAV it does not move with remaining life at all.</a:t>
            </a:r>
          </a:p>
          <a:p/>
          <a:p>
            <a:r>
              <a:t>A correlation is still not predictive value. These ten are candidates; whether they help is settled later by grouped validation.</a:t>
            </a:r>
          </a:p>
          <a:p/>
          <a:p>
            <a:r>
              <a:t>----- speaker reference, not spoken -----</a:t>
            </a:r>
          </a:p>
          <a:p>
            <a:r>
              <a:t>Planned duration: 1.50 min</a:t>
            </a:r>
          </a:p>
          <a:p>
            <a:r>
              <a:t>Figure: repository script re-run on a channel subset · 0_data_analysis/core_data_analysis/temporal_rul_analysis.py · claims C19-C27</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previous slide asked whether a channel moves with age. This one asks where its variation lives, and the answer decides what kind of feature it should become.</a:t>
            </a:r>
          </a:p>
          <a:p/>
          <a:p>
            <a:r>
              <a:t>Each bar splits a channel's total variance into the part that happens inside one UAV over time, dark blue, and the part that is a persistent difference between UAVs, light blue.</a:t>
            </a:r>
          </a:p>
          <a:p/>
          <a:p>
            <a:r>
              <a:t>Seventeen channels are within-UAV dominated, including all ten degradation candidates, at seventy-four to eighty-seven percent. Those get temporal features: slope, rolling statistics, recent change, deviation from the UAV's own baseline.</a:t>
            </a:r>
          </a:p>
          <a:p/>
          <a:p>
            <a:r>
              <a:t>Four are between-UAV dominated. Telemetry eighteen is the extreme case: ninety-six percent of its variance is simply that different UAVs sit at different levels. With the previous slide that is a coherent story — eighteen describes the UAV, not its degradation — so it is kept only as a baseline and level description.</a:t>
            </a:r>
          </a:p>
          <a:p/>
          <a:p>
            <a:r>
              <a:t>The six removed channels appear as constant, with no bar at all: the same conclusion by a different route.</a:t>
            </a:r>
          </a:p>
          <a:p/>
          <a:p>
            <a:r>
              <a:t>----- speaker reference, not spoken -----</a:t>
            </a:r>
          </a:p>
          <a:p>
            <a:r>
              <a:t>Planned duration: 1.25 min</a:t>
            </a:r>
          </a:p>
          <a:p>
            <a:r>
              <a:t>Figure: repository script re-run at slide size · 0_data_analysis/broad_data_review/plot_within_between_variance.py · claims C28-C34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trusting any of it, one question: are the test UAVs the same kind of object as the training UAVs?</a:t>
            </a:r>
          </a:p>
          <a:p/>
          <a:p>
            <a:r>
              <a:t>The two left panels compare raw distributions and look alarming. The two right panels compare each test endpoint only against training UAVs observed at the same flight cycle. Almost all of the apparent shift disappears: the median age-matched shift is below zero point two seven training interquartile ranges for every channel.</a:t>
            </a:r>
          </a:p>
          <a:p/>
          <a:p>
            <a:r>
              <a:t>So test UAVs are younger, not different. That is a statement about validation design, and it is the bridge into Phase 1.</a:t>
            </a:r>
          </a:p>
          <a:p/>
          <a:p>
            <a:r>
              <a:t>Two channels stay on a watch list: telemetry five, with sixteen percent of its endpoints outside the same-age training range, and twenty-two with nine. Neither was removed on that evidence.</a:t>
            </a:r>
          </a:p>
          <a:p/>
          <a:p>
            <a:r>
              <a:t>----- speaker reference, not spoken -----</a:t>
            </a:r>
          </a:p>
          <a:p>
            <a:r>
              <a:t>Planned duration: 1.00 min</a:t>
            </a:r>
          </a:p>
          <a:p>
            <a:r>
              <a:t>Figure: repository script re-run at slide size · 0_data_analysis/core_data_analysis/train_test_drift.py · claims C35-C41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Phase 0 found, in one matrix. Each row is a channel, each column a documented threshold, each blue cell a channel that meets it. The roles are deliberately not exclusive.</a:t>
            </a:r>
          </a:p>
          <a:p/>
          <a:p>
            <a:r>
              <a:t>Six removal candidates, ten degradation candidates, four context channels, one state channel. On top of that, ten channels flagged for anomaly review, fourteen for redundancy, fifteen for drift.</a:t>
            </a:r>
          </a:p>
          <a:p/>
          <a:p>
            <a:r>
              <a:t>The important point is what we did not do with the last three columns. Nothing was removed for being correlated, for containing extreme readings, or for drifting. Telemetry nineteen and twenty-one correlate almost perfectly at UAV level and both were kept. A screening matrix summarises statistical evidence; it does not measure predictive value. Every warning became an experiment later, and several were answered with no.</a:t>
            </a:r>
          </a:p>
          <a:p/>
          <a:p>
            <a:r>
              <a:t>Telemetry seven is the interesting row: it meets five criteria at once, so it is represented as a discrete operating state rather than a continuous sensor.</a:t>
            </a:r>
          </a:p>
          <a:p/>
          <a:p>
            <a:r>
              <a:t>----- speaker reference, not spoken -----</a:t>
            </a:r>
          </a:p>
          <a:p>
            <a:r>
              <a:t>Planned duration: 1.25 min</a:t>
            </a:r>
          </a:p>
          <a:p>
            <a:r>
              <a:t>Figure: repository script re-run at slide size · 0_data_analysis/core_data_analysis/channel_classification.py · claims C42-C50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1 turns a hundred complete run-to-failure histories into something we can honestly measure a model on.</a:t>
            </a:r>
          </a:p>
          <a:p/>
          <a:p>
            <a:r>
              <a:t>The split is by UAV, never by row. A hundred training UAVs become five outer folds of twenty, balanced by terminal lifetime. Inside each outer round the eighty training UAVs split again into four inner folds. Features, hyperparameters, early stopping and blend weights are all selected on the inner folds; the twenty outer UAVs only ever evaluate the selected procedure. Twenty inner rounds in total, and every UAV held out exactly once.</a:t>
            </a:r>
          </a:p>
          <a:p/>
          <a:p>
            <a:r>
              <a:t>Why nest rather than take one eighty-twenty split? With a hundred UAVs and large UAV-to-UAV differences, one split is not a measurement.</a:t>
            </a:r>
          </a:p>
          <a:p/>
          <a:p>
            <a:r>
              <a:t>None of this is trusted on faith. Ten assertions are re-checked automatically. The one to point at is prefix causality: the checker recomputes features for ten prefixes after replacing every post-cutoff telemetry value with extreme artificial numbers, and requires the features to come out unchanged. The status is passed.</a:t>
            </a:r>
          </a:p>
          <a:p/>
          <a:p>
            <a:r>
              <a:t>----- speaker reference, not spoken -----</a:t>
            </a:r>
          </a:p>
          <a:p>
            <a:r>
              <a:t>Planned duration: 1.25 min</a:t>
            </a:r>
          </a:p>
          <a:p>
            <a:r>
              <a:t>Sources: 1_dataset_construction/2_UAV_grouped_validation_folds and 10_automated_leakage_checks/artifacts/verification_report.json · claims C51-C59</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consequential slide in Phase 1.</a:t>
            </a:r>
          </a:p>
          <a:p/>
          <a:p>
            <a:r>
              <a:t>Training histories run from a hundred and forty-five to five hundred and twenty-five cycles, median two hundred and twenty. Test histories run from thirty-eight to four hundred and seventy-five, median a hundred and forty-eight. Read the empirical CDF at a hundred and forty-five: about forty-seven percent of test UAVs stop before the shortest complete training lifetime begins.</a:t>
            </a:r>
          </a:p>
          <a:p/>
          <a:p>
            <a:r>
              <a:t>So a model trained on complete run-to-failure sequences is asked to do something it has never seen. The fix is to truncate: every training UAV gets twenty distinct cutoffs, drawn from the actual test history lengths and shorter than its own life.</a:t>
            </a:r>
          </a:p>
          <a:p/>
          <a:p>
            <a:r>
              <a:t>Each of a UAV's twenty prefixes carries weight one twentieth, so a five-hundred-cycle UAV and a hundred-and-fifty-cycle one influence training equally; otherwise long-lived UAVs would dominate simply by having more rows.</a:t>
            </a:r>
          </a:p>
          <a:p/>
          <a:p>
            <a:r>
              <a:t>One honest weakness: the cutoffs come from the test length distribution, which is information from the test inputs. No label is used, and the audit checks that, but it is worth naming.</a:t>
            </a:r>
          </a:p>
          <a:p/>
          <a:p>
            <a:r>
              <a:t>----- speaker reference, not spoken -----</a:t>
            </a:r>
          </a:p>
          <a:p>
            <a:r>
              <a:t>Planned duration: 1.25 min</a:t>
            </a:r>
          </a:p>
          <a:p>
            <a:r>
              <a:t>Figure: repository script re-run at slide size · 0_data_analysis/broad_data_review/plot_history_length_distributions.py · claims C60-C68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prefix is a variable-length sequence, and the models we intend to use need a fixed-width row. So each prefix becomes twenty-seven summaries per channel.</a:t>
            </a:r>
          </a:p>
          <a:p/>
          <a:p>
            <a:r>
              <a:t>Five groups: where the channel is now, where it started, how far it has moved from its own baseline, how the whole history behaves, and what happened over the last five, twenty and fifty cycles. Comparing those windows lets a tree see acceleration, not only level.</a:t>
            </a:r>
          </a:p>
          <a:p/>
          <a:p>
            <a:r>
              <a:t>Twenty-two channels times twenty-seven, plus ten state features, plus flight cycle and its logarithm, is six hundred and six.</a:t>
            </a:r>
          </a:p>
          <a:p/>
          <a:p>
            <a:r>
              <a:t>Rather than pick one set, four nested sets were declared in advance, each answering a different question — is age alone predictive, does the current snapshot add anything, do the Phase 0 roles help, did the screening discard something useful.</a:t>
            </a:r>
          </a:p>
          <a:p/>
          <a:p>
            <a:r>
              <a:t>Scaling is median and interquartile range, refitted for every fold and feature set on the training UAVs alone. Twelve of the four thousand seven hundred and ten fitted scales fell back to unit scale, and they are recorded rather than silently dropped.</a:t>
            </a:r>
          </a:p>
          <a:p/>
          <a:p>
            <a:r>
              <a:t>----- speaker reference, not spoken -----</a:t>
            </a:r>
          </a:p>
          <a:p>
            <a:r>
              <a:t>Planned duration: 1.25 min</a:t>
            </a:r>
          </a:p>
          <a:p>
            <a:r>
              <a:t>Sources: 1_dataset_construction steps 5-7 · feature_catalog.csv and preprocessing_config.json · claims C69-C77</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thing Phase 1 builds is the simplest model that could work: predicted remaining life is a hundred and eighty-seven point three minus zero point five four two times the cutoff cycle, floored at zero. No telemetry at all.</a:t>
            </a:r>
          </a:p>
          <a:p/>
          <a:p>
            <a:r>
              <a:t>On the left is why it fails. At any cutoff the true remaining life spans hundreds of cycles, because UAVs do not all live the same length. Age tells you almost nothing about which one you hold.</a:t>
            </a:r>
          </a:p>
          <a:p/>
          <a:p>
            <a:r>
              <a:t>R squared of minus zero point zero zero five — slightly worse than the mean predictor — RMSE sixty-four and a half cycles, bias plus seventeen point seven, bootstrap interval minus zero point one five to plus zero point one three.</a:t>
            </a:r>
          </a:p>
          <a:p/>
          <a:p>
            <a:r>
              <a:t>This is the reference for everything after it. An RMSE of eleven cycles means nothing alone; eleven against sixty-four and a half on the same locked scenarios means the engineered features carry real information. The interval resamples whole UAVs, because each UAV appears in twenty scenarios and resampling rows would be falsely narrow.</a:t>
            </a:r>
          </a:p>
          <a:p/>
          <a:p>
            <a:r>
              <a:t>----- speaker reference, not spoken -----</a:t>
            </a:r>
          </a:p>
          <a:p>
            <a:r>
              <a:t>Planned duration: 1.25 min</a:t>
            </a:r>
          </a:p>
          <a:p>
            <a:r>
              <a:t>Figure: generated from 1_dataset_construction/9_cycle_only_baseline artifacts · claims C78-C86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the protocol fixed, the first experiment crossed two choices: which validation scenarios to score on, and whether to cap the fitting target.</a:t>
            </a:r>
          </a:p>
          <a:p/>
          <a:p>
            <a:r>
              <a:t>Capping means fitting against remaining life truncated at a hundred and twenty-five cycles, while evaluation still uses the raw label. A UAV with four hundred cycles left and one with two hundred look identical, so forcing the model to separate them wastes capacity on a region nobody scores. Bounding the scenarios means concentrating validation cutoffs on the bands the test set actually contains — the Phase 1 history-length finding, applied.</a:t>
            </a:r>
          </a:p>
          <a:p/>
          <a:p>
            <a:r>
              <a:t>Both help, and they help together. The four cells are not on a common R squared scale — changing the evaluation target changes the denominator — so this is paired RMSE improvement within each fold.</a:t>
            </a:r>
          </a:p>
          <a:p/>
          <a:p>
            <a:r>
              <a:t>Run four carried both changes and moved the public score from zero point five four to zero point eight four five. Three tenths of R squared from deciding what to fit and what to measure. No new model, no new feature.</a:t>
            </a:r>
          </a:p>
          <a:p/>
          <a:p>
            <a:r>
              <a:t>----- speaker reference, not spoken -----</a:t>
            </a:r>
          </a:p>
          <a:p>
            <a:r>
              <a:t>Planned duration: 1.25 min</a:t>
            </a:r>
          </a:p>
          <a:p>
            <a:r>
              <a:t>Figure: lower panel of the generated PE_2 figure · experiments/PE_2/runs/run_1 · claims C87-C94</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things changed between run four and run five, and both trace back to Phase 0.</a:t>
            </a:r>
          </a:p>
          <a:p/>
          <a:p>
            <a:r>
              <a:t>The feature set became the drift-pruned screened set: two hundred and ninety-eight features, taking the Phase 0 screened definition and removing features whose train-test behaviour did not hold up. That is the drift-warning column being acted on at last — by experiment, not assumption.</a:t>
            </a:r>
          </a:p>
          <a:p/>
          <a:p>
            <a:r>
              <a:t>The model family was chosen here, under one locked protocol, with every architecture given the same folds, the same cutoffs and the same features. The two tree families come out ahead and, more usefully, they make different mistakes, so a fifty-fifty blend beats either alone. The blend weight is selected on training-side data only.</a:t>
            </a:r>
          </a:p>
          <a:p/>
          <a:p>
            <a:r>
              <a:t>Public score: zero point eight six five two five. Two hundredths. Notice the ratio — the model family, what people usually call the modelling decision, was worth about a fifteenth of the target and scenario decision.</a:t>
            </a:r>
          </a:p>
          <a:p/>
          <a:p>
            <a:r>
              <a:t>----- speaker reference, not spoken -----</a:t>
            </a:r>
          </a:p>
          <a:p>
            <a:r>
              <a:t>Planned duration: 1.25 min</a:t>
            </a:r>
          </a:p>
          <a:p>
            <a:r>
              <a:t>Figure: repository figure, unchanged · 2_model_architecture_study/runs/run_5 · claims C95-C103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seven's predecessor overpredicts remaining life more often than it underpredicts, and in maintenance an overprediction is the expensive direction.</a:t>
            </a:r>
          </a:p>
          <a:p/>
          <a:p>
            <a:r>
              <a:t>PE_4 swept a conservative quantile shift and measured the cost. Shifting everything hurts accuracy. Applying the shift only conditionally, at quantile zero point five five, and only where the model's own signals say overprediction is likely, keeps almost all of the accuracy and removes part of the bias.</a:t>
            </a:r>
          </a:p>
          <a:p/>
          <a:p>
            <a:r>
              <a:t>It is worth two thousandths of public R squared. I show it because it is the one decision in the chain taken partly for a reason other than the score.</a:t>
            </a:r>
          </a:p>
          <a:p/>
          <a:p>
            <a:r>
              <a:t>----- speaker reference, not spoken -----</a:t>
            </a:r>
          </a:p>
          <a:p>
            <a:r>
              <a:t>Planned duration: 0.75 min</a:t>
            </a:r>
          </a:p>
          <a:p>
            <a:r>
              <a:t>Figure: repository figure, unchanged · experiments/PE_4/runs/run_1 · claims C104-C108</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retained decision. Six tree members — three XGBoost and three ExtraTrees at seeds thirteen, thirty-seven and seventy-three — are averaged within family and then blended.</a:t>
            </a:r>
          </a:p>
          <a:p/>
          <a:p>
            <a:r>
              <a:t>A small histogram gradient model, seven leaves and a hundred iterations, then predicts that base prediction's residual. Its inputs are the base prediction, the observed history length, how much the six members disagree, and a few baseline deltas and slopes. Member disagreement is a usable signal about where the ensemble is unreliable.</a:t>
            </a:r>
          </a:p>
          <a:p/>
          <a:p>
            <a:r>
              <a:t>The leakage question matters here, so: the out-of-fold predictions that fit the residual model come from models which excluded that UAV, and calibration endpoints are restricted to training UAVs. True future remaining life is never an input.</a:t>
            </a:r>
          </a:p>
          <a:p/>
          <a:p>
            <a:r>
              <a:t>Development effect: eleven point five one down to eleven point zero two cycles, four point two percent better, winning in all five folds. Public score zero point eight seven six five two.</a:t>
            </a:r>
          </a:p>
          <a:p/>
          <a:p>
            <a:r>
              <a:t>----- speaker reference, not spoken -----</a:t>
            </a:r>
          </a:p>
          <a:p>
            <a:r>
              <a:t>Planned duration: 1.25 min</a:t>
            </a:r>
          </a:p>
          <a:p>
            <a:r>
              <a:t>Figure: repository figure, unchanged · experiments/PE_11/runs/run_1 · claims C109-C116</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the remaining error is, and why we stopped.</a:t>
            </a:r>
          </a:p>
          <a:p/>
          <a:p>
            <a:r>
              <a:t>On the left are the out-of-fold development predictions. The structure is systematic, not random: the model compresses towards the middle, so long remaining lives are underpredicted and short ones overpredicted. That is what the fitting cap buys us, and it is also the ceiling it imposes.</a:t>
            </a:r>
          </a:p>
          <a:p/>
          <a:p>
            <a:r>
              <a:t>On the right, six candidates tried after run seven, each with a promotion gate declared beforehand. A full nested refit of the most promising screen came back one point six percent worse. Extra seeds, a regime gate and a short-history specialist all failed. One TabPFN blend is promising and unconfirmed.</a:t>
            </a:r>
          </a:p>
          <a:p/>
          <a:p>
            <a:r>
              <a:t>So nothing was promoted, nothing was submitted, and the public score is still zero point eight seven six five two. I would rather report that than a number obtained by submitting until something stuck.</a:t>
            </a:r>
          </a:p>
          <a:p/>
          <a:p>
            <a:r>
              <a:t>----- speaker reference, not spoken -----</a:t>
            </a:r>
          </a:p>
          <a:p>
            <a:r>
              <a:t>Planned duration: 1.25 min</a:t>
            </a:r>
          </a:p>
          <a:p>
            <a:r>
              <a:t>Figures and tables: run_7/7_post_run_reporting and experiments/PE_15-PE_28 · claims C117-C127</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 to the question in the title.</a:t>
            </a:r>
          </a:p>
          <a:p/>
          <a:p>
            <a:r>
              <a:t>Three tenths of R squared came from deciding what to fit and what to measure it on — and both halves of that decision were read off Phase 0 and Phase 1 evidence: the history-length distributions and the age-matched drift comparison. Two hundredths came from the feature set and the model family. Roughly one hundredth came from calibration and the residual correction together.</a:t>
            </a:r>
          </a:p>
          <a:p/>
          <a:p>
            <a:r>
              <a:t>If there is one thing to take away, it is that the audit and the dataset construction were not preliminaries to the modelling. They were the modelling.</a:t>
            </a:r>
          </a:p>
          <a:p/>
          <a:p>
            <a:r>
              <a:t>----- speaker reference, not spoken -----</a:t>
            </a:r>
          </a:p>
          <a:p>
            <a:r>
              <a:t>Planned duration: 0.75 min</a:t>
            </a:r>
          </a:p>
          <a:p>
            <a:r>
              <a:t>Sources: kaggle_scores.csv, pipeline_experiments.md, phase_0 and phase_1 artifacts · claims C128-C132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of the main deck. Nine backup slides follow: the complete Phase 0 broad review, redundancy and anomaly evidence, the Phase 1 feature derivation, the cycle-only baseline group by group, the full locked architecture table, the sequence and hybrid studies, the complete cap/scenario matrix, residual-correction and calibration detail, and rejected experiments with score provenance.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if asked what else Phase 0 looked at, or why a particular preprocessing choice was made.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if asked why highly correlated channels were kept, or whether anomalous rows were deleted. The repository's four correlation heat maps are 28 x 28 and are not readable at projection size, so the strongest pairs are tabulated instead.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if asked exactly what a feature is, or how the causality check works.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if asked whether the benchmark is weak only on average, or how much it varies across UAV groups.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if asked whether the sequence models were given a fair chance, or about seed stability.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if challenged that trees were preferred without a fair rematch. The hybrid models receive the raw window and all 298 engineered features.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if challenged on the claim that the 2x2 cells are not on a common scale, or on the difference between fitting cap, evaluation support and prediction clipping.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if asked how the residual head avoids leaking, or what the calibration cost.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if asked what else was tried on the feature side. Every row is a matched development comparison whose control was retained.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for methodological questions about the intervals, the repeated endpoints, or where the public scores come from.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18916216-B032-4200-99C8-5BA3A21F880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02988" y="268958"/>
            <a:ext cx="2136071" cy="431998"/>
          </a:xfrm>
          <a:prstGeom prst="rect">
            <a:avLst/>
          </a:prstGeom>
        </p:spPr>
      </p:pic>
      <p:pic>
        <p:nvPicPr>
          <p:cNvPr id="8" name="Grafik 7">
            <a:extLst>
              <a:ext uri="{FF2B5EF4-FFF2-40B4-BE49-F238E27FC236}">
                <a16:creationId xmlns:a16="http://schemas.microsoft.com/office/drawing/2014/main" id="{A72007CB-CD36-48DD-9918-1BFC87D15E94}"/>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3763" t="1" b="-1"/>
          <a:stretch/>
        </p:blipFill>
        <p:spPr>
          <a:xfrm>
            <a:off x="910588" y="580838"/>
            <a:ext cx="1628471" cy="168351"/>
          </a:xfrm>
          <a:prstGeom prst="rect">
            <a:avLst/>
          </a:prstGeom>
        </p:spPr>
      </p:pic>
      <p:sp>
        <p:nvSpPr>
          <p:cNvPr id="9" name="Bildplatzhalter 8"/>
          <p:cNvSpPr>
            <a:spLocks noGrp="1"/>
          </p:cNvSpPr>
          <p:nvPr>
            <p:ph type="pic" sz="quarter" idx="10"/>
          </p:nvPr>
        </p:nvSpPr>
        <p:spPr>
          <a:xfrm>
            <a:off x="0" y="1266840"/>
            <a:ext cx="9144000" cy="3876659"/>
          </a:xfrm>
          <a:solidFill>
            <a:schemeClr val="bg1">
              <a:lumMod val="85000"/>
            </a:schemeClr>
          </a:solidFill>
        </p:spPr>
        <p:txBody>
          <a:bodyPr lIns="72000"/>
          <a:lstStyle>
            <a:lvl1pPr marL="0" indent="0">
              <a:buNone/>
              <a:defRPr/>
            </a:lvl1pPr>
          </a:lstStyle>
          <a:p>
            <a:r>
              <a:rPr lang="de-DE" dirty="0"/>
              <a:t>Bild durch Klicken auf Symbol hinzufügen</a:t>
            </a:r>
            <a:endParaRPr lang="en-US" dirty="0"/>
          </a:p>
        </p:txBody>
      </p:sp>
      <p:sp>
        <p:nvSpPr>
          <p:cNvPr id="3" name="Titel 2">
            <a:extLst>
              <a:ext uri="{FF2B5EF4-FFF2-40B4-BE49-F238E27FC236}">
                <a16:creationId xmlns:a16="http://schemas.microsoft.com/office/drawing/2014/main" id="{86BA6808-8CD4-4528-935A-3978EF1718CF}"/>
              </a:ext>
            </a:extLst>
          </p:cNvPr>
          <p:cNvSpPr>
            <a:spLocks noGrp="1"/>
          </p:cNvSpPr>
          <p:nvPr>
            <p:ph type="title" hasCustomPrompt="1"/>
          </p:nvPr>
        </p:nvSpPr>
        <p:spPr>
          <a:xfrm>
            <a:off x="4750522" y="449461"/>
            <a:ext cx="4140000" cy="4140000"/>
          </a:xfrm>
          <a:prstGeom prst="ellipse">
            <a:avLst/>
          </a:prstGeom>
          <a:solidFill>
            <a:schemeClr val="tx1"/>
          </a:solidFill>
        </p:spPr>
        <p:txBody>
          <a:bodyPr vert="horz" wrap="square" lIns="0" tIns="0" rIns="0" bIns="1116000" rtlCol="0" anchor="b" anchorCtr="0">
            <a:noAutofit/>
          </a:bodyPr>
          <a:lstStyle>
            <a:lvl1pPr>
              <a:defRPr lang="en-GB" sz="2800" baseline="0" dirty="0">
                <a:solidFill>
                  <a:schemeClr val="bg1"/>
                </a:solidFill>
              </a:defRPr>
            </a:lvl1pPr>
          </a:lstStyle>
          <a:p>
            <a:pPr marL="0" lvl="0" indent="0"/>
            <a:r>
              <a:rPr lang="de-DE" dirty="0"/>
              <a:t>Barrierefreier  Titel – Text durch Klicken </a:t>
            </a:r>
            <a:br>
              <a:rPr lang="de-DE" dirty="0"/>
            </a:br>
            <a:r>
              <a:rPr lang="de-DE" dirty="0"/>
              <a:t>hinzufügen</a:t>
            </a:r>
            <a:endParaRPr lang="en-GB" dirty="0"/>
          </a:p>
        </p:txBody>
      </p:sp>
      <p:sp>
        <p:nvSpPr>
          <p:cNvPr id="12" name="Subtitle 2"/>
          <p:cNvSpPr>
            <a:spLocks noGrp="1"/>
          </p:cNvSpPr>
          <p:nvPr>
            <p:ph type="subTitle" idx="1" hasCustomPrompt="1"/>
          </p:nvPr>
        </p:nvSpPr>
        <p:spPr>
          <a:xfrm>
            <a:off x="5355772" y="2963635"/>
            <a:ext cx="3012621" cy="555172"/>
          </a:xfrm>
        </p:spPr>
        <p:txBody>
          <a:bodyPr lIns="0" tIns="0" rIns="0" bIns="0">
            <a:noAutofit/>
          </a:bodyPr>
          <a:lstStyle>
            <a:lvl1pPr marL="0" indent="0" algn="l">
              <a:lnSpc>
                <a:spcPct val="110000"/>
              </a:lnSpc>
              <a:spcBef>
                <a:spcPts val="0"/>
              </a:spcBef>
              <a:buNone/>
              <a:defRPr sz="1200">
                <a:solidFill>
                  <a:schemeClr val="bg1"/>
                </a:solidFill>
              </a:defRPr>
            </a:lvl1pPr>
            <a:lvl2pPr marL="342897" indent="0" algn="ctr">
              <a:buNone/>
              <a:defRPr sz="1500"/>
            </a:lvl2pPr>
            <a:lvl3pPr marL="685793" indent="0" algn="ctr">
              <a:buNone/>
              <a:defRPr sz="1350"/>
            </a:lvl3pPr>
            <a:lvl4pPr marL="1028690" indent="0" algn="ctr">
              <a:buNone/>
              <a:defRPr sz="1200"/>
            </a:lvl4pPr>
            <a:lvl5pPr marL="1371586" indent="0" algn="ctr">
              <a:buNone/>
              <a:defRPr sz="1200"/>
            </a:lvl5pPr>
            <a:lvl6pPr marL="1714483" indent="0" algn="ctr">
              <a:buNone/>
              <a:defRPr sz="1200"/>
            </a:lvl6pPr>
            <a:lvl7pPr marL="2057379" indent="0" algn="ctr">
              <a:buNone/>
              <a:defRPr sz="1200"/>
            </a:lvl7pPr>
            <a:lvl8pPr marL="2400276" indent="0" algn="ctr">
              <a:buNone/>
              <a:defRPr sz="1200"/>
            </a:lvl8pPr>
            <a:lvl9pPr marL="2743173" indent="0" algn="ctr">
              <a:buNone/>
              <a:defRPr sz="1200"/>
            </a:lvl9pPr>
          </a:lstStyle>
          <a:p>
            <a:r>
              <a:rPr lang="de-DE"/>
              <a:t>Untertitel Text durch Klicken hinzufügen</a:t>
            </a:r>
            <a:endParaRPr lang="de-DE" dirty="0"/>
          </a:p>
        </p:txBody>
      </p:sp>
      <p:sp>
        <p:nvSpPr>
          <p:cNvPr id="14" name="Textplatzhalter 10">
            <a:extLst>
              <a:ext uri="{FF2B5EF4-FFF2-40B4-BE49-F238E27FC236}">
                <a16:creationId xmlns:a16="http://schemas.microsoft.com/office/drawing/2014/main" id="{3A6FC492-F4FE-474B-9BFE-DAAE645B98B7}"/>
              </a:ext>
            </a:extLst>
          </p:cNvPr>
          <p:cNvSpPr>
            <a:spLocks noGrp="1"/>
          </p:cNvSpPr>
          <p:nvPr>
            <p:ph type="body" sz="quarter" idx="11" hasCustomPrompt="1"/>
          </p:nvPr>
        </p:nvSpPr>
        <p:spPr>
          <a:xfrm>
            <a:off x="7323010" y="3595860"/>
            <a:ext cx="1274400" cy="1274400"/>
          </a:xfrm>
          <a:prstGeom prst="ellipse">
            <a:avLst/>
          </a:prstGeom>
          <a:solidFill>
            <a:schemeClr val="bg1"/>
          </a:solidFill>
        </p:spPr>
        <p:txBody>
          <a:bodyPr wrap="none" lIns="0" tIns="0" rIns="0" bIns="0" anchor="ctr">
            <a:noAutofit/>
          </a:bodyPr>
          <a:lstStyle>
            <a:lvl1pPr marL="0" indent="0">
              <a:lnSpc>
                <a:spcPts val="1500"/>
              </a:lnSpc>
              <a:spcBef>
                <a:spcPts val="0"/>
              </a:spcBef>
              <a:buNone/>
              <a:defRPr sz="1200" b="1">
                <a:solidFill>
                  <a:schemeClr val="tx1"/>
                </a:solidFill>
              </a:defRPr>
            </a:lvl1pPr>
          </a:lstStyle>
          <a:p>
            <a:pPr lvl="0"/>
            <a:r>
              <a:rPr lang="de-DE" dirty="0"/>
              <a:t>Vorname </a:t>
            </a:r>
            <a:br>
              <a:rPr lang="de-DE" dirty="0"/>
            </a:br>
            <a:r>
              <a:rPr lang="de-DE" dirty="0"/>
              <a:t>Name</a:t>
            </a:r>
          </a:p>
        </p:txBody>
      </p:sp>
    </p:spTree>
    <p:extLst>
      <p:ext uri="{BB962C8B-B14F-4D97-AF65-F5344CB8AC3E}">
        <p14:creationId xmlns:p14="http://schemas.microsoft.com/office/powerpoint/2010/main" val="35468285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 Barrierefrei blau">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18916216-B032-4200-99C8-5BA3A21F880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02988" y="268958"/>
            <a:ext cx="2136071" cy="431998"/>
          </a:xfrm>
          <a:prstGeom prst="rect">
            <a:avLst/>
          </a:prstGeom>
        </p:spPr>
      </p:pic>
      <p:pic>
        <p:nvPicPr>
          <p:cNvPr id="8" name="Grafik 7">
            <a:extLst>
              <a:ext uri="{FF2B5EF4-FFF2-40B4-BE49-F238E27FC236}">
                <a16:creationId xmlns:a16="http://schemas.microsoft.com/office/drawing/2014/main" id="{A72007CB-CD36-48DD-9918-1BFC87D15E94}"/>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3763" t="1" b="-1"/>
          <a:stretch/>
        </p:blipFill>
        <p:spPr>
          <a:xfrm>
            <a:off x="910588" y="580838"/>
            <a:ext cx="1628471" cy="168351"/>
          </a:xfrm>
          <a:prstGeom prst="rect">
            <a:avLst/>
          </a:prstGeom>
        </p:spPr>
      </p:pic>
      <p:sp>
        <p:nvSpPr>
          <p:cNvPr id="9" name="Bildplatzhalter 8"/>
          <p:cNvSpPr>
            <a:spLocks noGrp="1"/>
          </p:cNvSpPr>
          <p:nvPr>
            <p:ph type="pic" sz="quarter" idx="10"/>
          </p:nvPr>
        </p:nvSpPr>
        <p:spPr>
          <a:xfrm>
            <a:off x="0" y="1266840"/>
            <a:ext cx="9144000" cy="3876659"/>
          </a:xfrm>
          <a:solidFill>
            <a:schemeClr val="bg1">
              <a:lumMod val="85000"/>
            </a:schemeClr>
          </a:solidFill>
        </p:spPr>
        <p:txBody>
          <a:bodyPr lIns="72000"/>
          <a:lstStyle>
            <a:lvl1pPr marL="0" indent="0">
              <a:buNone/>
              <a:defRPr/>
            </a:lvl1pPr>
          </a:lstStyle>
          <a:p>
            <a:r>
              <a:rPr lang="de-DE" dirty="0"/>
              <a:t>Bild durch Klicken auf Symbol hinzufügen</a:t>
            </a:r>
            <a:endParaRPr lang="en-US" dirty="0"/>
          </a:p>
        </p:txBody>
      </p:sp>
      <p:sp>
        <p:nvSpPr>
          <p:cNvPr id="3" name="Titel 2">
            <a:extLst>
              <a:ext uri="{FF2B5EF4-FFF2-40B4-BE49-F238E27FC236}">
                <a16:creationId xmlns:a16="http://schemas.microsoft.com/office/drawing/2014/main" id="{86BA6808-8CD4-4528-935A-3978EF1718CF}"/>
              </a:ext>
            </a:extLst>
          </p:cNvPr>
          <p:cNvSpPr>
            <a:spLocks noGrp="1"/>
          </p:cNvSpPr>
          <p:nvPr>
            <p:ph type="title" hasCustomPrompt="1"/>
          </p:nvPr>
        </p:nvSpPr>
        <p:spPr>
          <a:xfrm>
            <a:off x="4750522" y="449461"/>
            <a:ext cx="4140000" cy="4140000"/>
          </a:xfrm>
          <a:prstGeom prst="ellipse">
            <a:avLst/>
          </a:prstGeom>
          <a:solidFill>
            <a:schemeClr val="accent2"/>
          </a:solidFill>
        </p:spPr>
        <p:txBody>
          <a:bodyPr vert="horz" wrap="square" lIns="0" tIns="0" rIns="0" bIns="1116000" rtlCol="0" anchor="b" anchorCtr="0">
            <a:noAutofit/>
          </a:bodyPr>
          <a:lstStyle>
            <a:lvl1pPr>
              <a:defRPr lang="en-GB" sz="2800" baseline="0" dirty="0">
                <a:solidFill>
                  <a:schemeClr val="bg1"/>
                </a:solidFill>
              </a:defRPr>
            </a:lvl1pPr>
          </a:lstStyle>
          <a:p>
            <a:pPr marL="0" lvl="0" indent="0"/>
            <a:r>
              <a:rPr lang="de-DE" dirty="0"/>
              <a:t>Barrierefreier  Titel – Text durch Klicken </a:t>
            </a:r>
            <a:br>
              <a:rPr lang="de-DE" dirty="0"/>
            </a:br>
            <a:r>
              <a:rPr lang="de-DE" dirty="0"/>
              <a:t>hinzufügen</a:t>
            </a:r>
            <a:endParaRPr lang="en-GB" dirty="0"/>
          </a:p>
        </p:txBody>
      </p:sp>
      <p:sp>
        <p:nvSpPr>
          <p:cNvPr id="12" name="Subtitle 2"/>
          <p:cNvSpPr>
            <a:spLocks noGrp="1"/>
          </p:cNvSpPr>
          <p:nvPr>
            <p:ph type="subTitle" idx="1" hasCustomPrompt="1"/>
          </p:nvPr>
        </p:nvSpPr>
        <p:spPr>
          <a:xfrm>
            <a:off x="5355772" y="2963635"/>
            <a:ext cx="3012621" cy="555172"/>
          </a:xfrm>
        </p:spPr>
        <p:txBody>
          <a:bodyPr lIns="0" tIns="0" rIns="0" bIns="0">
            <a:noAutofit/>
          </a:bodyPr>
          <a:lstStyle>
            <a:lvl1pPr marL="0" indent="0" algn="l">
              <a:lnSpc>
                <a:spcPct val="110000"/>
              </a:lnSpc>
              <a:spcBef>
                <a:spcPts val="0"/>
              </a:spcBef>
              <a:buNone/>
              <a:defRPr sz="1200">
                <a:solidFill>
                  <a:schemeClr val="bg1"/>
                </a:solidFill>
              </a:defRPr>
            </a:lvl1pPr>
            <a:lvl2pPr marL="342897" indent="0" algn="ctr">
              <a:buNone/>
              <a:defRPr sz="1500"/>
            </a:lvl2pPr>
            <a:lvl3pPr marL="685793" indent="0" algn="ctr">
              <a:buNone/>
              <a:defRPr sz="1350"/>
            </a:lvl3pPr>
            <a:lvl4pPr marL="1028690" indent="0" algn="ctr">
              <a:buNone/>
              <a:defRPr sz="1200"/>
            </a:lvl4pPr>
            <a:lvl5pPr marL="1371586" indent="0" algn="ctr">
              <a:buNone/>
              <a:defRPr sz="1200"/>
            </a:lvl5pPr>
            <a:lvl6pPr marL="1714483" indent="0" algn="ctr">
              <a:buNone/>
              <a:defRPr sz="1200"/>
            </a:lvl6pPr>
            <a:lvl7pPr marL="2057379" indent="0" algn="ctr">
              <a:buNone/>
              <a:defRPr sz="1200"/>
            </a:lvl7pPr>
            <a:lvl8pPr marL="2400276" indent="0" algn="ctr">
              <a:buNone/>
              <a:defRPr sz="1200"/>
            </a:lvl8pPr>
            <a:lvl9pPr marL="2743173" indent="0" algn="ctr">
              <a:buNone/>
              <a:defRPr sz="1200"/>
            </a:lvl9pPr>
          </a:lstStyle>
          <a:p>
            <a:r>
              <a:rPr lang="de-DE"/>
              <a:t>Untertitel Text durch Klicken hinzufügen</a:t>
            </a:r>
            <a:endParaRPr lang="de-DE" dirty="0"/>
          </a:p>
        </p:txBody>
      </p:sp>
      <p:sp>
        <p:nvSpPr>
          <p:cNvPr id="14" name="Textplatzhalter 10">
            <a:extLst>
              <a:ext uri="{FF2B5EF4-FFF2-40B4-BE49-F238E27FC236}">
                <a16:creationId xmlns:a16="http://schemas.microsoft.com/office/drawing/2014/main" id="{3A6FC492-F4FE-474B-9BFE-DAAE645B98B7}"/>
              </a:ext>
            </a:extLst>
          </p:cNvPr>
          <p:cNvSpPr>
            <a:spLocks noGrp="1"/>
          </p:cNvSpPr>
          <p:nvPr>
            <p:ph type="body" sz="quarter" idx="11" hasCustomPrompt="1"/>
          </p:nvPr>
        </p:nvSpPr>
        <p:spPr>
          <a:xfrm>
            <a:off x="7323010" y="3595860"/>
            <a:ext cx="1274400" cy="1274400"/>
          </a:xfrm>
          <a:prstGeom prst="ellipse">
            <a:avLst/>
          </a:prstGeom>
          <a:solidFill>
            <a:schemeClr val="bg1"/>
          </a:solidFill>
        </p:spPr>
        <p:txBody>
          <a:bodyPr wrap="none" lIns="0" tIns="0" rIns="0" bIns="0" anchor="ctr">
            <a:noAutofit/>
          </a:bodyPr>
          <a:lstStyle>
            <a:lvl1pPr marL="0" indent="0">
              <a:lnSpc>
                <a:spcPts val="1500"/>
              </a:lnSpc>
              <a:spcBef>
                <a:spcPts val="0"/>
              </a:spcBef>
              <a:buNone/>
              <a:defRPr sz="1200" b="1">
                <a:solidFill>
                  <a:schemeClr val="tx1"/>
                </a:solidFill>
              </a:defRPr>
            </a:lvl1pPr>
          </a:lstStyle>
          <a:p>
            <a:pPr lvl="0"/>
            <a:r>
              <a:rPr lang="de-DE" dirty="0"/>
              <a:t>Vorname </a:t>
            </a:r>
            <a:br>
              <a:rPr lang="de-DE" dirty="0"/>
            </a:br>
            <a:r>
              <a:rPr lang="de-DE" dirty="0"/>
              <a:t>Name</a:t>
            </a:r>
          </a:p>
        </p:txBody>
      </p:sp>
    </p:spTree>
    <p:extLst>
      <p:ext uri="{BB962C8B-B14F-4D97-AF65-F5344CB8AC3E}">
        <p14:creationId xmlns:p14="http://schemas.microsoft.com/office/powerpoint/2010/main" val="2608030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folie Barrierefrei hellblau">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18916216-B032-4200-99C8-5BA3A21F880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02988" y="268958"/>
            <a:ext cx="2136071" cy="431998"/>
          </a:xfrm>
          <a:prstGeom prst="rect">
            <a:avLst/>
          </a:prstGeom>
        </p:spPr>
      </p:pic>
      <p:pic>
        <p:nvPicPr>
          <p:cNvPr id="8" name="Grafik 7">
            <a:extLst>
              <a:ext uri="{FF2B5EF4-FFF2-40B4-BE49-F238E27FC236}">
                <a16:creationId xmlns:a16="http://schemas.microsoft.com/office/drawing/2014/main" id="{A72007CB-CD36-48DD-9918-1BFC87D15E94}"/>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3763" t="1" b="-1"/>
          <a:stretch/>
        </p:blipFill>
        <p:spPr>
          <a:xfrm>
            <a:off x="910588" y="580838"/>
            <a:ext cx="1628471" cy="168351"/>
          </a:xfrm>
          <a:prstGeom prst="rect">
            <a:avLst/>
          </a:prstGeom>
        </p:spPr>
      </p:pic>
      <p:sp>
        <p:nvSpPr>
          <p:cNvPr id="9" name="Bildplatzhalter 8"/>
          <p:cNvSpPr>
            <a:spLocks noGrp="1"/>
          </p:cNvSpPr>
          <p:nvPr>
            <p:ph type="pic" sz="quarter" idx="10"/>
          </p:nvPr>
        </p:nvSpPr>
        <p:spPr>
          <a:xfrm>
            <a:off x="0" y="1266840"/>
            <a:ext cx="9144000" cy="3876659"/>
          </a:xfrm>
          <a:solidFill>
            <a:schemeClr val="bg1">
              <a:lumMod val="85000"/>
            </a:schemeClr>
          </a:solidFill>
        </p:spPr>
        <p:txBody>
          <a:bodyPr lIns="72000"/>
          <a:lstStyle>
            <a:lvl1pPr marL="0" indent="0">
              <a:buNone/>
              <a:defRPr/>
            </a:lvl1pPr>
          </a:lstStyle>
          <a:p>
            <a:r>
              <a:rPr lang="de-DE" dirty="0"/>
              <a:t>Bild durch Klicken auf Symbol hinzufügen</a:t>
            </a:r>
            <a:endParaRPr lang="en-US" dirty="0"/>
          </a:p>
        </p:txBody>
      </p:sp>
      <p:sp>
        <p:nvSpPr>
          <p:cNvPr id="3" name="Titel 2">
            <a:extLst>
              <a:ext uri="{FF2B5EF4-FFF2-40B4-BE49-F238E27FC236}">
                <a16:creationId xmlns:a16="http://schemas.microsoft.com/office/drawing/2014/main" id="{86BA6808-8CD4-4528-935A-3978EF1718CF}"/>
              </a:ext>
            </a:extLst>
          </p:cNvPr>
          <p:cNvSpPr>
            <a:spLocks noGrp="1"/>
          </p:cNvSpPr>
          <p:nvPr>
            <p:ph type="title" hasCustomPrompt="1"/>
          </p:nvPr>
        </p:nvSpPr>
        <p:spPr>
          <a:xfrm>
            <a:off x="4750522" y="449461"/>
            <a:ext cx="4140000" cy="4140000"/>
          </a:xfrm>
          <a:prstGeom prst="ellipse">
            <a:avLst/>
          </a:prstGeom>
          <a:solidFill>
            <a:schemeClr val="accent1"/>
          </a:solidFill>
        </p:spPr>
        <p:txBody>
          <a:bodyPr vert="horz" wrap="square" lIns="0" tIns="0" rIns="0" bIns="1116000" rtlCol="0" anchor="b" anchorCtr="0">
            <a:noAutofit/>
          </a:bodyPr>
          <a:lstStyle>
            <a:lvl1pPr>
              <a:defRPr lang="en-GB" sz="2800" baseline="0" dirty="0">
                <a:solidFill>
                  <a:schemeClr val="bg1"/>
                </a:solidFill>
                <a:highlight>
                  <a:srgbClr val="000000"/>
                </a:highlight>
              </a:defRPr>
            </a:lvl1pPr>
          </a:lstStyle>
          <a:p>
            <a:pPr marL="0" lvl="0" indent="0"/>
            <a:r>
              <a:rPr lang="de-DE"/>
              <a:t>Barrierefreier  Titel – Text durch Klicken </a:t>
            </a:r>
            <a:br>
              <a:rPr lang="de-DE"/>
            </a:br>
            <a:r>
              <a:rPr lang="de-DE"/>
              <a:t>hinzufügen</a:t>
            </a:r>
            <a:endParaRPr lang="en-GB" dirty="0"/>
          </a:p>
        </p:txBody>
      </p:sp>
      <p:sp>
        <p:nvSpPr>
          <p:cNvPr id="12" name="Subtitle 2"/>
          <p:cNvSpPr>
            <a:spLocks noGrp="1"/>
          </p:cNvSpPr>
          <p:nvPr>
            <p:ph type="subTitle" idx="1" hasCustomPrompt="1"/>
          </p:nvPr>
        </p:nvSpPr>
        <p:spPr>
          <a:xfrm>
            <a:off x="5355772" y="2963635"/>
            <a:ext cx="3012621" cy="555172"/>
          </a:xfrm>
        </p:spPr>
        <p:txBody>
          <a:bodyPr lIns="0" tIns="0" rIns="0" bIns="0">
            <a:noAutofit/>
          </a:bodyPr>
          <a:lstStyle>
            <a:lvl1pPr marL="0" indent="0" algn="l">
              <a:lnSpc>
                <a:spcPct val="110000"/>
              </a:lnSpc>
              <a:spcBef>
                <a:spcPts val="0"/>
              </a:spcBef>
              <a:buNone/>
              <a:defRPr sz="1200">
                <a:solidFill>
                  <a:schemeClr val="bg1"/>
                </a:solidFill>
                <a:highlight>
                  <a:srgbClr val="000000"/>
                </a:highlight>
              </a:defRPr>
            </a:lvl1pPr>
            <a:lvl2pPr marL="342897" indent="0" algn="ctr">
              <a:buNone/>
              <a:defRPr sz="1500"/>
            </a:lvl2pPr>
            <a:lvl3pPr marL="685793" indent="0" algn="ctr">
              <a:buNone/>
              <a:defRPr sz="1350"/>
            </a:lvl3pPr>
            <a:lvl4pPr marL="1028690" indent="0" algn="ctr">
              <a:buNone/>
              <a:defRPr sz="1200"/>
            </a:lvl4pPr>
            <a:lvl5pPr marL="1371586" indent="0" algn="ctr">
              <a:buNone/>
              <a:defRPr sz="1200"/>
            </a:lvl5pPr>
            <a:lvl6pPr marL="1714483" indent="0" algn="ctr">
              <a:buNone/>
              <a:defRPr sz="1200"/>
            </a:lvl6pPr>
            <a:lvl7pPr marL="2057379" indent="0" algn="ctr">
              <a:buNone/>
              <a:defRPr sz="1200"/>
            </a:lvl7pPr>
            <a:lvl8pPr marL="2400276" indent="0" algn="ctr">
              <a:buNone/>
              <a:defRPr sz="1200"/>
            </a:lvl8pPr>
            <a:lvl9pPr marL="2743173" indent="0" algn="ctr">
              <a:buNone/>
              <a:defRPr sz="1200"/>
            </a:lvl9pPr>
          </a:lstStyle>
          <a:p>
            <a:r>
              <a:rPr lang="de-DE"/>
              <a:t>Untertitel Text durch Klicken hinzufügen</a:t>
            </a:r>
            <a:endParaRPr lang="de-DE" dirty="0"/>
          </a:p>
        </p:txBody>
      </p:sp>
      <p:sp>
        <p:nvSpPr>
          <p:cNvPr id="14" name="Textplatzhalter 10">
            <a:extLst>
              <a:ext uri="{FF2B5EF4-FFF2-40B4-BE49-F238E27FC236}">
                <a16:creationId xmlns:a16="http://schemas.microsoft.com/office/drawing/2014/main" id="{3A6FC492-F4FE-474B-9BFE-DAAE645B98B7}"/>
              </a:ext>
            </a:extLst>
          </p:cNvPr>
          <p:cNvSpPr>
            <a:spLocks noGrp="1"/>
          </p:cNvSpPr>
          <p:nvPr>
            <p:ph type="body" sz="quarter" idx="11" hasCustomPrompt="1"/>
          </p:nvPr>
        </p:nvSpPr>
        <p:spPr>
          <a:xfrm>
            <a:off x="7323010" y="3595860"/>
            <a:ext cx="1274400" cy="1274400"/>
          </a:xfrm>
          <a:prstGeom prst="ellipse">
            <a:avLst/>
          </a:prstGeom>
          <a:solidFill>
            <a:schemeClr val="bg1"/>
          </a:solidFill>
        </p:spPr>
        <p:txBody>
          <a:bodyPr wrap="none" lIns="0" tIns="0" rIns="0" bIns="0" anchor="ctr">
            <a:noAutofit/>
          </a:bodyPr>
          <a:lstStyle>
            <a:lvl1pPr marL="0" indent="0">
              <a:lnSpc>
                <a:spcPts val="1500"/>
              </a:lnSpc>
              <a:spcBef>
                <a:spcPts val="0"/>
              </a:spcBef>
              <a:buNone/>
              <a:defRPr sz="1200" b="1">
                <a:solidFill>
                  <a:schemeClr val="tx1"/>
                </a:solidFill>
              </a:defRPr>
            </a:lvl1pPr>
          </a:lstStyle>
          <a:p>
            <a:pPr lvl="0"/>
            <a:r>
              <a:rPr lang="de-DE" dirty="0"/>
              <a:t>Vorname </a:t>
            </a:r>
            <a:br>
              <a:rPr lang="de-DE" dirty="0"/>
            </a:br>
            <a:r>
              <a:rPr lang="de-DE" dirty="0"/>
              <a:t>Name</a:t>
            </a:r>
          </a:p>
        </p:txBody>
      </p:sp>
    </p:spTree>
    <p:extLst>
      <p:ext uri="{BB962C8B-B14F-4D97-AF65-F5344CB8AC3E}">
        <p14:creationId xmlns:p14="http://schemas.microsoft.com/office/powerpoint/2010/main" val="19252788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folie Institute">
    <p:spTree>
      <p:nvGrpSpPr>
        <p:cNvPr id="1" name=""/>
        <p:cNvGrpSpPr/>
        <p:nvPr/>
      </p:nvGrpSpPr>
      <p:grpSpPr>
        <a:xfrm>
          <a:off x="0" y="0"/>
          <a:ext cx="0" cy="0"/>
          <a:chOff x="0" y="0"/>
          <a:chExt cx="0" cy="0"/>
        </a:xfrm>
      </p:grpSpPr>
      <p:pic>
        <p:nvPicPr>
          <p:cNvPr id="10" name="Grafik 9">
            <a:extLst>
              <a:ext uri="{FF2B5EF4-FFF2-40B4-BE49-F238E27FC236}">
                <a16:creationId xmlns:a16="http://schemas.microsoft.com/office/drawing/2014/main" id="{CA70C5C8-1CB6-4CC4-A9D8-081FC52E5A9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02988" y="268958"/>
            <a:ext cx="2136071" cy="431998"/>
          </a:xfrm>
          <a:prstGeom prst="rect">
            <a:avLst/>
          </a:prstGeom>
        </p:spPr>
      </p:pic>
      <p:sp>
        <p:nvSpPr>
          <p:cNvPr id="9" name="Bildplatzhalter 8"/>
          <p:cNvSpPr>
            <a:spLocks noGrp="1"/>
          </p:cNvSpPr>
          <p:nvPr>
            <p:ph type="pic" sz="quarter" idx="10"/>
          </p:nvPr>
        </p:nvSpPr>
        <p:spPr>
          <a:xfrm>
            <a:off x="0" y="1266840"/>
            <a:ext cx="9144000" cy="3876659"/>
          </a:xfrm>
          <a:solidFill>
            <a:schemeClr val="bg1">
              <a:lumMod val="85000"/>
            </a:schemeClr>
          </a:solidFill>
        </p:spPr>
        <p:txBody>
          <a:bodyPr lIns="72000"/>
          <a:lstStyle>
            <a:lvl1pPr marL="0" indent="0">
              <a:buNone/>
              <a:defRPr/>
            </a:lvl1pPr>
          </a:lstStyle>
          <a:p>
            <a:r>
              <a:rPr lang="de-DE" dirty="0"/>
              <a:t>Bild durch Klicken auf Symbol hinzufügen</a:t>
            </a:r>
            <a:endParaRPr lang="en-US" dirty="0"/>
          </a:p>
        </p:txBody>
      </p:sp>
      <p:sp>
        <p:nvSpPr>
          <p:cNvPr id="8" name="Titel 2">
            <a:extLst>
              <a:ext uri="{FF2B5EF4-FFF2-40B4-BE49-F238E27FC236}">
                <a16:creationId xmlns:a16="http://schemas.microsoft.com/office/drawing/2014/main" id="{098769ED-90D0-4473-B1B2-1CE12B519F39}"/>
              </a:ext>
            </a:extLst>
          </p:cNvPr>
          <p:cNvSpPr>
            <a:spLocks noGrp="1"/>
          </p:cNvSpPr>
          <p:nvPr>
            <p:ph type="title" hasCustomPrompt="1"/>
          </p:nvPr>
        </p:nvSpPr>
        <p:spPr>
          <a:xfrm>
            <a:off x="4750522" y="449461"/>
            <a:ext cx="4140000" cy="4140000"/>
          </a:xfrm>
          <a:prstGeom prst="ellipse">
            <a:avLst/>
          </a:prstGeom>
          <a:solidFill>
            <a:schemeClr val="accent1"/>
          </a:solidFill>
        </p:spPr>
        <p:txBody>
          <a:bodyPr vert="horz" wrap="square" lIns="0" tIns="0" rIns="0" bIns="1116000" rtlCol="0" anchor="b" anchorCtr="0">
            <a:noAutofit/>
          </a:bodyPr>
          <a:lstStyle>
            <a:lvl1pPr>
              <a:defRPr lang="en-GB" sz="2800" baseline="0" dirty="0">
                <a:solidFill>
                  <a:schemeClr val="tx1"/>
                </a:solidFill>
              </a:defRPr>
            </a:lvl1pPr>
          </a:lstStyle>
          <a:p>
            <a:pPr marL="0" lvl="0" indent="0"/>
            <a:r>
              <a:rPr lang="de-DE"/>
              <a:t>Titelfolie Institute – Text durch Klicken hinzufügen</a:t>
            </a:r>
            <a:endParaRPr lang="en-GB" dirty="0"/>
          </a:p>
        </p:txBody>
      </p:sp>
      <p:sp>
        <p:nvSpPr>
          <p:cNvPr id="12" name="Subtitle 2"/>
          <p:cNvSpPr>
            <a:spLocks noGrp="1"/>
          </p:cNvSpPr>
          <p:nvPr>
            <p:ph type="subTitle" idx="1" hasCustomPrompt="1"/>
          </p:nvPr>
        </p:nvSpPr>
        <p:spPr>
          <a:xfrm>
            <a:off x="5355772" y="2963635"/>
            <a:ext cx="3012621" cy="555172"/>
          </a:xfrm>
        </p:spPr>
        <p:txBody>
          <a:bodyPr lIns="0" tIns="0" rIns="0" bIns="0">
            <a:noAutofit/>
          </a:bodyPr>
          <a:lstStyle>
            <a:lvl1pPr marL="0" indent="0" algn="l">
              <a:lnSpc>
                <a:spcPct val="110000"/>
              </a:lnSpc>
              <a:spcBef>
                <a:spcPts val="0"/>
              </a:spcBef>
              <a:buNone/>
              <a:defRPr sz="1200">
                <a:solidFill>
                  <a:schemeClr val="tx1"/>
                </a:solidFill>
              </a:defRPr>
            </a:lvl1pPr>
            <a:lvl2pPr marL="342897" indent="0" algn="ctr">
              <a:buNone/>
              <a:defRPr sz="1500"/>
            </a:lvl2pPr>
            <a:lvl3pPr marL="685793" indent="0" algn="ctr">
              <a:buNone/>
              <a:defRPr sz="1350"/>
            </a:lvl3pPr>
            <a:lvl4pPr marL="1028690" indent="0" algn="ctr">
              <a:buNone/>
              <a:defRPr sz="1200"/>
            </a:lvl4pPr>
            <a:lvl5pPr marL="1371586" indent="0" algn="ctr">
              <a:buNone/>
              <a:defRPr sz="1200"/>
            </a:lvl5pPr>
            <a:lvl6pPr marL="1714483" indent="0" algn="ctr">
              <a:buNone/>
              <a:defRPr sz="1200"/>
            </a:lvl6pPr>
            <a:lvl7pPr marL="2057379" indent="0" algn="ctr">
              <a:buNone/>
              <a:defRPr sz="1200"/>
            </a:lvl7pPr>
            <a:lvl8pPr marL="2400276" indent="0" algn="ctr">
              <a:buNone/>
              <a:defRPr sz="1200"/>
            </a:lvl8pPr>
            <a:lvl9pPr marL="2743173" indent="0" algn="ctr">
              <a:buNone/>
              <a:defRPr sz="1200"/>
            </a:lvl9pPr>
          </a:lstStyle>
          <a:p>
            <a:r>
              <a:rPr lang="de-DE"/>
              <a:t>Untertitel Text durch Klicken hinzufügen</a:t>
            </a:r>
            <a:endParaRPr lang="de-DE" dirty="0"/>
          </a:p>
        </p:txBody>
      </p:sp>
      <p:sp>
        <p:nvSpPr>
          <p:cNvPr id="7" name="Bildplatzhalter 4">
            <a:extLst>
              <a:ext uri="{FF2B5EF4-FFF2-40B4-BE49-F238E27FC236}">
                <a16:creationId xmlns:a16="http://schemas.microsoft.com/office/drawing/2014/main" id="{B9FD99DC-C17A-49FB-8F13-40F41E801ABC}"/>
              </a:ext>
            </a:extLst>
          </p:cNvPr>
          <p:cNvSpPr>
            <a:spLocks noGrp="1" noChangeAspect="1"/>
          </p:cNvSpPr>
          <p:nvPr>
            <p:ph type="pic" sz="quarter" idx="14" hasCustomPrompt="1"/>
          </p:nvPr>
        </p:nvSpPr>
        <p:spPr>
          <a:xfrm>
            <a:off x="7049410" y="3459060"/>
            <a:ext cx="1548000" cy="1548000"/>
          </a:xfrm>
          <a:prstGeom prst="ellipse">
            <a:avLst/>
          </a:prstGeom>
          <a:solidFill>
            <a:schemeClr val="bg1"/>
          </a:solidFill>
        </p:spPr>
        <p:txBody>
          <a:bodyPr/>
          <a:lstStyle>
            <a:lvl1pPr marL="0" indent="0">
              <a:buFontTx/>
              <a:buNone/>
              <a:defRPr sz="900" baseline="0"/>
            </a:lvl1pPr>
          </a:lstStyle>
          <a:p>
            <a:r>
              <a:rPr lang="de-DE" dirty="0" err="1"/>
              <a:t>Sublogo</a:t>
            </a:r>
            <a:r>
              <a:rPr lang="de-DE" dirty="0"/>
              <a:t> einfügen</a:t>
            </a:r>
          </a:p>
        </p:txBody>
      </p:sp>
    </p:spTree>
    <p:extLst>
      <p:ext uri="{BB962C8B-B14F-4D97-AF65-F5344CB8AC3E}">
        <p14:creationId xmlns:p14="http://schemas.microsoft.com/office/powerpoint/2010/main" val="656871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folie Institute 2">
    <p:spTree>
      <p:nvGrpSpPr>
        <p:cNvPr id="1" name=""/>
        <p:cNvGrpSpPr/>
        <p:nvPr/>
      </p:nvGrpSpPr>
      <p:grpSpPr>
        <a:xfrm>
          <a:off x="0" y="0"/>
          <a:ext cx="0" cy="0"/>
          <a:chOff x="0" y="0"/>
          <a:chExt cx="0" cy="0"/>
        </a:xfrm>
      </p:grpSpPr>
      <p:pic>
        <p:nvPicPr>
          <p:cNvPr id="11" name="Grafik 10">
            <a:extLst>
              <a:ext uri="{FF2B5EF4-FFF2-40B4-BE49-F238E27FC236}">
                <a16:creationId xmlns:a16="http://schemas.microsoft.com/office/drawing/2014/main" id="{30BE638A-719E-41CB-B435-44353E5553A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02988" y="268958"/>
            <a:ext cx="2136071" cy="431998"/>
          </a:xfrm>
          <a:prstGeom prst="rect">
            <a:avLst/>
          </a:prstGeom>
        </p:spPr>
      </p:pic>
      <p:sp>
        <p:nvSpPr>
          <p:cNvPr id="28" name="Textplatzhalter 9">
            <a:extLst>
              <a:ext uri="{FF2B5EF4-FFF2-40B4-BE49-F238E27FC236}">
                <a16:creationId xmlns:a16="http://schemas.microsoft.com/office/drawing/2014/main" id="{F2727769-9A35-4722-8FB2-4C78D296549D}"/>
              </a:ext>
            </a:extLst>
          </p:cNvPr>
          <p:cNvSpPr>
            <a:spLocks noGrp="1"/>
          </p:cNvSpPr>
          <p:nvPr>
            <p:ph type="body" sz="quarter" idx="13" hasCustomPrompt="1"/>
          </p:nvPr>
        </p:nvSpPr>
        <p:spPr>
          <a:xfrm>
            <a:off x="952454" y="593154"/>
            <a:ext cx="3561913" cy="435081"/>
          </a:xfrm>
        </p:spPr>
        <p:txBody>
          <a:bodyPr/>
          <a:lstStyle>
            <a:lvl1pPr marL="0" indent="0">
              <a:lnSpc>
                <a:spcPct val="100000"/>
              </a:lnSpc>
              <a:buFontTx/>
              <a:buNone/>
              <a:defRPr sz="1200"/>
            </a:lvl1pPr>
          </a:lstStyle>
          <a:p>
            <a:pPr lvl="0"/>
            <a:r>
              <a:rPr lang="de-DE" dirty="0"/>
              <a:t>Institutsname max. 2-zeilig, bitte hier klicken und überschreiben</a:t>
            </a:r>
          </a:p>
        </p:txBody>
      </p:sp>
      <p:sp>
        <p:nvSpPr>
          <p:cNvPr id="9" name="Bildplatzhalter 8"/>
          <p:cNvSpPr>
            <a:spLocks noGrp="1"/>
          </p:cNvSpPr>
          <p:nvPr>
            <p:ph type="pic" sz="quarter" idx="10"/>
          </p:nvPr>
        </p:nvSpPr>
        <p:spPr>
          <a:xfrm>
            <a:off x="0" y="1266841"/>
            <a:ext cx="9144000" cy="3304800"/>
          </a:xfrm>
          <a:solidFill>
            <a:schemeClr val="bg1">
              <a:lumMod val="85000"/>
            </a:schemeClr>
          </a:solidFill>
        </p:spPr>
        <p:txBody>
          <a:bodyPr lIns="72000"/>
          <a:lstStyle>
            <a:lvl1pPr marL="0" indent="0">
              <a:buNone/>
              <a:defRPr/>
            </a:lvl1pPr>
          </a:lstStyle>
          <a:p>
            <a:r>
              <a:rPr lang="de-DE" dirty="0"/>
              <a:t>Bild durch Klicken auf Symbol hinzufügen</a:t>
            </a:r>
            <a:endParaRPr lang="en-US" dirty="0"/>
          </a:p>
        </p:txBody>
      </p:sp>
      <p:sp>
        <p:nvSpPr>
          <p:cNvPr id="16" name="Titel 2">
            <a:extLst>
              <a:ext uri="{FF2B5EF4-FFF2-40B4-BE49-F238E27FC236}">
                <a16:creationId xmlns:a16="http://schemas.microsoft.com/office/drawing/2014/main" id="{FCF15244-A895-48BB-9A90-27BC5159A1A9}"/>
              </a:ext>
            </a:extLst>
          </p:cNvPr>
          <p:cNvSpPr>
            <a:spLocks noGrp="1"/>
          </p:cNvSpPr>
          <p:nvPr>
            <p:ph type="title" hasCustomPrompt="1"/>
          </p:nvPr>
        </p:nvSpPr>
        <p:spPr>
          <a:xfrm>
            <a:off x="5026509" y="488684"/>
            <a:ext cx="3913200" cy="3913200"/>
          </a:xfrm>
          <a:prstGeom prst="ellipse">
            <a:avLst/>
          </a:prstGeom>
          <a:solidFill>
            <a:schemeClr val="accent1"/>
          </a:solidFill>
        </p:spPr>
        <p:txBody>
          <a:bodyPr vert="horz" wrap="square" lIns="0" tIns="0" rIns="0" bIns="1116000" rtlCol="0" anchor="b" anchorCtr="0">
            <a:noAutofit/>
          </a:bodyPr>
          <a:lstStyle>
            <a:lvl1pPr>
              <a:defRPr lang="en-GB" sz="2500" baseline="0" dirty="0">
                <a:solidFill>
                  <a:schemeClr val="tx1"/>
                </a:solidFill>
              </a:defRPr>
            </a:lvl1pPr>
          </a:lstStyle>
          <a:p>
            <a:pPr marL="0" lvl="0" indent="0"/>
            <a:r>
              <a:rPr lang="de-DE"/>
              <a:t>Titelfolie 2 Institute – Text durch Klicken hinzufügen</a:t>
            </a:r>
            <a:endParaRPr lang="en-GB" dirty="0"/>
          </a:p>
        </p:txBody>
      </p:sp>
      <p:sp>
        <p:nvSpPr>
          <p:cNvPr id="15" name="Subtitle 2">
            <a:extLst>
              <a:ext uri="{FF2B5EF4-FFF2-40B4-BE49-F238E27FC236}">
                <a16:creationId xmlns:a16="http://schemas.microsoft.com/office/drawing/2014/main" id="{FF9C1028-5CF0-4B0B-90F2-2CDD6683E1F7}"/>
              </a:ext>
            </a:extLst>
          </p:cNvPr>
          <p:cNvSpPr>
            <a:spLocks noGrp="1"/>
          </p:cNvSpPr>
          <p:nvPr>
            <p:ph type="subTitle" idx="1" hasCustomPrompt="1"/>
          </p:nvPr>
        </p:nvSpPr>
        <p:spPr>
          <a:xfrm>
            <a:off x="5608866" y="2881993"/>
            <a:ext cx="3012621" cy="555172"/>
          </a:xfrm>
        </p:spPr>
        <p:txBody>
          <a:bodyPr lIns="0" tIns="0" rIns="0" bIns="0">
            <a:noAutofit/>
          </a:bodyPr>
          <a:lstStyle>
            <a:lvl1pPr marL="0" indent="0" algn="l">
              <a:lnSpc>
                <a:spcPct val="110000"/>
              </a:lnSpc>
              <a:spcBef>
                <a:spcPts val="0"/>
              </a:spcBef>
              <a:buNone/>
              <a:defRPr sz="1200">
                <a:solidFill>
                  <a:schemeClr val="tx1"/>
                </a:solidFill>
              </a:defRPr>
            </a:lvl1pPr>
            <a:lvl2pPr marL="342897" indent="0" algn="ctr">
              <a:buNone/>
              <a:defRPr sz="1500"/>
            </a:lvl2pPr>
            <a:lvl3pPr marL="685793" indent="0" algn="ctr">
              <a:buNone/>
              <a:defRPr sz="1350"/>
            </a:lvl3pPr>
            <a:lvl4pPr marL="1028690" indent="0" algn="ctr">
              <a:buNone/>
              <a:defRPr sz="1200"/>
            </a:lvl4pPr>
            <a:lvl5pPr marL="1371586" indent="0" algn="ctr">
              <a:buNone/>
              <a:defRPr sz="1200"/>
            </a:lvl5pPr>
            <a:lvl6pPr marL="1714483" indent="0" algn="ctr">
              <a:buNone/>
              <a:defRPr sz="1200"/>
            </a:lvl6pPr>
            <a:lvl7pPr marL="2057379" indent="0" algn="ctr">
              <a:buNone/>
              <a:defRPr sz="1200"/>
            </a:lvl7pPr>
            <a:lvl8pPr marL="2400276" indent="0" algn="ctr">
              <a:buNone/>
              <a:defRPr sz="1200"/>
            </a:lvl8pPr>
            <a:lvl9pPr marL="2743173" indent="0" algn="ctr">
              <a:buNone/>
              <a:defRPr sz="1200"/>
            </a:lvl9pPr>
          </a:lstStyle>
          <a:p>
            <a:r>
              <a:rPr lang="de-DE"/>
              <a:t>Untertitel Text durch Klicken hinzufügen</a:t>
            </a:r>
            <a:endParaRPr lang="de-DE" dirty="0"/>
          </a:p>
        </p:txBody>
      </p:sp>
      <p:sp>
        <p:nvSpPr>
          <p:cNvPr id="7" name="Bildplatzhalter 6">
            <a:extLst>
              <a:ext uri="{C183D7F6-B498-43B3-948B-1728B52AA6E4}">
                <adec:decorative xmlns:adec="http://schemas.microsoft.com/office/drawing/2017/decorative" val="1"/>
              </a:ext>
            </a:extLst>
          </p:cNvPr>
          <p:cNvSpPr>
            <a:spLocks noGrp="1" noChangeAspect="1"/>
          </p:cNvSpPr>
          <p:nvPr>
            <p:ph type="pic" sz="quarter" idx="14" hasCustomPrompt="1"/>
          </p:nvPr>
        </p:nvSpPr>
        <p:spPr>
          <a:xfrm>
            <a:off x="7298630" y="4694760"/>
            <a:ext cx="1415910" cy="330480"/>
          </a:xfrm>
        </p:spPr>
        <p:txBody>
          <a:bodyPr/>
          <a:lstStyle>
            <a:lvl1pPr marL="0" indent="0">
              <a:buFontTx/>
              <a:buNone/>
              <a:defRPr sz="1100" baseline="0"/>
            </a:lvl1pPr>
          </a:lstStyle>
          <a:p>
            <a:r>
              <a:rPr lang="de-DE" dirty="0" err="1"/>
              <a:t>Sublogo</a:t>
            </a:r>
            <a:r>
              <a:rPr lang="de-DE" dirty="0"/>
              <a:t> einfügen</a:t>
            </a:r>
          </a:p>
        </p:txBody>
      </p:sp>
    </p:spTree>
    <p:extLst>
      <p:ext uri="{BB962C8B-B14F-4D97-AF65-F5344CB8AC3E}">
        <p14:creationId xmlns:p14="http://schemas.microsoft.com/office/powerpoint/2010/main" val="34109044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785E028-F200-4ED8-8CC6-0D42239F975D}"/>
              </a:ext>
            </a:extLst>
          </p:cNvPr>
          <p:cNvSpPr>
            <a:spLocks noGrp="1"/>
          </p:cNvSpPr>
          <p:nvPr>
            <p:ph type="title"/>
          </p:nvPr>
        </p:nvSpPr>
        <p:spPr/>
        <p:txBody>
          <a:bodyPr/>
          <a:lstStyle/>
          <a:p>
            <a:r>
              <a:rPr lang="de-DE" dirty="0"/>
              <a:t>Mastertitelformat bearbeiten</a:t>
            </a:r>
            <a:endParaRPr lang="en-GB" dirty="0"/>
          </a:p>
        </p:txBody>
      </p:sp>
      <p:sp>
        <p:nvSpPr>
          <p:cNvPr id="9" name="Textplatzhalter 7">
            <a:extLst>
              <a:ext uri="{FF2B5EF4-FFF2-40B4-BE49-F238E27FC236}">
                <a16:creationId xmlns:a16="http://schemas.microsoft.com/office/drawing/2014/main" id="{18B4599F-1F24-4FF7-8F3E-EDB79B1AB99C}"/>
              </a:ext>
            </a:extLst>
          </p:cNvPr>
          <p:cNvSpPr>
            <a:spLocks noGrp="1"/>
          </p:cNvSpPr>
          <p:nvPr>
            <p:ph type="body" sz="quarter" idx="13" hasCustomPrompt="1"/>
          </p:nvPr>
        </p:nvSpPr>
        <p:spPr>
          <a:xfrm>
            <a:off x="468000" y="576000"/>
            <a:ext cx="8244200" cy="277200"/>
          </a:xfrm>
        </p:spPr>
        <p:txBody>
          <a:bodyPr lIns="0" tIns="0" rIns="0" bIns="0"/>
          <a:lstStyle>
            <a:lvl1pPr marL="0" indent="0">
              <a:buNone/>
              <a:defRPr sz="1800" baseline="0"/>
            </a:lvl1pPr>
          </a:lstStyle>
          <a:p>
            <a:pPr lvl="0"/>
            <a:r>
              <a:rPr lang="de-DE" dirty="0"/>
              <a:t>Untertitel durch Klicken bearbeiten</a:t>
            </a:r>
          </a:p>
        </p:txBody>
      </p:sp>
      <p:sp>
        <p:nvSpPr>
          <p:cNvPr id="3" name="Content Placeholder 2"/>
          <p:cNvSpPr>
            <a:spLocks noGrp="1"/>
          </p:cNvSpPr>
          <p:nvPr>
            <p:ph idx="1"/>
          </p:nvPr>
        </p:nvSpPr>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Datumsplatzhalter 6">
            <a:extLst>
              <a:ext uri="{FF2B5EF4-FFF2-40B4-BE49-F238E27FC236}">
                <a16:creationId xmlns:a16="http://schemas.microsoft.com/office/drawing/2014/main" id="{124A6A03-5D2E-417E-9A62-737D1DBC92ED}"/>
              </a:ext>
              <a:ext uri="{C183D7F6-B498-43B3-948B-1728B52AA6E4}">
                <adec:decorative xmlns:adec="http://schemas.microsoft.com/office/drawing/2017/decorative" val="1"/>
              </a:ext>
            </a:extLst>
          </p:cNvPr>
          <p:cNvSpPr>
            <a:spLocks noGrp="1"/>
          </p:cNvSpPr>
          <p:nvPr>
            <p:ph type="dt" sz="half" idx="14"/>
          </p:nvPr>
        </p:nvSpPr>
        <p:spPr/>
        <p:txBody>
          <a:bodyPr/>
          <a:lstStyle/>
          <a:p>
            <a:r>
              <a:rPr lang="de-DE"/>
              <a:t>08/20/2020</a:t>
            </a:r>
            <a:endParaRPr lang="en-US" dirty="0"/>
          </a:p>
        </p:txBody>
      </p:sp>
      <p:sp>
        <p:nvSpPr>
          <p:cNvPr id="8" name="Fußzeilenplatzhalter 7">
            <a:extLst>
              <a:ext uri="{FF2B5EF4-FFF2-40B4-BE49-F238E27FC236}">
                <a16:creationId xmlns:a16="http://schemas.microsoft.com/office/drawing/2014/main" id="{90427F68-7D65-4111-9D28-F407D044A73B}"/>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University of Stuttgart</a:t>
            </a:r>
            <a:endParaRPr lang="en-US" dirty="0"/>
          </a:p>
        </p:txBody>
      </p:sp>
      <p:sp>
        <p:nvSpPr>
          <p:cNvPr id="10" name="Foliennummernplatzhalter 9">
            <a:extLst>
              <a:ext uri="{FF2B5EF4-FFF2-40B4-BE49-F238E27FC236}">
                <a16:creationId xmlns:a16="http://schemas.microsoft.com/office/drawing/2014/main" id="{BC2B8577-8AB8-42B5-8BA8-1751A412246A}"/>
              </a:ext>
              <a:ext uri="{C183D7F6-B498-43B3-948B-1728B52AA6E4}">
                <adec:decorative xmlns:adec="http://schemas.microsoft.com/office/drawing/2017/decorative" val="1"/>
              </a:ext>
            </a:extLst>
          </p:cNvPr>
          <p:cNvSpPr>
            <a:spLocks noGrp="1"/>
          </p:cNvSpPr>
          <p:nvPr>
            <p:ph type="sldNum" sz="quarter" idx="16"/>
          </p:nvPr>
        </p:nvSpPr>
        <p:spPr/>
        <p:txBody>
          <a:bodyPr/>
          <a:lstStyle/>
          <a:p>
            <a:fld id="{9E82CC3C-1DC0-4FDA-9590-6CC506AB67F8}" type="slidenum">
              <a:rPr lang="en-US" smtClean="0"/>
              <a:pPr/>
              <a:t>‹Nr.›</a:t>
            </a:fld>
            <a:endParaRPr lang="en-US" dirty="0"/>
          </a:p>
        </p:txBody>
      </p:sp>
    </p:spTree>
    <p:extLst>
      <p:ext uri="{BB962C8B-B14F-4D97-AF65-F5344CB8AC3E}">
        <p14:creationId xmlns:p14="http://schemas.microsoft.com/office/powerpoint/2010/main" val="12814507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el 2zeilig und Inhalt">
    <p:spTree>
      <p:nvGrpSpPr>
        <p:cNvPr id="1" name=""/>
        <p:cNvGrpSpPr/>
        <p:nvPr/>
      </p:nvGrpSpPr>
      <p:grpSpPr>
        <a:xfrm>
          <a:off x="0" y="0"/>
          <a:ext cx="0" cy="0"/>
          <a:chOff x="0" y="0"/>
          <a:chExt cx="0" cy="0"/>
        </a:xfrm>
      </p:grpSpPr>
      <p:sp>
        <p:nvSpPr>
          <p:cNvPr id="15" name="Titel 14">
            <a:extLst>
              <a:ext uri="{FF2B5EF4-FFF2-40B4-BE49-F238E27FC236}">
                <a16:creationId xmlns:a16="http://schemas.microsoft.com/office/drawing/2014/main" id="{D0727A05-0C1A-4583-AE41-BB5812D3F68A}"/>
              </a:ext>
            </a:extLst>
          </p:cNvPr>
          <p:cNvSpPr>
            <a:spLocks noGrp="1"/>
          </p:cNvSpPr>
          <p:nvPr>
            <p:ph type="title"/>
          </p:nvPr>
        </p:nvSpPr>
        <p:spPr/>
        <p:txBody>
          <a:bodyPr/>
          <a:lstStyle/>
          <a:p>
            <a:r>
              <a:rPr lang="de-DE" dirty="0"/>
              <a:t>Mastertitelformat bearbeiten</a:t>
            </a:r>
            <a:endParaRPr lang="en-GB" dirty="0"/>
          </a:p>
        </p:txBody>
      </p:sp>
      <p:sp>
        <p:nvSpPr>
          <p:cNvPr id="16" name="Textplatzhalter 7">
            <a:extLst>
              <a:ext uri="{FF2B5EF4-FFF2-40B4-BE49-F238E27FC236}">
                <a16:creationId xmlns:a16="http://schemas.microsoft.com/office/drawing/2014/main" id="{0DBE4A7F-2625-4844-8794-CF87BAE82F32}"/>
              </a:ext>
            </a:extLst>
          </p:cNvPr>
          <p:cNvSpPr>
            <a:spLocks noGrp="1"/>
          </p:cNvSpPr>
          <p:nvPr>
            <p:ph type="body" sz="quarter" idx="13" hasCustomPrompt="1"/>
          </p:nvPr>
        </p:nvSpPr>
        <p:spPr>
          <a:xfrm>
            <a:off x="468000" y="576000"/>
            <a:ext cx="8244200" cy="277200"/>
          </a:xfrm>
        </p:spPr>
        <p:txBody>
          <a:bodyPr lIns="0" tIns="0" rIns="0" bIns="0"/>
          <a:lstStyle>
            <a:lvl1pPr marL="0" indent="0">
              <a:buNone/>
              <a:defRPr sz="1800" baseline="0"/>
            </a:lvl1pPr>
          </a:lstStyle>
          <a:p>
            <a:pPr lvl="0"/>
            <a:r>
              <a:rPr lang="de-DE" dirty="0"/>
              <a:t>Untertitel durch Klicken bearbeiten</a:t>
            </a:r>
          </a:p>
        </p:txBody>
      </p:sp>
      <p:sp>
        <p:nvSpPr>
          <p:cNvPr id="3" name="Content Placeholder 2"/>
          <p:cNvSpPr>
            <a:spLocks noGrp="1"/>
          </p:cNvSpPr>
          <p:nvPr>
            <p:ph idx="1"/>
          </p:nvPr>
        </p:nvSpPr>
        <p:spPr>
          <a:xfrm>
            <a:off x="468316" y="1008000"/>
            <a:ext cx="8243887" cy="3706384"/>
          </a:xfrm>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Datumsplatzhalter 1">
            <a:extLst>
              <a:ext uri="{FF2B5EF4-FFF2-40B4-BE49-F238E27FC236}">
                <a16:creationId xmlns:a16="http://schemas.microsoft.com/office/drawing/2014/main" id="{6DE35B32-06B2-48EF-A04A-BC3F5F4173B3}"/>
              </a:ext>
              <a:ext uri="{C183D7F6-B498-43B3-948B-1728B52AA6E4}">
                <adec:decorative xmlns:adec="http://schemas.microsoft.com/office/drawing/2017/decorative" val="1"/>
              </a:ext>
            </a:extLst>
          </p:cNvPr>
          <p:cNvSpPr>
            <a:spLocks noGrp="1"/>
          </p:cNvSpPr>
          <p:nvPr>
            <p:ph type="dt" sz="half" idx="14"/>
          </p:nvPr>
        </p:nvSpPr>
        <p:spPr/>
        <p:txBody>
          <a:bodyPr/>
          <a:lstStyle/>
          <a:p>
            <a:r>
              <a:rPr lang="de-DE"/>
              <a:t>08/20/2020</a:t>
            </a:r>
            <a:endParaRPr lang="en-US" dirty="0"/>
          </a:p>
        </p:txBody>
      </p:sp>
      <p:sp>
        <p:nvSpPr>
          <p:cNvPr id="7" name="Fußzeilenplatzhalter 6">
            <a:extLst>
              <a:ext uri="{FF2B5EF4-FFF2-40B4-BE49-F238E27FC236}">
                <a16:creationId xmlns:a16="http://schemas.microsoft.com/office/drawing/2014/main" id="{3A40F854-10E0-4E29-BF41-53A0539FC584}"/>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University of Stuttgart</a:t>
            </a:r>
            <a:endParaRPr lang="en-US" dirty="0"/>
          </a:p>
        </p:txBody>
      </p:sp>
      <p:sp>
        <p:nvSpPr>
          <p:cNvPr id="8" name="Foliennummernplatzhalter 7">
            <a:extLst>
              <a:ext uri="{FF2B5EF4-FFF2-40B4-BE49-F238E27FC236}">
                <a16:creationId xmlns:a16="http://schemas.microsoft.com/office/drawing/2014/main" id="{575A3FC3-7E0C-4829-99EC-583BF5DA6743}"/>
              </a:ext>
              <a:ext uri="{C183D7F6-B498-43B3-948B-1728B52AA6E4}">
                <adec:decorative xmlns:adec="http://schemas.microsoft.com/office/drawing/2017/decorative" val="1"/>
              </a:ext>
            </a:extLst>
          </p:cNvPr>
          <p:cNvSpPr>
            <a:spLocks noGrp="1"/>
          </p:cNvSpPr>
          <p:nvPr>
            <p:ph type="sldNum" sz="quarter" idx="16"/>
          </p:nvPr>
        </p:nvSpPr>
        <p:spPr/>
        <p:txBody>
          <a:bodyPr/>
          <a:lstStyle/>
          <a:p>
            <a:fld id="{9E82CC3C-1DC0-4FDA-9590-6CC506AB67F8}" type="slidenum">
              <a:rPr lang="en-US" smtClean="0"/>
              <a:pPr/>
              <a:t>‹Nr.›</a:t>
            </a:fld>
            <a:endParaRPr lang="en-US" dirty="0"/>
          </a:p>
        </p:txBody>
      </p:sp>
    </p:spTree>
    <p:extLst>
      <p:ext uri="{BB962C8B-B14F-4D97-AF65-F5344CB8AC3E}">
        <p14:creationId xmlns:p14="http://schemas.microsoft.com/office/powerpoint/2010/main" val="3015284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Kapite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Freihandform: Form 8">
            <a:extLst>
              <a:ext uri="{FF2B5EF4-FFF2-40B4-BE49-F238E27FC236}">
                <a16:creationId xmlns:a16="http://schemas.microsoft.com/office/drawing/2014/main" id="{989E6229-E650-4C0F-8141-1787714FDDFC}"/>
              </a:ext>
              <a:ext uri="{C183D7F6-B498-43B3-948B-1728B52AA6E4}">
                <adec:decorative xmlns:adec="http://schemas.microsoft.com/office/drawing/2017/decorative" val="1"/>
              </a:ext>
            </a:extLst>
          </p:cNvPr>
          <p:cNvSpPr/>
          <p:nvPr userDrawn="1"/>
        </p:nvSpPr>
        <p:spPr>
          <a:xfrm>
            <a:off x="1279949" y="0"/>
            <a:ext cx="6543725" cy="3533140"/>
          </a:xfrm>
          <a:custGeom>
            <a:avLst/>
            <a:gdLst>
              <a:gd name="connsiteX0" fmla="*/ 10560 w 6543725"/>
              <a:gd name="connsiteY0" fmla="*/ 0 h 3533140"/>
              <a:gd name="connsiteX1" fmla="*/ 6533165 w 6543725"/>
              <a:gd name="connsiteY1" fmla="*/ 0 h 3533140"/>
              <a:gd name="connsiteX2" fmla="*/ 6543725 w 6543725"/>
              <a:gd name="connsiteY2" fmla="*/ 261277 h 3533140"/>
              <a:gd name="connsiteX3" fmla="*/ 6532879 w 6543725"/>
              <a:gd name="connsiteY3" fmla="*/ 529622 h 3533140"/>
              <a:gd name="connsiteX4" fmla="*/ 6500902 w 6543725"/>
              <a:gd name="connsiteY4" fmla="*/ 791992 h 3533140"/>
              <a:gd name="connsiteX5" fmla="*/ 6448637 w 6543725"/>
              <a:gd name="connsiteY5" fmla="*/ 1047546 h 3533140"/>
              <a:gd name="connsiteX6" fmla="*/ 6376924 w 6543725"/>
              <a:gd name="connsiteY6" fmla="*/ 1295442 h 3533140"/>
              <a:gd name="connsiteX7" fmla="*/ 6286607 w 6543725"/>
              <a:gd name="connsiteY7" fmla="*/ 1534837 h 3533140"/>
              <a:gd name="connsiteX8" fmla="*/ 6178527 w 6543725"/>
              <a:gd name="connsiteY8" fmla="*/ 1764890 h 3533140"/>
              <a:gd name="connsiteX9" fmla="*/ 6053527 w 6543725"/>
              <a:gd name="connsiteY9" fmla="*/ 1984758 h 3533140"/>
              <a:gd name="connsiteX10" fmla="*/ 5912448 w 6543725"/>
              <a:gd name="connsiteY10" fmla="*/ 2193600 h 3533140"/>
              <a:gd name="connsiteX11" fmla="*/ 5756132 w 6543725"/>
              <a:gd name="connsiteY11" fmla="*/ 2390573 h 3533140"/>
              <a:gd name="connsiteX12" fmla="*/ 5585421 w 6543725"/>
              <a:gd name="connsiteY12" fmla="*/ 2574836 h 3533140"/>
              <a:gd name="connsiteX13" fmla="*/ 5401159 w 6543725"/>
              <a:gd name="connsiteY13" fmla="*/ 2745547 h 3533140"/>
              <a:gd name="connsiteX14" fmla="*/ 5204185 w 6543725"/>
              <a:gd name="connsiteY14" fmla="*/ 2901862 h 3533140"/>
              <a:gd name="connsiteX15" fmla="*/ 4995343 w 6543725"/>
              <a:gd name="connsiteY15" fmla="*/ 3042941 h 3533140"/>
              <a:gd name="connsiteX16" fmla="*/ 4775475 w 6543725"/>
              <a:gd name="connsiteY16" fmla="*/ 3167942 h 3533140"/>
              <a:gd name="connsiteX17" fmla="*/ 4545422 w 6543725"/>
              <a:gd name="connsiteY17" fmla="*/ 3276022 h 3533140"/>
              <a:gd name="connsiteX18" fmla="*/ 4306027 w 6543725"/>
              <a:gd name="connsiteY18" fmla="*/ 3366339 h 3533140"/>
              <a:gd name="connsiteX19" fmla="*/ 4058131 w 6543725"/>
              <a:gd name="connsiteY19" fmla="*/ 3438051 h 3533140"/>
              <a:gd name="connsiteX20" fmla="*/ 3802577 w 6543725"/>
              <a:gd name="connsiteY20" fmla="*/ 3490317 h 3533140"/>
              <a:gd name="connsiteX21" fmla="*/ 3540207 w 6543725"/>
              <a:gd name="connsiteY21" fmla="*/ 3522294 h 3533140"/>
              <a:gd name="connsiteX22" fmla="*/ 3271862 w 6543725"/>
              <a:gd name="connsiteY22" fmla="*/ 3533140 h 3533140"/>
              <a:gd name="connsiteX23" fmla="*/ 3003520 w 6543725"/>
              <a:gd name="connsiteY23" fmla="*/ 3522294 h 3533140"/>
              <a:gd name="connsiteX24" fmla="*/ 2741151 w 6543725"/>
              <a:gd name="connsiteY24" fmla="*/ 3490317 h 3533140"/>
              <a:gd name="connsiteX25" fmla="*/ 2485598 w 6543725"/>
              <a:gd name="connsiteY25" fmla="*/ 3438051 h 3533140"/>
              <a:gd name="connsiteX26" fmla="*/ 2237703 w 6543725"/>
              <a:gd name="connsiteY26" fmla="*/ 3366339 h 3533140"/>
              <a:gd name="connsiteX27" fmla="*/ 1998308 w 6543725"/>
              <a:gd name="connsiteY27" fmla="*/ 3276022 h 3533140"/>
              <a:gd name="connsiteX28" fmla="*/ 1768256 w 6543725"/>
              <a:gd name="connsiteY28" fmla="*/ 3167942 h 3533140"/>
              <a:gd name="connsiteX29" fmla="*/ 1548387 w 6543725"/>
              <a:gd name="connsiteY29" fmla="*/ 3042941 h 3533140"/>
              <a:gd name="connsiteX30" fmla="*/ 1339545 w 6543725"/>
              <a:gd name="connsiteY30" fmla="*/ 2901862 h 3533140"/>
              <a:gd name="connsiteX31" fmla="*/ 1142571 w 6543725"/>
              <a:gd name="connsiteY31" fmla="*/ 2745547 h 3533140"/>
              <a:gd name="connsiteX32" fmla="*/ 958308 w 6543725"/>
              <a:gd name="connsiteY32" fmla="*/ 2574836 h 3533140"/>
              <a:gd name="connsiteX33" fmla="*/ 787597 w 6543725"/>
              <a:gd name="connsiteY33" fmla="*/ 2390573 h 3533140"/>
              <a:gd name="connsiteX34" fmla="*/ 631281 w 6543725"/>
              <a:gd name="connsiteY34" fmla="*/ 2193600 h 3533140"/>
              <a:gd name="connsiteX35" fmla="*/ 490201 w 6543725"/>
              <a:gd name="connsiteY35" fmla="*/ 1984758 h 3533140"/>
              <a:gd name="connsiteX36" fmla="*/ 365200 w 6543725"/>
              <a:gd name="connsiteY36" fmla="*/ 1764890 h 3533140"/>
              <a:gd name="connsiteX37" fmla="*/ 257120 w 6543725"/>
              <a:gd name="connsiteY37" fmla="*/ 1534837 h 3533140"/>
              <a:gd name="connsiteX38" fmla="*/ 166802 w 6543725"/>
              <a:gd name="connsiteY38" fmla="*/ 1295442 h 3533140"/>
              <a:gd name="connsiteX39" fmla="*/ 95089 w 6543725"/>
              <a:gd name="connsiteY39" fmla="*/ 1047546 h 3533140"/>
              <a:gd name="connsiteX40" fmla="*/ 42823 w 6543725"/>
              <a:gd name="connsiteY40" fmla="*/ 791992 h 3533140"/>
              <a:gd name="connsiteX41" fmla="*/ 10846 w 6543725"/>
              <a:gd name="connsiteY41" fmla="*/ 529622 h 3533140"/>
              <a:gd name="connsiteX42" fmla="*/ 0 w 6543725"/>
              <a:gd name="connsiteY42" fmla="*/ 261277 h 3533140"/>
              <a:gd name="connsiteX43" fmla="*/ 10560 w 6543725"/>
              <a:gd name="connsiteY43" fmla="*/ 0 h 3533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543725" h="3533140">
                <a:moveTo>
                  <a:pt x="10560" y="0"/>
                </a:moveTo>
                <a:lnTo>
                  <a:pt x="6533165" y="0"/>
                </a:lnTo>
                <a:lnTo>
                  <a:pt x="6543725" y="261277"/>
                </a:lnTo>
                <a:lnTo>
                  <a:pt x="6532879" y="529622"/>
                </a:lnTo>
                <a:lnTo>
                  <a:pt x="6500902" y="791992"/>
                </a:lnTo>
                <a:lnTo>
                  <a:pt x="6448637" y="1047546"/>
                </a:lnTo>
                <a:lnTo>
                  <a:pt x="6376924" y="1295442"/>
                </a:lnTo>
                <a:lnTo>
                  <a:pt x="6286607" y="1534837"/>
                </a:lnTo>
                <a:lnTo>
                  <a:pt x="6178527" y="1764890"/>
                </a:lnTo>
                <a:lnTo>
                  <a:pt x="6053527" y="1984758"/>
                </a:lnTo>
                <a:lnTo>
                  <a:pt x="5912448" y="2193600"/>
                </a:lnTo>
                <a:lnTo>
                  <a:pt x="5756132" y="2390573"/>
                </a:lnTo>
                <a:lnTo>
                  <a:pt x="5585421" y="2574836"/>
                </a:lnTo>
                <a:lnTo>
                  <a:pt x="5401159" y="2745547"/>
                </a:lnTo>
                <a:lnTo>
                  <a:pt x="5204185" y="2901862"/>
                </a:lnTo>
                <a:lnTo>
                  <a:pt x="4995343" y="3042941"/>
                </a:lnTo>
                <a:lnTo>
                  <a:pt x="4775475" y="3167942"/>
                </a:lnTo>
                <a:lnTo>
                  <a:pt x="4545422" y="3276022"/>
                </a:lnTo>
                <a:lnTo>
                  <a:pt x="4306027" y="3366339"/>
                </a:lnTo>
                <a:lnTo>
                  <a:pt x="4058131" y="3438051"/>
                </a:lnTo>
                <a:lnTo>
                  <a:pt x="3802577" y="3490317"/>
                </a:lnTo>
                <a:lnTo>
                  <a:pt x="3540207" y="3522294"/>
                </a:lnTo>
                <a:lnTo>
                  <a:pt x="3271862" y="3533140"/>
                </a:lnTo>
                <a:lnTo>
                  <a:pt x="3003520" y="3522294"/>
                </a:lnTo>
                <a:lnTo>
                  <a:pt x="2741151" y="3490317"/>
                </a:lnTo>
                <a:lnTo>
                  <a:pt x="2485598" y="3438051"/>
                </a:lnTo>
                <a:lnTo>
                  <a:pt x="2237703" y="3366339"/>
                </a:lnTo>
                <a:lnTo>
                  <a:pt x="1998308" y="3276022"/>
                </a:lnTo>
                <a:lnTo>
                  <a:pt x="1768256" y="3167942"/>
                </a:lnTo>
                <a:lnTo>
                  <a:pt x="1548387" y="3042941"/>
                </a:lnTo>
                <a:lnTo>
                  <a:pt x="1339545" y="2901862"/>
                </a:lnTo>
                <a:lnTo>
                  <a:pt x="1142571" y="2745547"/>
                </a:lnTo>
                <a:lnTo>
                  <a:pt x="958308" y="2574836"/>
                </a:lnTo>
                <a:lnTo>
                  <a:pt x="787597" y="2390573"/>
                </a:lnTo>
                <a:lnTo>
                  <a:pt x="631281" y="2193600"/>
                </a:lnTo>
                <a:lnTo>
                  <a:pt x="490201" y="1984758"/>
                </a:lnTo>
                <a:lnTo>
                  <a:pt x="365200" y="1764890"/>
                </a:lnTo>
                <a:lnTo>
                  <a:pt x="257120" y="1534837"/>
                </a:lnTo>
                <a:lnTo>
                  <a:pt x="166802" y="1295442"/>
                </a:lnTo>
                <a:lnTo>
                  <a:pt x="95089" y="1047546"/>
                </a:lnTo>
                <a:lnTo>
                  <a:pt x="42823" y="791992"/>
                </a:lnTo>
                <a:lnTo>
                  <a:pt x="10846" y="529622"/>
                </a:lnTo>
                <a:lnTo>
                  <a:pt x="0" y="261277"/>
                </a:lnTo>
                <a:lnTo>
                  <a:pt x="1056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p>
        </p:txBody>
      </p:sp>
      <p:sp>
        <p:nvSpPr>
          <p:cNvPr id="3" name="Text Placeholder 2"/>
          <p:cNvSpPr>
            <a:spLocks noGrp="1"/>
          </p:cNvSpPr>
          <p:nvPr>
            <p:ph type="body" idx="1" hasCustomPrompt="1"/>
          </p:nvPr>
        </p:nvSpPr>
        <p:spPr>
          <a:xfrm>
            <a:off x="2492756" y="566845"/>
            <a:ext cx="4118110" cy="199439"/>
          </a:xfrm>
        </p:spPr>
        <p:txBody>
          <a:bodyPr>
            <a:noAutofit/>
          </a:bodyPr>
          <a:lstStyle>
            <a:lvl1pPr marL="0" indent="0">
              <a:buNone/>
              <a:defRPr sz="1200" baseline="0">
                <a:solidFill>
                  <a:schemeClr val="tx1"/>
                </a:solidFill>
              </a:defRPr>
            </a:lvl1pPr>
            <a:lvl2pPr marL="342897" indent="0">
              <a:buNone/>
              <a:defRPr sz="1500">
                <a:solidFill>
                  <a:schemeClr val="tx1">
                    <a:tint val="75000"/>
                  </a:schemeClr>
                </a:solidFill>
              </a:defRPr>
            </a:lvl2pPr>
            <a:lvl3pPr marL="685793" indent="0">
              <a:buNone/>
              <a:defRPr sz="1350">
                <a:solidFill>
                  <a:schemeClr val="tx1">
                    <a:tint val="75000"/>
                  </a:schemeClr>
                </a:solidFill>
              </a:defRPr>
            </a:lvl3pPr>
            <a:lvl4pPr marL="1028690" indent="0">
              <a:buNone/>
              <a:defRPr sz="1200">
                <a:solidFill>
                  <a:schemeClr val="tx1">
                    <a:tint val="75000"/>
                  </a:schemeClr>
                </a:solidFill>
              </a:defRPr>
            </a:lvl4pPr>
            <a:lvl5pPr marL="1371586" indent="0">
              <a:buNone/>
              <a:defRPr sz="1200">
                <a:solidFill>
                  <a:schemeClr val="tx1">
                    <a:tint val="75000"/>
                  </a:schemeClr>
                </a:solidFill>
              </a:defRPr>
            </a:lvl5pPr>
            <a:lvl6pPr marL="1714483" indent="0">
              <a:buNone/>
              <a:defRPr sz="1200">
                <a:solidFill>
                  <a:schemeClr val="tx1">
                    <a:tint val="75000"/>
                  </a:schemeClr>
                </a:solidFill>
              </a:defRPr>
            </a:lvl6pPr>
            <a:lvl7pPr marL="2057379" indent="0">
              <a:buNone/>
              <a:defRPr sz="1200">
                <a:solidFill>
                  <a:schemeClr val="tx1">
                    <a:tint val="75000"/>
                  </a:schemeClr>
                </a:solidFill>
              </a:defRPr>
            </a:lvl7pPr>
            <a:lvl8pPr marL="2400276" indent="0">
              <a:buNone/>
              <a:defRPr sz="1200">
                <a:solidFill>
                  <a:schemeClr val="tx1">
                    <a:tint val="75000"/>
                  </a:schemeClr>
                </a:solidFill>
              </a:defRPr>
            </a:lvl8pPr>
            <a:lvl9pPr marL="2743173" indent="0">
              <a:buNone/>
              <a:defRPr sz="1200">
                <a:solidFill>
                  <a:schemeClr val="tx1">
                    <a:tint val="75000"/>
                  </a:schemeClr>
                </a:solidFill>
              </a:defRPr>
            </a:lvl9pPr>
          </a:lstStyle>
          <a:p>
            <a:pPr lvl="0"/>
            <a:r>
              <a:rPr lang="de-DE" dirty="0"/>
              <a:t>Kapitel</a:t>
            </a:r>
          </a:p>
        </p:txBody>
      </p:sp>
      <p:sp>
        <p:nvSpPr>
          <p:cNvPr id="2" name="Title 1"/>
          <p:cNvSpPr>
            <a:spLocks noGrp="1"/>
          </p:cNvSpPr>
          <p:nvPr>
            <p:ph type="title"/>
          </p:nvPr>
        </p:nvSpPr>
        <p:spPr>
          <a:xfrm>
            <a:off x="2492756" y="809999"/>
            <a:ext cx="4118110" cy="1853687"/>
          </a:xfrm>
          <a:prstGeom prst="rect">
            <a:avLst/>
          </a:prstGeom>
        </p:spPr>
        <p:txBody>
          <a:bodyPr anchor="t" anchorCtr="0"/>
          <a:lstStyle>
            <a:lvl1pPr>
              <a:defRPr sz="3200"/>
            </a:lvl1pPr>
          </a:lstStyle>
          <a:p>
            <a:r>
              <a:rPr lang="de-DE" dirty="0"/>
              <a:t>Titelmasterformat durch Klicken bearbeiten</a:t>
            </a:r>
          </a:p>
        </p:txBody>
      </p:sp>
    </p:spTree>
    <p:extLst>
      <p:ext uri="{BB962C8B-B14F-4D97-AF65-F5344CB8AC3E}">
        <p14:creationId xmlns:p14="http://schemas.microsoft.com/office/powerpoint/2010/main" val="27107618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Unterkapitel">
    <p:bg>
      <p:bgPr>
        <a:solidFill>
          <a:schemeClr val="tx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2422803" y="1749602"/>
            <a:ext cx="3026729" cy="199439"/>
          </a:xfrm>
        </p:spPr>
        <p:txBody>
          <a:bodyPr>
            <a:noAutofit/>
          </a:bodyPr>
          <a:lstStyle>
            <a:lvl1pPr marL="0" indent="0">
              <a:buNone/>
              <a:defRPr sz="1200" baseline="0">
                <a:solidFill>
                  <a:schemeClr val="bg1"/>
                </a:solidFill>
              </a:defRPr>
            </a:lvl1pPr>
            <a:lvl2pPr marL="342897" indent="0">
              <a:buNone/>
              <a:defRPr sz="1500">
                <a:solidFill>
                  <a:schemeClr val="tx1">
                    <a:tint val="75000"/>
                  </a:schemeClr>
                </a:solidFill>
              </a:defRPr>
            </a:lvl2pPr>
            <a:lvl3pPr marL="685793" indent="0">
              <a:buNone/>
              <a:defRPr sz="1350">
                <a:solidFill>
                  <a:schemeClr val="tx1">
                    <a:tint val="75000"/>
                  </a:schemeClr>
                </a:solidFill>
              </a:defRPr>
            </a:lvl3pPr>
            <a:lvl4pPr marL="1028690" indent="0">
              <a:buNone/>
              <a:defRPr sz="1200">
                <a:solidFill>
                  <a:schemeClr val="tx1">
                    <a:tint val="75000"/>
                  </a:schemeClr>
                </a:solidFill>
              </a:defRPr>
            </a:lvl4pPr>
            <a:lvl5pPr marL="1371586" indent="0">
              <a:buNone/>
              <a:defRPr sz="1200">
                <a:solidFill>
                  <a:schemeClr val="tx1">
                    <a:tint val="75000"/>
                  </a:schemeClr>
                </a:solidFill>
              </a:defRPr>
            </a:lvl5pPr>
            <a:lvl6pPr marL="1714483" indent="0">
              <a:buNone/>
              <a:defRPr sz="1200">
                <a:solidFill>
                  <a:schemeClr val="tx1">
                    <a:tint val="75000"/>
                  </a:schemeClr>
                </a:solidFill>
              </a:defRPr>
            </a:lvl6pPr>
            <a:lvl7pPr marL="2057379" indent="0">
              <a:buNone/>
              <a:defRPr sz="1200">
                <a:solidFill>
                  <a:schemeClr val="tx1">
                    <a:tint val="75000"/>
                  </a:schemeClr>
                </a:solidFill>
              </a:defRPr>
            </a:lvl7pPr>
            <a:lvl8pPr marL="2400276" indent="0">
              <a:buNone/>
              <a:defRPr sz="1200">
                <a:solidFill>
                  <a:schemeClr val="tx1">
                    <a:tint val="75000"/>
                  </a:schemeClr>
                </a:solidFill>
              </a:defRPr>
            </a:lvl8pPr>
            <a:lvl9pPr marL="2743173" indent="0">
              <a:buNone/>
              <a:defRPr sz="1200">
                <a:solidFill>
                  <a:schemeClr val="tx1">
                    <a:tint val="75000"/>
                  </a:schemeClr>
                </a:solidFill>
              </a:defRPr>
            </a:lvl9pPr>
          </a:lstStyle>
          <a:p>
            <a:pPr lvl="0"/>
            <a:r>
              <a:rPr lang="de-DE" dirty="0"/>
              <a:t>Unterkapitel</a:t>
            </a:r>
          </a:p>
        </p:txBody>
      </p:sp>
      <p:sp>
        <p:nvSpPr>
          <p:cNvPr id="2" name="Title 1"/>
          <p:cNvSpPr>
            <a:spLocks noGrp="1"/>
          </p:cNvSpPr>
          <p:nvPr>
            <p:ph type="title"/>
          </p:nvPr>
        </p:nvSpPr>
        <p:spPr>
          <a:xfrm>
            <a:off x="2422802" y="2025000"/>
            <a:ext cx="5526581" cy="810000"/>
          </a:xfrm>
          <a:prstGeom prst="rect">
            <a:avLst/>
          </a:prstGeom>
        </p:spPr>
        <p:txBody>
          <a:bodyPr anchor="t" anchorCtr="0"/>
          <a:lstStyle>
            <a:lvl1pPr>
              <a:defRPr sz="3200">
                <a:solidFill>
                  <a:schemeClr val="bg1"/>
                </a:solidFill>
              </a:defRPr>
            </a:lvl1pPr>
          </a:lstStyle>
          <a:p>
            <a:r>
              <a:rPr lang="de-DE" dirty="0"/>
              <a:t>Titelmasterformat durch Klicken bearbeiten</a:t>
            </a:r>
          </a:p>
        </p:txBody>
      </p:sp>
    </p:spTree>
    <p:extLst>
      <p:ext uri="{BB962C8B-B14F-4D97-AF65-F5344CB8AC3E}">
        <p14:creationId xmlns:p14="http://schemas.microsoft.com/office/powerpoint/2010/main" val="3178261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Zitat Layout">
    <p:spTree>
      <p:nvGrpSpPr>
        <p:cNvPr id="1" name=""/>
        <p:cNvGrpSpPr/>
        <p:nvPr/>
      </p:nvGrpSpPr>
      <p:grpSpPr>
        <a:xfrm>
          <a:off x="0" y="0"/>
          <a:ext cx="0" cy="0"/>
          <a:chOff x="0" y="0"/>
          <a:chExt cx="0" cy="0"/>
        </a:xfrm>
      </p:grpSpPr>
      <p:sp>
        <p:nvSpPr>
          <p:cNvPr id="10" name="Freihandform: Form 9">
            <a:extLst>
              <a:ext uri="{FF2B5EF4-FFF2-40B4-BE49-F238E27FC236}">
                <a16:creationId xmlns:a16="http://schemas.microsoft.com/office/drawing/2014/main" id="{15285CE5-013A-4554-99D3-E6E1B753071F}"/>
              </a:ext>
              <a:ext uri="{C183D7F6-B498-43B3-948B-1728B52AA6E4}">
                <adec:decorative xmlns:adec="http://schemas.microsoft.com/office/drawing/2017/decorative" val="1"/>
              </a:ext>
            </a:extLst>
          </p:cNvPr>
          <p:cNvSpPr/>
          <p:nvPr userDrawn="1"/>
        </p:nvSpPr>
        <p:spPr>
          <a:xfrm>
            <a:off x="329255" y="-1"/>
            <a:ext cx="7842289" cy="4234271"/>
          </a:xfrm>
          <a:custGeom>
            <a:avLst/>
            <a:gdLst>
              <a:gd name="connsiteX0" fmla="*/ 10560 w 6543725"/>
              <a:gd name="connsiteY0" fmla="*/ 0 h 3533140"/>
              <a:gd name="connsiteX1" fmla="*/ 6533165 w 6543725"/>
              <a:gd name="connsiteY1" fmla="*/ 0 h 3533140"/>
              <a:gd name="connsiteX2" fmla="*/ 6543725 w 6543725"/>
              <a:gd name="connsiteY2" fmla="*/ 261277 h 3533140"/>
              <a:gd name="connsiteX3" fmla="*/ 6532879 w 6543725"/>
              <a:gd name="connsiteY3" fmla="*/ 529622 h 3533140"/>
              <a:gd name="connsiteX4" fmla="*/ 6500902 w 6543725"/>
              <a:gd name="connsiteY4" fmla="*/ 791992 h 3533140"/>
              <a:gd name="connsiteX5" fmla="*/ 6448637 w 6543725"/>
              <a:gd name="connsiteY5" fmla="*/ 1047546 h 3533140"/>
              <a:gd name="connsiteX6" fmla="*/ 6376924 w 6543725"/>
              <a:gd name="connsiteY6" fmla="*/ 1295442 h 3533140"/>
              <a:gd name="connsiteX7" fmla="*/ 6286607 w 6543725"/>
              <a:gd name="connsiteY7" fmla="*/ 1534837 h 3533140"/>
              <a:gd name="connsiteX8" fmla="*/ 6178527 w 6543725"/>
              <a:gd name="connsiteY8" fmla="*/ 1764890 h 3533140"/>
              <a:gd name="connsiteX9" fmla="*/ 6053527 w 6543725"/>
              <a:gd name="connsiteY9" fmla="*/ 1984758 h 3533140"/>
              <a:gd name="connsiteX10" fmla="*/ 5912448 w 6543725"/>
              <a:gd name="connsiteY10" fmla="*/ 2193600 h 3533140"/>
              <a:gd name="connsiteX11" fmla="*/ 5756132 w 6543725"/>
              <a:gd name="connsiteY11" fmla="*/ 2390573 h 3533140"/>
              <a:gd name="connsiteX12" fmla="*/ 5585421 w 6543725"/>
              <a:gd name="connsiteY12" fmla="*/ 2574836 h 3533140"/>
              <a:gd name="connsiteX13" fmla="*/ 5401159 w 6543725"/>
              <a:gd name="connsiteY13" fmla="*/ 2745547 h 3533140"/>
              <a:gd name="connsiteX14" fmla="*/ 5204185 w 6543725"/>
              <a:gd name="connsiteY14" fmla="*/ 2901862 h 3533140"/>
              <a:gd name="connsiteX15" fmla="*/ 4995343 w 6543725"/>
              <a:gd name="connsiteY15" fmla="*/ 3042941 h 3533140"/>
              <a:gd name="connsiteX16" fmla="*/ 4775475 w 6543725"/>
              <a:gd name="connsiteY16" fmla="*/ 3167942 h 3533140"/>
              <a:gd name="connsiteX17" fmla="*/ 4545422 w 6543725"/>
              <a:gd name="connsiteY17" fmla="*/ 3276022 h 3533140"/>
              <a:gd name="connsiteX18" fmla="*/ 4306027 w 6543725"/>
              <a:gd name="connsiteY18" fmla="*/ 3366339 h 3533140"/>
              <a:gd name="connsiteX19" fmla="*/ 4058131 w 6543725"/>
              <a:gd name="connsiteY19" fmla="*/ 3438051 h 3533140"/>
              <a:gd name="connsiteX20" fmla="*/ 3802577 w 6543725"/>
              <a:gd name="connsiteY20" fmla="*/ 3490317 h 3533140"/>
              <a:gd name="connsiteX21" fmla="*/ 3540207 w 6543725"/>
              <a:gd name="connsiteY21" fmla="*/ 3522294 h 3533140"/>
              <a:gd name="connsiteX22" fmla="*/ 3271862 w 6543725"/>
              <a:gd name="connsiteY22" fmla="*/ 3533140 h 3533140"/>
              <a:gd name="connsiteX23" fmla="*/ 3003520 w 6543725"/>
              <a:gd name="connsiteY23" fmla="*/ 3522294 h 3533140"/>
              <a:gd name="connsiteX24" fmla="*/ 2741151 w 6543725"/>
              <a:gd name="connsiteY24" fmla="*/ 3490317 h 3533140"/>
              <a:gd name="connsiteX25" fmla="*/ 2485598 w 6543725"/>
              <a:gd name="connsiteY25" fmla="*/ 3438051 h 3533140"/>
              <a:gd name="connsiteX26" fmla="*/ 2237703 w 6543725"/>
              <a:gd name="connsiteY26" fmla="*/ 3366339 h 3533140"/>
              <a:gd name="connsiteX27" fmla="*/ 1998308 w 6543725"/>
              <a:gd name="connsiteY27" fmla="*/ 3276022 h 3533140"/>
              <a:gd name="connsiteX28" fmla="*/ 1768256 w 6543725"/>
              <a:gd name="connsiteY28" fmla="*/ 3167942 h 3533140"/>
              <a:gd name="connsiteX29" fmla="*/ 1548387 w 6543725"/>
              <a:gd name="connsiteY29" fmla="*/ 3042941 h 3533140"/>
              <a:gd name="connsiteX30" fmla="*/ 1339545 w 6543725"/>
              <a:gd name="connsiteY30" fmla="*/ 2901862 h 3533140"/>
              <a:gd name="connsiteX31" fmla="*/ 1142571 w 6543725"/>
              <a:gd name="connsiteY31" fmla="*/ 2745547 h 3533140"/>
              <a:gd name="connsiteX32" fmla="*/ 958308 w 6543725"/>
              <a:gd name="connsiteY32" fmla="*/ 2574836 h 3533140"/>
              <a:gd name="connsiteX33" fmla="*/ 787597 w 6543725"/>
              <a:gd name="connsiteY33" fmla="*/ 2390573 h 3533140"/>
              <a:gd name="connsiteX34" fmla="*/ 631281 w 6543725"/>
              <a:gd name="connsiteY34" fmla="*/ 2193600 h 3533140"/>
              <a:gd name="connsiteX35" fmla="*/ 490201 w 6543725"/>
              <a:gd name="connsiteY35" fmla="*/ 1984758 h 3533140"/>
              <a:gd name="connsiteX36" fmla="*/ 365200 w 6543725"/>
              <a:gd name="connsiteY36" fmla="*/ 1764890 h 3533140"/>
              <a:gd name="connsiteX37" fmla="*/ 257120 w 6543725"/>
              <a:gd name="connsiteY37" fmla="*/ 1534837 h 3533140"/>
              <a:gd name="connsiteX38" fmla="*/ 166802 w 6543725"/>
              <a:gd name="connsiteY38" fmla="*/ 1295442 h 3533140"/>
              <a:gd name="connsiteX39" fmla="*/ 95089 w 6543725"/>
              <a:gd name="connsiteY39" fmla="*/ 1047546 h 3533140"/>
              <a:gd name="connsiteX40" fmla="*/ 42823 w 6543725"/>
              <a:gd name="connsiteY40" fmla="*/ 791992 h 3533140"/>
              <a:gd name="connsiteX41" fmla="*/ 10846 w 6543725"/>
              <a:gd name="connsiteY41" fmla="*/ 529622 h 3533140"/>
              <a:gd name="connsiteX42" fmla="*/ 0 w 6543725"/>
              <a:gd name="connsiteY42" fmla="*/ 261277 h 3533140"/>
              <a:gd name="connsiteX43" fmla="*/ 10560 w 6543725"/>
              <a:gd name="connsiteY43" fmla="*/ 0 h 3533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543725" h="3533140">
                <a:moveTo>
                  <a:pt x="10560" y="0"/>
                </a:moveTo>
                <a:lnTo>
                  <a:pt x="6533165" y="0"/>
                </a:lnTo>
                <a:lnTo>
                  <a:pt x="6543725" y="261277"/>
                </a:lnTo>
                <a:lnTo>
                  <a:pt x="6532879" y="529622"/>
                </a:lnTo>
                <a:lnTo>
                  <a:pt x="6500902" y="791992"/>
                </a:lnTo>
                <a:lnTo>
                  <a:pt x="6448637" y="1047546"/>
                </a:lnTo>
                <a:lnTo>
                  <a:pt x="6376924" y="1295442"/>
                </a:lnTo>
                <a:lnTo>
                  <a:pt x="6286607" y="1534837"/>
                </a:lnTo>
                <a:lnTo>
                  <a:pt x="6178527" y="1764890"/>
                </a:lnTo>
                <a:lnTo>
                  <a:pt x="6053527" y="1984758"/>
                </a:lnTo>
                <a:lnTo>
                  <a:pt x="5912448" y="2193600"/>
                </a:lnTo>
                <a:lnTo>
                  <a:pt x="5756132" y="2390573"/>
                </a:lnTo>
                <a:lnTo>
                  <a:pt x="5585421" y="2574836"/>
                </a:lnTo>
                <a:lnTo>
                  <a:pt x="5401159" y="2745547"/>
                </a:lnTo>
                <a:lnTo>
                  <a:pt x="5204185" y="2901862"/>
                </a:lnTo>
                <a:lnTo>
                  <a:pt x="4995343" y="3042941"/>
                </a:lnTo>
                <a:lnTo>
                  <a:pt x="4775475" y="3167942"/>
                </a:lnTo>
                <a:lnTo>
                  <a:pt x="4545422" y="3276022"/>
                </a:lnTo>
                <a:lnTo>
                  <a:pt x="4306027" y="3366339"/>
                </a:lnTo>
                <a:lnTo>
                  <a:pt x="4058131" y="3438051"/>
                </a:lnTo>
                <a:lnTo>
                  <a:pt x="3802577" y="3490317"/>
                </a:lnTo>
                <a:lnTo>
                  <a:pt x="3540207" y="3522294"/>
                </a:lnTo>
                <a:lnTo>
                  <a:pt x="3271862" y="3533140"/>
                </a:lnTo>
                <a:lnTo>
                  <a:pt x="3003520" y="3522294"/>
                </a:lnTo>
                <a:lnTo>
                  <a:pt x="2741151" y="3490317"/>
                </a:lnTo>
                <a:lnTo>
                  <a:pt x="2485598" y="3438051"/>
                </a:lnTo>
                <a:lnTo>
                  <a:pt x="2237703" y="3366339"/>
                </a:lnTo>
                <a:lnTo>
                  <a:pt x="1998308" y="3276022"/>
                </a:lnTo>
                <a:lnTo>
                  <a:pt x="1768256" y="3167942"/>
                </a:lnTo>
                <a:lnTo>
                  <a:pt x="1548387" y="3042941"/>
                </a:lnTo>
                <a:lnTo>
                  <a:pt x="1339545" y="2901862"/>
                </a:lnTo>
                <a:lnTo>
                  <a:pt x="1142571" y="2745547"/>
                </a:lnTo>
                <a:lnTo>
                  <a:pt x="958308" y="2574836"/>
                </a:lnTo>
                <a:lnTo>
                  <a:pt x="787597" y="2390573"/>
                </a:lnTo>
                <a:lnTo>
                  <a:pt x="631281" y="2193600"/>
                </a:lnTo>
                <a:lnTo>
                  <a:pt x="490201" y="1984758"/>
                </a:lnTo>
                <a:lnTo>
                  <a:pt x="365200" y="1764890"/>
                </a:lnTo>
                <a:lnTo>
                  <a:pt x="257120" y="1534837"/>
                </a:lnTo>
                <a:lnTo>
                  <a:pt x="166802" y="1295442"/>
                </a:lnTo>
                <a:lnTo>
                  <a:pt x="95089" y="1047546"/>
                </a:lnTo>
                <a:lnTo>
                  <a:pt x="42823" y="791992"/>
                </a:lnTo>
                <a:lnTo>
                  <a:pt x="10846" y="529622"/>
                </a:lnTo>
                <a:lnTo>
                  <a:pt x="0" y="261277"/>
                </a:lnTo>
                <a:lnTo>
                  <a:pt x="1056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p>
        </p:txBody>
      </p:sp>
      <p:sp>
        <p:nvSpPr>
          <p:cNvPr id="6" name="object 3">
            <a:extLst>
              <a:ext uri="{C183D7F6-B498-43B3-948B-1728B52AA6E4}">
                <adec:decorative xmlns:adec="http://schemas.microsoft.com/office/drawing/2017/decorative" val="1"/>
              </a:ext>
            </a:extLst>
          </p:cNvPr>
          <p:cNvSpPr>
            <a:spLocks noChangeAspect="1"/>
          </p:cNvSpPr>
          <p:nvPr userDrawn="1"/>
        </p:nvSpPr>
        <p:spPr>
          <a:xfrm>
            <a:off x="5700215" y="2594272"/>
            <a:ext cx="2049145" cy="2048400"/>
          </a:xfrm>
          <a:custGeom>
            <a:avLst/>
            <a:gdLst/>
            <a:ahLst/>
            <a:cxnLst/>
            <a:rect l="l" t="t" r="r" b="b"/>
            <a:pathLst>
              <a:path w="2049145" h="2049145">
                <a:moveTo>
                  <a:pt x="1024432" y="0"/>
                </a:moveTo>
                <a:lnTo>
                  <a:pt x="940414" y="3395"/>
                </a:lnTo>
                <a:lnTo>
                  <a:pt x="858266" y="13407"/>
                </a:lnTo>
                <a:lnTo>
                  <a:pt x="778251" y="29772"/>
                </a:lnTo>
                <a:lnTo>
                  <a:pt x="700635" y="52225"/>
                </a:lnTo>
                <a:lnTo>
                  <a:pt x="625679" y="80504"/>
                </a:lnTo>
                <a:lnTo>
                  <a:pt x="553649" y="114344"/>
                </a:lnTo>
                <a:lnTo>
                  <a:pt x="484808" y="153482"/>
                </a:lnTo>
                <a:lnTo>
                  <a:pt x="419418" y="197654"/>
                </a:lnTo>
                <a:lnTo>
                  <a:pt x="357745" y="246597"/>
                </a:lnTo>
                <a:lnTo>
                  <a:pt x="300051" y="300047"/>
                </a:lnTo>
                <a:lnTo>
                  <a:pt x="246601" y="357740"/>
                </a:lnTo>
                <a:lnTo>
                  <a:pt x="197657" y="419413"/>
                </a:lnTo>
                <a:lnTo>
                  <a:pt x="153485" y="484802"/>
                </a:lnTo>
                <a:lnTo>
                  <a:pt x="114346" y="553644"/>
                </a:lnTo>
                <a:lnTo>
                  <a:pt x="80505" y="625674"/>
                </a:lnTo>
                <a:lnTo>
                  <a:pt x="52226" y="700630"/>
                </a:lnTo>
                <a:lnTo>
                  <a:pt x="29773" y="778247"/>
                </a:lnTo>
                <a:lnTo>
                  <a:pt x="13408" y="858262"/>
                </a:lnTo>
                <a:lnTo>
                  <a:pt x="3396" y="940412"/>
                </a:lnTo>
                <a:lnTo>
                  <a:pt x="0" y="1024432"/>
                </a:lnTo>
                <a:lnTo>
                  <a:pt x="3396" y="1108453"/>
                </a:lnTo>
                <a:lnTo>
                  <a:pt x="13408" y="1190602"/>
                </a:lnTo>
                <a:lnTo>
                  <a:pt x="29773" y="1270617"/>
                </a:lnTo>
                <a:lnTo>
                  <a:pt x="52226" y="1348235"/>
                </a:lnTo>
                <a:lnTo>
                  <a:pt x="80505" y="1423190"/>
                </a:lnTo>
                <a:lnTo>
                  <a:pt x="114346" y="1495221"/>
                </a:lnTo>
                <a:lnTo>
                  <a:pt x="153485" y="1564063"/>
                </a:lnTo>
                <a:lnTo>
                  <a:pt x="197657" y="1629452"/>
                </a:lnTo>
                <a:lnTo>
                  <a:pt x="246601" y="1691125"/>
                </a:lnTo>
                <a:lnTo>
                  <a:pt x="300051" y="1748818"/>
                </a:lnTo>
                <a:lnTo>
                  <a:pt x="357745" y="1802268"/>
                </a:lnTo>
                <a:lnTo>
                  <a:pt x="419418" y="1851211"/>
                </a:lnTo>
                <a:lnTo>
                  <a:pt x="484808" y="1895383"/>
                </a:lnTo>
                <a:lnTo>
                  <a:pt x="553649" y="1934521"/>
                </a:lnTo>
                <a:lnTo>
                  <a:pt x="625679" y="1968361"/>
                </a:lnTo>
                <a:lnTo>
                  <a:pt x="700635" y="1996639"/>
                </a:lnTo>
                <a:lnTo>
                  <a:pt x="778251" y="2019093"/>
                </a:lnTo>
                <a:lnTo>
                  <a:pt x="858266" y="2035457"/>
                </a:lnTo>
                <a:lnTo>
                  <a:pt x="940414" y="2045469"/>
                </a:lnTo>
                <a:lnTo>
                  <a:pt x="1024432" y="2048865"/>
                </a:lnTo>
                <a:lnTo>
                  <a:pt x="1108453" y="2045469"/>
                </a:lnTo>
                <a:lnTo>
                  <a:pt x="1190602" y="2035457"/>
                </a:lnTo>
                <a:lnTo>
                  <a:pt x="1270617" y="2019093"/>
                </a:lnTo>
                <a:lnTo>
                  <a:pt x="1348235" y="1996639"/>
                </a:lnTo>
                <a:lnTo>
                  <a:pt x="1423190" y="1968361"/>
                </a:lnTo>
                <a:lnTo>
                  <a:pt x="1495221" y="1934521"/>
                </a:lnTo>
                <a:lnTo>
                  <a:pt x="1564063" y="1895383"/>
                </a:lnTo>
                <a:lnTo>
                  <a:pt x="1629452" y="1851211"/>
                </a:lnTo>
                <a:lnTo>
                  <a:pt x="1691125" y="1802268"/>
                </a:lnTo>
                <a:lnTo>
                  <a:pt x="1748818" y="1748818"/>
                </a:lnTo>
                <a:lnTo>
                  <a:pt x="1802268" y="1691125"/>
                </a:lnTo>
                <a:lnTo>
                  <a:pt x="1851211" y="1629452"/>
                </a:lnTo>
                <a:lnTo>
                  <a:pt x="1895383" y="1564063"/>
                </a:lnTo>
                <a:lnTo>
                  <a:pt x="1934521" y="1495221"/>
                </a:lnTo>
                <a:lnTo>
                  <a:pt x="1968361" y="1423190"/>
                </a:lnTo>
                <a:lnTo>
                  <a:pt x="1996639" y="1348235"/>
                </a:lnTo>
                <a:lnTo>
                  <a:pt x="2019093" y="1270617"/>
                </a:lnTo>
                <a:lnTo>
                  <a:pt x="2035457" y="1190602"/>
                </a:lnTo>
                <a:lnTo>
                  <a:pt x="2045469" y="1108453"/>
                </a:lnTo>
                <a:lnTo>
                  <a:pt x="2048865" y="1024432"/>
                </a:lnTo>
                <a:lnTo>
                  <a:pt x="2045469" y="940412"/>
                </a:lnTo>
                <a:lnTo>
                  <a:pt x="2035457" y="858262"/>
                </a:lnTo>
                <a:lnTo>
                  <a:pt x="2019093" y="778247"/>
                </a:lnTo>
                <a:lnTo>
                  <a:pt x="1996639" y="700630"/>
                </a:lnTo>
                <a:lnTo>
                  <a:pt x="1968361" y="625674"/>
                </a:lnTo>
                <a:lnTo>
                  <a:pt x="1934521" y="553644"/>
                </a:lnTo>
                <a:lnTo>
                  <a:pt x="1895383" y="484802"/>
                </a:lnTo>
                <a:lnTo>
                  <a:pt x="1851211" y="419413"/>
                </a:lnTo>
                <a:lnTo>
                  <a:pt x="1802268" y="357740"/>
                </a:lnTo>
                <a:lnTo>
                  <a:pt x="1748818" y="300047"/>
                </a:lnTo>
                <a:lnTo>
                  <a:pt x="1691125" y="246597"/>
                </a:lnTo>
                <a:lnTo>
                  <a:pt x="1629452" y="197654"/>
                </a:lnTo>
                <a:lnTo>
                  <a:pt x="1564063" y="153482"/>
                </a:lnTo>
                <a:lnTo>
                  <a:pt x="1495221" y="114344"/>
                </a:lnTo>
                <a:lnTo>
                  <a:pt x="1423190" y="80504"/>
                </a:lnTo>
                <a:lnTo>
                  <a:pt x="1348235" y="52225"/>
                </a:lnTo>
                <a:lnTo>
                  <a:pt x="1270617" y="29772"/>
                </a:lnTo>
                <a:lnTo>
                  <a:pt x="1190602" y="13407"/>
                </a:lnTo>
                <a:lnTo>
                  <a:pt x="1108453" y="3395"/>
                </a:lnTo>
                <a:lnTo>
                  <a:pt x="1024432" y="0"/>
                </a:lnTo>
                <a:close/>
              </a:path>
            </a:pathLst>
          </a:custGeom>
          <a:solidFill>
            <a:srgbClr val="FFFFFF"/>
          </a:solidFill>
        </p:spPr>
        <p:txBody>
          <a:bodyPr wrap="square" lIns="0" tIns="0" rIns="0" bIns="0" rtlCol="0"/>
          <a:lstStyle/>
          <a:p>
            <a:endParaRPr lang="de-DE" sz="1404" dirty="0"/>
          </a:p>
        </p:txBody>
      </p:sp>
      <p:pic>
        <p:nvPicPr>
          <p:cNvPr id="8" name="Grafik 7">
            <a:extLst>
              <a:ext uri="{FF2B5EF4-FFF2-40B4-BE49-F238E27FC236}">
                <a16:creationId xmlns:a16="http://schemas.microsoft.com/office/drawing/2014/main" id="{0B21D629-C43C-4D84-9C1B-3D969EC17A69}"/>
              </a:ext>
              <a:ext uri="{C183D7F6-B498-43B3-948B-1728B52AA6E4}">
                <adec:decorative xmlns:adec="http://schemas.microsoft.com/office/drawing/2017/decorative" val="1"/>
              </a:ext>
            </a:extLst>
          </p:cNvPr>
          <p:cNvPicPr>
            <a:picLocks noChangeAspect="1"/>
          </p:cNvPicPr>
          <p:nvPr userDrawn="1"/>
        </p:nvPicPr>
        <p:blipFill rotWithShape="1">
          <a:blip r:embed="rId2"/>
          <a:srcRect l="36172" t="52913" r="38079" b="30629"/>
          <a:stretch/>
        </p:blipFill>
        <p:spPr>
          <a:xfrm>
            <a:off x="6038986" y="3139196"/>
            <a:ext cx="1234977" cy="973953"/>
          </a:xfrm>
          <a:prstGeom prst="rect">
            <a:avLst/>
          </a:prstGeom>
        </p:spPr>
      </p:pic>
      <p:sp>
        <p:nvSpPr>
          <p:cNvPr id="9" name="Textplatzhalter 8"/>
          <p:cNvSpPr>
            <a:spLocks noGrp="1"/>
          </p:cNvSpPr>
          <p:nvPr>
            <p:ph type="body" sz="quarter" idx="13" hasCustomPrompt="1"/>
          </p:nvPr>
        </p:nvSpPr>
        <p:spPr>
          <a:xfrm>
            <a:off x="1695600" y="646043"/>
            <a:ext cx="4834626" cy="1863405"/>
          </a:xfrm>
        </p:spPr>
        <p:txBody>
          <a:bodyPr anchor="b" anchorCtr="0"/>
          <a:lstStyle>
            <a:lvl1pPr marL="0" indent="0">
              <a:lnSpc>
                <a:spcPct val="90000"/>
              </a:lnSpc>
              <a:spcBef>
                <a:spcPts val="0"/>
              </a:spcBef>
              <a:buNone/>
              <a:defRPr sz="3200" b="1" baseline="0">
                <a:solidFill>
                  <a:schemeClr val="bg1"/>
                </a:solidFill>
              </a:defRPr>
            </a:lvl1pPr>
            <a:lvl2pPr>
              <a:defRPr sz="3400" b="1">
                <a:solidFill>
                  <a:schemeClr val="bg1"/>
                </a:solidFill>
              </a:defRPr>
            </a:lvl2pPr>
            <a:lvl3pPr>
              <a:defRPr sz="3400" b="1">
                <a:solidFill>
                  <a:schemeClr val="bg1"/>
                </a:solidFill>
              </a:defRPr>
            </a:lvl3pPr>
            <a:lvl4pPr>
              <a:defRPr sz="3400" b="1">
                <a:solidFill>
                  <a:schemeClr val="bg1"/>
                </a:solidFill>
              </a:defRPr>
            </a:lvl4pPr>
            <a:lvl5pPr>
              <a:defRPr sz="3400" b="1">
                <a:solidFill>
                  <a:schemeClr val="bg1"/>
                </a:solidFill>
              </a:defRPr>
            </a:lvl5pPr>
          </a:lstStyle>
          <a:p>
            <a:pPr lvl="0"/>
            <a:r>
              <a:rPr lang="de-DE" dirty="0"/>
              <a:t>Zitat durch Klicken hinzufügen</a:t>
            </a:r>
          </a:p>
        </p:txBody>
      </p:sp>
      <p:sp>
        <p:nvSpPr>
          <p:cNvPr id="11" name="Textplatzhalter 10"/>
          <p:cNvSpPr>
            <a:spLocks noGrp="1"/>
          </p:cNvSpPr>
          <p:nvPr>
            <p:ph type="body" sz="quarter" idx="14" hasCustomPrompt="1"/>
          </p:nvPr>
        </p:nvSpPr>
        <p:spPr>
          <a:xfrm>
            <a:off x="1695603" y="2721601"/>
            <a:ext cx="3805721" cy="417595"/>
          </a:xfrm>
        </p:spPr>
        <p:txBody>
          <a:bodyPr/>
          <a:lstStyle>
            <a:lvl1pPr marL="0" indent="0">
              <a:spcBef>
                <a:spcPts val="0"/>
              </a:spcBef>
              <a:buNone/>
              <a:defRPr sz="1200" b="1">
                <a:solidFill>
                  <a:schemeClr val="bg1"/>
                </a:solidFill>
              </a:defRPr>
            </a:lvl1pPr>
          </a:lstStyle>
          <a:p>
            <a:pPr lvl="0"/>
            <a:r>
              <a:rPr lang="de-DE" dirty="0"/>
              <a:t>Name</a:t>
            </a:r>
          </a:p>
        </p:txBody>
      </p:sp>
      <p:sp>
        <p:nvSpPr>
          <p:cNvPr id="5" name="Datumsplatzhalter 4">
            <a:extLst>
              <a:ext uri="{FF2B5EF4-FFF2-40B4-BE49-F238E27FC236}">
                <a16:creationId xmlns:a16="http://schemas.microsoft.com/office/drawing/2014/main" id="{B6086A93-C998-4DD4-907D-8C07509ABF98}"/>
              </a:ext>
              <a:ext uri="{C183D7F6-B498-43B3-948B-1728B52AA6E4}">
                <adec:decorative xmlns:adec="http://schemas.microsoft.com/office/drawing/2017/decorative" val="1"/>
              </a:ext>
            </a:extLst>
          </p:cNvPr>
          <p:cNvSpPr>
            <a:spLocks noGrp="1"/>
          </p:cNvSpPr>
          <p:nvPr>
            <p:ph type="dt" sz="half" idx="15"/>
          </p:nvPr>
        </p:nvSpPr>
        <p:spPr/>
        <p:txBody>
          <a:bodyPr/>
          <a:lstStyle/>
          <a:p>
            <a:r>
              <a:rPr lang="de-DE"/>
              <a:t>08/20/2020</a:t>
            </a:r>
            <a:endParaRPr lang="en-US" dirty="0"/>
          </a:p>
        </p:txBody>
      </p:sp>
      <p:sp>
        <p:nvSpPr>
          <p:cNvPr id="7" name="Fußzeilenplatzhalter 6">
            <a:extLst>
              <a:ext uri="{FF2B5EF4-FFF2-40B4-BE49-F238E27FC236}">
                <a16:creationId xmlns:a16="http://schemas.microsoft.com/office/drawing/2014/main" id="{422A565F-39ED-4357-84FF-EA09854AF259}"/>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University of Stuttgart</a:t>
            </a:r>
            <a:endParaRPr lang="en-US" dirty="0"/>
          </a:p>
        </p:txBody>
      </p:sp>
      <p:sp>
        <p:nvSpPr>
          <p:cNvPr id="12" name="Foliennummernplatzhalter 11">
            <a:extLst>
              <a:ext uri="{FF2B5EF4-FFF2-40B4-BE49-F238E27FC236}">
                <a16:creationId xmlns:a16="http://schemas.microsoft.com/office/drawing/2014/main" id="{E5BB86C6-1C9A-466D-9CE1-51ACECEC4AA9}"/>
              </a:ext>
              <a:ext uri="{C183D7F6-B498-43B3-948B-1728B52AA6E4}">
                <adec:decorative xmlns:adec="http://schemas.microsoft.com/office/drawing/2017/decorative" val="1"/>
              </a:ext>
            </a:extLst>
          </p:cNvPr>
          <p:cNvSpPr>
            <a:spLocks noGrp="1"/>
          </p:cNvSpPr>
          <p:nvPr>
            <p:ph type="sldNum" sz="quarter" idx="17"/>
          </p:nvPr>
        </p:nvSpPr>
        <p:spPr/>
        <p:txBody>
          <a:bodyPr/>
          <a:lstStyle/>
          <a:p>
            <a:fld id="{9E82CC3C-1DC0-4FDA-9590-6CC506AB67F8}" type="slidenum">
              <a:rPr lang="en-US" smtClean="0"/>
              <a:pPr/>
              <a:t>‹Nr.›</a:t>
            </a:fld>
            <a:endParaRPr lang="en-US" dirty="0"/>
          </a:p>
        </p:txBody>
      </p:sp>
    </p:spTree>
    <p:extLst>
      <p:ext uri="{BB962C8B-B14F-4D97-AF65-F5344CB8AC3E}">
        <p14:creationId xmlns:p14="http://schemas.microsoft.com/office/powerpoint/2010/main" val="25493766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9" name="Titel 8">
            <a:extLst>
              <a:ext uri="{FF2B5EF4-FFF2-40B4-BE49-F238E27FC236}">
                <a16:creationId xmlns:a16="http://schemas.microsoft.com/office/drawing/2014/main" id="{622D3E87-4D5E-42EE-BFAA-DEFADCE546B4}"/>
              </a:ext>
            </a:extLst>
          </p:cNvPr>
          <p:cNvSpPr>
            <a:spLocks noGrp="1"/>
          </p:cNvSpPr>
          <p:nvPr>
            <p:ph type="title"/>
          </p:nvPr>
        </p:nvSpPr>
        <p:spPr/>
        <p:txBody>
          <a:bodyPr/>
          <a:lstStyle/>
          <a:p>
            <a:r>
              <a:rPr lang="de-DE" dirty="0"/>
              <a:t>Mastertitelformat bearbeiten</a:t>
            </a:r>
            <a:endParaRPr lang="en-GB" dirty="0"/>
          </a:p>
        </p:txBody>
      </p:sp>
      <p:sp>
        <p:nvSpPr>
          <p:cNvPr id="10" name="Textplatzhalter 7">
            <a:extLst>
              <a:ext uri="{FF2B5EF4-FFF2-40B4-BE49-F238E27FC236}">
                <a16:creationId xmlns:a16="http://schemas.microsoft.com/office/drawing/2014/main" id="{5900F60D-1768-48E3-A1B5-14BBCB67FE0A}"/>
              </a:ext>
            </a:extLst>
          </p:cNvPr>
          <p:cNvSpPr>
            <a:spLocks noGrp="1"/>
          </p:cNvSpPr>
          <p:nvPr>
            <p:ph type="body" sz="quarter" idx="13" hasCustomPrompt="1"/>
          </p:nvPr>
        </p:nvSpPr>
        <p:spPr>
          <a:xfrm>
            <a:off x="468000" y="576000"/>
            <a:ext cx="8244200" cy="277200"/>
          </a:xfrm>
        </p:spPr>
        <p:txBody>
          <a:bodyPr lIns="0" tIns="0" rIns="0" bIns="0"/>
          <a:lstStyle>
            <a:lvl1pPr marL="0" indent="0">
              <a:buNone/>
              <a:defRPr sz="1800" baseline="0"/>
            </a:lvl1pPr>
          </a:lstStyle>
          <a:p>
            <a:pPr lvl="0"/>
            <a:r>
              <a:rPr lang="de-DE" dirty="0"/>
              <a:t>Untertitel durch Klicken bearbeiten</a:t>
            </a:r>
          </a:p>
        </p:txBody>
      </p:sp>
      <p:sp>
        <p:nvSpPr>
          <p:cNvPr id="3" name="Content Placeholder 2"/>
          <p:cNvSpPr>
            <a:spLocks noGrp="1"/>
          </p:cNvSpPr>
          <p:nvPr>
            <p:ph sz="half" idx="1"/>
          </p:nvPr>
        </p:nvSpPr>
        <p:spPr>
          <a:xfrm>
            <a:off x="468000" y="1008000"/>
            <a:ext cx="3960000" cy="3708000"/>
          </a:xfrm>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Content Placeholder 3"/>
          <p:cNvSpPr>
            <a:spLocks noGrp="1"/>
          </p:cNvSpPr>
          <p:nvPr>
            <p:ph sz="half" idx="2"/>
          </p:nvPr>
        </p:nvSpPr>
        <p:spPr>
          <a:xfrm>
            <a:off x="4752200" y="1008000"/>
            <a:ext cx="3960000" cy="3708000"/>
          </a:xfrm>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Datumsplatzhalter 1">
            <a:extLst>
              <a:ext uri="{FF2B5EF4-FFF2-40B4-BE49-F238E27FC236}">
                <a16:creationId xmlns:a16="http://schemas.microsoft.com/office/drawing/2014/main" id="{B26C1CE2-380C-47E9-8B35-F134CD44F6C6}"/>
              </a:ext>
              <a:ext uri="{C183D7F6-B498-43B3-948B-1728B52AA6E4}">
                <adec:decorative xmlns:adec="http://schemas.microsoft.com/office/drawing/2017/decorative" val="1"/>
              </a:ext>
            </a:extLst>
          </p:cNvPr>
          <p:cNvSpPr>
            <a:spLocks noGrp="1"/>
          </p:cNvSpPr>
          <p:nvPr>
            <p:ph type="dt" sz="half" idx="14"/>
          </p:nvPr>
        </p:nvSpPr>
        <p:spPr/>
        <p:txBody>
          <a:bodyPr/>
          <a:lstStyle/>
          <a:p>
            <a:r>
              <a:rPr lang="de-DE"/>
              <a:t>08/20/2020</a:t>
            </a:r>
            <a:endParaRPr lang="en-US" dirty="0"/>
          </a:p>
        </p:txBody>
      </p:sp>
      <p:sp>
        <p:nvSpPr>
          <p:cNvPr id="8" name="Fußzeilenplatzhalter 7">
            <a:extLst>
              <a:ext uri="{FF2B5EF4-FFF2-40B4-BE49-F238E27FC236}">
                <a16:creationId xmlns:a16="http://schemas.microsoft.com/office/drawing/2014/main" id="{9F59A20B-DB44-4B88-8F73-16D397003E7C}"/>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University of Stuttgart</a:t>
            </a:r>
            <a:endParaRPr lang="en-US" dirty="0"/>
          </a:p>
        </p:txBody>
      </p:sp>
      <p:sp>
        <p:nvSpPr>
          <p:cNvPr id="11" name="Foliennummernplatzhalter 10">
            <a:extLst>
              <a:ext uri="{FF2B5EF4-FFF2-40B4-BE49-F238E27FC236}">
                <a16:creationId xmlns:a16="http://schemas.microsoft.com/office/drawing/2014/main" id="{32D1C785-1D2F-41C8-A2D0-E08EFC817535}"/>
              </a:ext>
              <a:ext uri="{C183D7F6-B498-43B3-948B-1728B52AA6E4}">
                <adec:decorative xmlns:adec="http://schemas.microsoft.com/office/drawing/2017/decorative" val="1"/>
              </a:ext>
            </a:extLst>
          </p:cNvPr>
          <p:cNvSpPr>
            <a:spLocks noGrp="1"/>
          </p:cNvSpPr>
          <p:nvPr>
            <p:ph type="sldNum" sz="quarter" idx="16"/>
          </p:nvPr>
        </p:nvSpPr>
        <p:spPr/>
        <p:txBody>
          <a:bodyPr/>
          <a:lstStyle/>
          <a:p>
            <a:fld id="{9E82CC3C-1DC0-4FDA-9590-6CC506AB67F8}" type="slidenum">
              <a:rPr lang="en-US" smtClean="0"/>
              <a:pPr/>
              <a:t>‹Nr.›</a:t>
            </a:fld>
            <a:endParaRPr lang="en-US" dirty="0"/>
          </a:p>
        </p:txBody>
      </p:sp>
    </p:spTree>
    <p:extLst>
      <p:ext uri="{BB962C8B-B14F-4D97-AF65-F5344CB8AC3E}">
        <p14:creationId xmlns:p14="http://schemas.microsoft.com/office/powerpoint/2010/main" val="19266242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5E59DF-9C98-443E-93E0-C25D5A93D369}"/>
              </a:ext>
            </a:extLst>
          </p:cNvPr>
          <p:cNvSpPr>
            <a:spLocks noGrp="1"/>
          </p:cNvSpPr>
          <p:nvPr>
            <p:ph type="title"/>
          </p:nvPr>
        </p:nvSpPr>
        <p:spPr/>
        <p:txBody>
          <a:bodyPr/>
          <a:lstStyle/>
          <a:p>
            <a:r>
              <a:rPr lang="de-DE"/>
              <a:t>Mastertitelformat bearbeiten</a:t>
            </a:r>
            <a:endParaRPr lang="en-GB"/>
          </a:p>
        </p:txBody>
      </p:sp>
      <p:sp>
        <p:nvSpPr>
          <p:cNvPr id="12" name="Textplatzhalter 7">
            <a:extLst>
              <a:ext uri="{FF2B5EF4-FFF2-40B4-BE49-F238E27FC236}">
                <a16:creationId xmlns:a16="http://schemas.microsoft.com/office/drawing/2014/main" id="{2FF756D6-45BE-4CA9-8D73-7DC21CF7EB0A}"/>
              </a:ext>
            </a:extLst>
          </p:cNvPr>
          <p:cNvSpPr>
            <a:spLocks noGrp="1"/>
          </p:cNvSpPr>
          <p:nvPr>
            <p:ph type="body" sz="quarter" idx="13" hasCustomPrompt="1"/>
          </p:nvPr>
        </p:nvSpPr>
        <p:spPr>
          <a:xfrm>
            <a:off x="468000" y="576000"/>
            <a:ext cx="8244200" cy="277200"/>
          </a:xfrm>
        </p:spPr>
        <p:txBody>
          <a:bodyPr lIns="0" tIns="0" rIns="0" bIns="0"/>
          <a:lstStyle>
            <a:lvl1pPr marL="0" indent="0">
              <a:buNone/>
              <a:defRPr sz="1800" baseline="0"/>
            </a:lvl1pPr>
          </a:lstStyle>
          <a:p>
            <a:pPr lvl="0"/>
            <a:r>
              <a:rPr lang="de-DE" dirty="0"/>
              <a:t>Untertitel durch Klicken bearbeiten</a:t>
            </a:r>
          </a:p>
        </p:txBody>
      </p:sp>
      <p:sp>
        <p:nvSpPr>
          <p:cNvPr id="3" name="Text Placeholder 2"/>
          <p:cNvSpPr>
            <a:spLocks noGrp="1"/>
          </p:cNvSpPr>
          <p:nvPr>
            <p:ph type="body" idx="1"/>
          </p:nvPr>
        </p:nvSpPr>
        <p:spPr>
          <a:xfrm>
            <a:off x="468000" y="1008000"/>
            <a:ext cx="3960000" cy="215233"/>
          </a:xfrm>
        </p:spPr>
        <p:txBody>
          <a:bodyPr anchor="b"/>
          <a:lstStyle>
            <a:lvl1pPr marL="0" indent="0">
              <a:buNone/>
              <a:defRPr sz="1400" b="0" cap="all" baseline="0">
                <a:solidFill>
                  <a:schemeClr val="accent1"/>
                </a:solidFill>
              </a:defRPr>
            </a:lvl1pPr>
            <a:lvl2pPr marL="342897" indent="0">
              <a:buNone/>
              <a:defRPr sz="1500" b="1"/>
            </a:lvl2pPr>
            <a:lvl3pPr marL="685793" indent="0">
              <a:buNone/>
              <a:defRPr sz="1350" b="1"/>
            </a:lvl3pPr>
            <a:lvl4pPr marL="1028690" indent="0">
              <a:buNone/>
              <a:defRPr sz="1200" b="1"/>
            </a:lvl4pPr>
            <a:lvl5pPr marL="1371586" indent="0">
              <a:buNone/>
              <a:defRPr sz="1200" b="1"/>
            </a:lvl5pPr>
            <a:lvl6pPr marL="1714483" indent="0">
              <a:buNone/>
              <a:defRPr sz="1200" b="1"/>
            </a:lvl6pPr>
            <a:lvl7pPr marL="2057379" indent="0">
              <a:buNone/>
              <a:defRPr sz="1200" b="1"/>
            </a:lvl7pPr>
            <a:lvl8pPr marL="2400276" indent="0">
              <a:buNone/>
              <a:defRPr sz="1200" b="1"/>
            </a:lvl8pPr>
            <a:lvl9pPr marL="2743173" indent="0">
              <a:buNone/>
              <a:defRPr sz="1200" b="1"/>
            </a:lvl9pPr>
          </a:lstStyle>
          <a:p>
            <a:pPr lvl="0"/>
            <a:r>
              <a:rPr lang="de-DE" dirty="0"/>
              <a:t>Textmasterformat bearbeiten</a:t>
            </a:r>
          </a:p>
        </p:txBody>
      </p:sp>
      <p:sp>
        <p:nvSpPr>
          <p:cNvPr id="4" name="Content Placeholder 3"/>
          <p:cNvSpPr>
            <a:spLocks noGrp="1"/>
          </p:cNvSpPr>
          <p:nvPr>
            <p:ph sz="half" idx="2"/>
          </p:nvPr>
        </p:nvSpPr>
        <p:spPr>
          <a:xfrm>
            <a:off x="468000" y="1296000"/>
            <a:ext cx="3960000" cy="3420000"/>
          </a:xfrm>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4" name="Text Placeholder 2"/>
          <p:cNvSpPr>
            <a:spLocks noGrp="1"/>
          </p:cNvSpPr>
          <p:nvPr>
            <p:ph type="body" idx="14"/>
          </p:nvPr>
        </p:nvSpPr>
        <p:spPr>
          <a:xfrm>
            <a:off x="4752200" y="1008000"/>
            <a:ext cx="3960000" cy="215233"/>
          </a:xfrm>
        </p:spPr>
        <p:txBody>
          <a:bodyPr anchor="b"/>
          <a:lstStyle>
            <a:lvl1pPr marL="0" indent="0">
              <a:buNone/>
              <a:defRPr sz="1400" b="0" cap="all" baseline="0">
                <a:solidFill>
                  <a:schemeClr val="accent1"/>
                </a:solidFill>
              </a:defRPr>
            </a:lvl1pPr>
            <a:lvl2pPr marL="342897" indent="0">
              <a:buNone/>
              <a:defRPr sz="1500" b="1"/>
            </a:lvl2pPr>
            <a:lvl3pPr marL="685793" indent="0">
              <a:buNone/>
              <a:defRPr sz="1350" b="1"/>
            </a:lvl3pPr>
            <a:lvl4pPr marL="1028690" indent="0">
              <a:buNone/>
              <a:defRPr sz="1200" b="1"/>
            </a:lvl4pPr>
            <a:lvl5pPr marL="1371586" indent="0">
              <a:buNone/>
              <a:defRPr sz="1200" b="1"/>
            </a:lvl5pPr>
            <a:lvl6pPr marL="1714483" indent="0">
              <a:buNone/>
              <a:defRPr sz="1200" b="1"/>
            </a:lvl6pPr>
            <a:lvl7pPr marL="2057379" indent="0">
              <a:buNone/>
              <a:defRPr sz="1200" b="1"/>
            </a:lvl7pPr>
            <a:lvl8pPr marL="2400276" indent="0">
              <a:buNone/>
              <a:defRPr sz="1200" b="1"/>
            </a:lvl8pPr>
            <a:lvl9pPr marL="2743173" indent="0">
              <a:buNone/>
              <a:defRPr sz="1200" b="1"/>
            </a:lvl9pPr>
          </a:lstStyle>
          <a:p>
            <a:pPr lvl="0"/>
            <a:r>
              <a:rPr lang="de-DE" dirty="0"/>
              <a:t>Textmasterformat bearbeiten</a:t>
            </a:r>
          </a:p>
        </p:txBody>
      </p:sp>
      <p:sp>
        <p:nvSpPr>
          <p:cNvPr id="15" name="Content Placeholder 3"/>
          <p:cNvSpPr>
            <a:spLocks noGrp="1"/>
          </p:cNvSpPr>
          <p:nvPr>
            <p:ph sz="half" idx="15"/>
          </p:nvPr>
        </p:nvSpPr>
        <p:spPr>
          <a:xfrm>
            <a:off x="4752200" y="1296000"/>
            <a:ext cx="3960000" cy="3420000"/>
          </a:xfrm>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Datumsplatzhalter 4">
            <a:extLst>
              <a:ext uri="{FF2B5EF4-FFF2-40B4-BE49-F238E27FC236}">
                <a16:creationId xmlns:a16="http://schemas.microsoft.com/office/drawing/2014/main" id="{E90AF344-C881-4077-8537-07C2F8DC9A74}"/>
              </a:ext>
              <a:ext uri="{C183D7F6-B498-43B3-948B-1728B52AA6E4}">
                <adec:decorative xmlns:adec="http://schemas.microsoft.com/office/drawing/2017/decorative" val="1"/>
              </a:ext>
            </a:extLst>
          </p:cNvPr>
          <p:cNvSpPr>
            <a:spLocks noGrp="1"/>
          </p:cNvSpPr>
          <p:nvPr>
            <p:ph type="dt" sz="half" idx="16"/>
          </p:nvPr>
        </p:nvSpPr>
        <p:spPr/>
        <p:txBody>
          <a:bodyPr/>
          <a:lstStyle/>
          <a:p>
            <a:r>
              <a:rPr lang="de-DE"/>
              <a:t>08/20/2020</a:t>
            </a:r>
            <a:endParaRPr lang="en-US" dirty="0"/>
          </a:p>
        </p:txBody>
      </p:sp>
      <p:sp>
        <p:nvSpPr>
          <p:cNvPr id="6" name="Fußzeilenplatzhalter 5">
            <a:extLst>
              <a:ext uri="{FF2B5EF4-FFF2-40B4-BE49-F238E27FC236}">
                <a16:creationId xmlns:a16="http://schemas.microsoft.com/office/drawing/2014/main" id="{65369630-FBC8-4C3D-BCE7-36D2FE5C7307}"/>
              </a:ext>
              <a:ext uri="{C183D7F6-B498-43B3-948B-1728B52AA6E4}">
                <adec:decorative xmlns:adec="http://schemas.microsoft.com/office/drawing/2017/decorative" val="1"/>
              </a:ext>
            </a:extLst>
          </p:cNvPr>
          <p:cNvSpPr>
            <a:spLocks noGrp="1"/>
          </p:cNvSpPr>
          <p:nvPr>
            <p:ph type="ftr" sz="quarter" idx="17"/>
          </p:nvPr>
        </p:nvSpPr>
        <p:spPr/>
        <p:txBody>
          <a:bodyPr/>
          <a:lstStyle/>
          <a:p>
            <a:r>
              <a:rPr lang="en-US"/>
              <a:t>University of Stuttgart</a:t>
            </a:r>
            <a:endParaRPr lang="en-US" dirty="0"/>
          </a:p>
        </p:txBody>
      </p:sp>
      <p:sp>
        <p:nvSpPr>
          <p:cNvPr id="10" name="Foliennummernplatzhalter 9">
            <a:extLst>
              <a:ext uri="{FF2B5EF4-FFF2-40B4-BE49-F238E27FC236}">
                <a16:creationId xmlns:a16="http://schemas.microsoft.com/office/drawing/2014/main" id="{8CFDF553-C627-44C0-80CA-525DD4D48F4D}"/>
              </a:ext>
              <a:ext uri="{C183D7F6-B498-43B3-948B-1728B52AA6E4}">
                <adec:decorative xmlns:adec="http://schemas.microsoft.com/office/drawing/2017/decorative" val="1"/>
              </a:ext>
            </a:extLst>
          </p:cNvPr>
          <p:cNvSpPr>
            <a:spLocks noGrp="1"/>
          </p:cNvSpPr>
          <p:nvPr>
            <p:ph type="sldNum" sz="quarter" idx="18"/>
          </p:nvPr>
        </p:nvSpPr>
        <p:spPr/>
        <p:txBody>
          <a:bodyPr/>
          <a:lstStyle/>
          <a:p>
            <a:fld id="{9E82CC3C-1DC0-4FDA-9590-6CC506AB67F8}" type="slidenum">
              <a:rPr lang="en-US" smtClean="0"/>
              <a:pPr/>
              <a:t>‹Nr.›</a:t>
            </a:fld>
            <a:endParaRPr lang="en-US" dirty="0"/>
          </a:p>
        </p:txBody>
      </p:sp>
    </p:spTree>
    <p:extLst>
      <p:ext uri="{BB962C8B-B14F-4D97-AF65-F5344CB8AC3E}">
        <p14:creationId xmlns:p14="http://schemas.microsoft.com/office/powerpoint/2010/main" val="20424605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und Bilder vertikal">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03E3249F-FD38-4D4D-9020-0251E0AF5910}"/>
              </a:ext>
            </a:extLst>
          </p:cNvPr>
          <p:cNvSpPr>
            <a:spLocks noGrp="1"/>
          </p:cNvSpPr>
          <p:nvPr>
            <p:ph type="title"/>
          </p:nvPr>
        </p:nvSpPr>
        <p:spPr/>
        <p:txBody>
          <a:bodyPr/>
          <a:lstStyle/>
          <a:p>
            <a:r>
              <a:rPr lang="de-DE" dirty="0"/>
              <a:t>Mastertitelformat bearbeiten</a:t>
            </a:r>
            <a:endParaRPr lang="en-GB" dirty="0"/>
          </a:p>
        </p:txBody>
      </p:sp>
      <p:sp>
        <p:nvSpPr>
          <p:cNvPr id="15" name="Textplatzhalter 7">
            <a:extLst>
              <a:ext uri="{FF2B5EF4-FFF2-40B4-BE49-F238E27FC236}">
                <a16:creationId xmlns:a16="http://schemas.microsoft.com/office/drawing/2014/main" id="{5501507C-4075-4224-82B8-ACF0E98687D5}"/>
              </a:ext>
            </a:extLst>
          </p:cNvPr>
          <p:cNvSpPr>
            <a:spLocks noGrp="1"/>
          </p:cNvSpPr>
          <p:nvPr>
            <p:ph type="body" sz="quarter" idx="13" hasCustomPrompt="1"/>
          </p:nvPr>
        </p:nvSpPr>
        <p:spPr>
          <a:xfrm>
            <a:off x="468000" y="576000"/>
            <a:ext cx="8244200" cy="277200"/>
          </a:xfrm>
        </p:spPr>
        <p:txBody>
          <a:bodyPr lIns="0" tIns="0" rIns="0" bIns="0"/>
          <a:lstStyle>
            <a:lvl1pPr marL="0" indent="0">
              <a:buNone/>
              <a:defRPr sz="1800" baseline="0"/>
            </a:lvl1pPr>
          </a:lstStyle>
          <a:p>
            <a:pPr lvl="0"/>
            <a:r>
              <a:rPr lang="de-DE" dirty="0"/>
              <a:t>Untertitel durch Klicken bearbeiten</a:t>
            </a:r>
          </a:p>
        </p:txBody>
      </p:sp>
      <p:sp>
        <p:nvSpPr>
          <p:cNvPr id="3" name="Content Placeholder 2"/>
          <p:cNvSpPr>
            <a:spLocks noGrp="1"/>
          </p:cNvSpPr>
          <p:nvPr>
            <p:ph sz="half" idx="1"/>
          </p:nvPr>
        </p:nvSpPr>
        <p:spPr>
          <a:xfrm>
            <a:off x="468000" y="1008000"/>
            <a:ext cx="4176000" cy="3708000"/>
          </a:xfrm>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0" name="Bildplatzhalter 9"/>
          <p:cNvSpPr>
            <a:spLocks noGrp="1"/>
          </p:cNvSpPr>
          <p:nvPr>
            <p:ph type="pic" sz="quarter" idx="14"/>
          </p:nvPr>
        </p:nvSpPr>
        <p:spPr>
          <a:xfrm>
            <a:off x="4895688" y="1007999"/>
            <a:ext cx="3816512" cy="1790347"/>
          </a:xfrm>
          <a:solidFill>
            <a:schemeClr val="bg1">
              <a:lumMod val="95000"/>
            </a:schemeClr>
          </a:solidFill>
        </p:spPr>
        <p:txBody>
          <a:bodyPr/>
          <a:lstStyle/>
          <a:p>
            <a:r>
              <a:rPr lang="de-DE" dirty="0"/>
              <a:t>Bild durch Klicken auf Symbol hinzufügen</a:t>
            </a:r>
            <a:endParaRPr lang="en-US" dirty="0"/>
          </a:p>
        </p:txBody>
      </p:sp>
      <p:sp>
        <p:nvSpPr>
          <p:cNvPr id="11" name="Bildplatzhalter 9"/>
          <p:cNvSpPr>
            <a:spLocks noGrp="1"/>
          </p:cNvSpPr>
          <p:nvPr>
            <p:ph type="pic" sz="quarter" idx="15"/>
          </p:nvPr>
        </p:nvSpPr>
        <p:spPr>
          <a:xfrm>
            <a:off x="4895688" y="2863788"/>
            <a:ext cx="3816512" cy="1846800"/>
          </a:xfrm>
          <a:solidFill>
            <a:schemeClr val="bg1">
              <a:lumMod val="95000"/>
            </a:schemeClr>
          </a:solidFill>
        </p:spPr>
        <p:txBody>
          <a:bodyPr/>
          <a:lstStyle/>
          <a:p>
            <a:r>
              <a:rPr lang="de-DE" dirty="0"/>
              <a:t>Bild durch Klicken auf Symbol hinzufügen</a:t>
            </a:r>
            <a:endParaRPr lang="en-US" dirty="0"/>
          </a:p>
        </p:txBody>
      </p:sp>
      <p:sp>
        <p:nvSpPr>
          <p:cNvPr id="2" name="Datumsplatzhalter 1">
            <a:extLst>
              <a:ext uri="{FF2B5EF4-FFF2-40B4-BE49-F238E27FC236}">
                <a16:creationId xmlns:a16="http://schemas.microsoft.com/office/drawing/2014/main" id="{525B685E-EB8C-4F4E-80A6-C9FD90B4C788}"/>
              </a:ext>
              <a:ext uri="{C183D7F6-B498-43B3-948B-1728B52AA6E4}">
                <adec:decorative xmlns:adec="http://schemas.microsoft.com/office/drawing/2017/decorative" val="1"/>
              </a:ext>
            </a:extLst>
          </p:cNvPr>
          <p:cNvSpPr>
            <a:spLocks noGrp="1"/>
          </p:cNvSpPr>
          <p:nvPr>
            <p:ph type="dt" sz="half" idx="16"/>
          </p:nvPr>
        </p:nvSpPr>
        <p:spPr/>
        <p:txBody>
          <a:bodyPr/>
          <a:lstStyle/>
          <a:p>
            <a:r>
              <a:rPr lang="de-DE"/>
              <a:t>08/20/2020</a:t>
            </a:r>
            <a:endParaRPr lang="en-US" dirty="0"/>
          </a:p>
        </p:txBody>
      </p:sp>
      <p:sp>
        <p:nvSpPr>
          <p:cNvPr id="8" name="Fußzeilenplatzhalter 7">
            <a:extLst>
              <a:ext uri="{FF2B5EF4-FFF2-40B4-BE49-F238E27FC236}">
                <a16:creationId xmlns:a16="http://schemas.microsoft.com/office/drawing/2014/main" id="{F0794A1E-3BA0-4D9C-A222-8EBDB4DA20C9}"/>
              </a:ext>
              <a:ext uri="{C183D7F6-B498-43B3-948B-1728B52AA6E4}">
                <adec:decorative xmlns:adec="http://schemas.microsoft.com/office/drawing/2017/decorative" val="1"/>
              </a:ext>
            </a:extLst>
          </p:cNvPr>
          <p:cNvSpPr>
            <a:spLocks noGrp="1"/>
          </p:cNvSpPr>
          <p:nvPr>
            <p:ph type="ftr" sz="quarter" idx="17"/>
          </p:nvPr>
        </p:nvSpPr>
        <p:spPr/>
        <p:txBody>
          <a:bodyPr/>
          <a:lstStyle/>
          <a:p>
            <a:r>
              <a:rPr lang="en-US"/>
              <a:t>University of Stuttgart</a:t>
            </a:r>
            <a:endParaRPr lang="en-US" dirty="0"/>
          </a:p>
        </p:txBody>
      </p:sp>
      <p:sp>
        <p:nvSpPr>
          <p:cNvPr id="9" name="Foliennummernplatzhalter 8">
            <a:extLst>
              <a:ext uri="{FF2B5EF4-FFF2-40B4-BE49-F238E27FC236}">
                <a16:creationId xmlns:a16="http://schemas.microsoft.com/office/drawing/2014/main" id="{03483C74-DCE9-454D-9C95-024DD98FAE14}"/>
              </a:ext>
              <a:ext uri="{C183D7F6-B498-43B3-948B-1728B52AA6E4}">
                <adec:decorative xmlns:adec="http://schemas.microsoft.com/office/drawing/2017/decorative" val="1"/>
              </a:ext>
            </a:extLst>
          </p:cNvPr>
          <p:cNvSpPr>
            <a:spLocks noGrp="1"/>
          </p:cNvSpPr>
          <p:nvPr>
            <p:ph type="sldNum" sz="quarter" idx="18"/>
          </p:nvPr>
        </p:nvSpPr>
        <p:spPr/>
        <p:txBody>
          <a:bodyPr/>
          <a:lstStyle/>
          <a:p>
            <a:fld id="{9E82CC3C-1DC0-4FDA-9590-6CC506AB67F8}" type="slidenum">
              <a:rPr lang="en-US" smtClean="0"/>
              <a:pPr/>
              <a:t>‹Nr.›</a:t>
            </a:fld>
            <a:endParaRPr lang="en-US" dirty="0"/>
          </a:p>
        </p:txBody>
      </p:sp>
    </p:spTree>
    <p:extLst>
      <p:ext uri="{BB962C8B-B14F-4D97-AF65-F5344CB8AC3E}">
        <p14:creationId xmlns:p14="http://schemas.microsoft.com/office/powerpoint/2010/main" val="3028416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und Bild Hochforma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2301769-7A5F-4726-A7DE-F0F6415EC062}"/>
              </a:ext>
            </a:extLst>
          </p:cNvPr>
          <p:cNvSpPr>
            <a:spLocks noGrp="1"/>
          </p:cNvSpPr>
          <p:nvPr>
            <p:ph type="title"/>
          </p:nvPr>
        </p:nvSpPr>
        <p:spPr/>
        <p:txBody>
          <a:bodyPr/>
          <a:lstStyle/>
          <a:p>
            <a:r>
              <a:rPr lang="de-DE" dirty="0"/>
              <a:t>Mastertitelformat bearbeiten</a:t>
            </a:r>
            <a:endParaRPr lang="en-GB" dirty="0"/>
          </a:p>
        </p:txBody>
      </p:sp>
      <p:sp>
        <p:nvSpPr>
          <p:cNvPr id="12" name="Textplatzhalter 7">
            <a:extLst>
              <a:ext uri="{FF2B5EF4-FFF2-40B4-BE49-F238E27FC236}">
                <a16:creationId xmlns:a16="http://schemas.microsoft.com/office/drawing/2014/main" id="{6BEED840-629E-4E70-924A-3F5FA272B6BC}"/>
              </a:ext>
            </a:extLst>
          </p:cNvPr>
          <p:cNvSpPr>
            <a:spLocks noGrp="1"/>
          </p:cNvSpPr>
          <p:nvPr>
            <p:ph type="body" sz="quarter" idx="13" hasCustomPrompt="1"/>
          </p:nvPr>
        </p:nvSpPr>
        <p:spPr>
          <a:xfrm>
            <a:off x="468000" y="576000"/>
            <a:ext cx="8244200" cy="277200"/>
          </a:xfrm>
        </p:spPr>
        <p:txBody>
          <a:bodyPr lIns="0" tIns="0" rIns="0" bIns="0"/>
          <a:lstStyle>
            <a:lvl1pPr marL="0" indent="0">
              <a:buNone/>
              <a:defRPr sz="1800" baseline="0"/>
            </a:lvl1pPr>
          </a:lstStyle>
          <a:p>
            <a:pPr lvl="0"/>
            <a:r>
              <a:rPr lang="de-DE" dirty="0"/>
              <a:t>Untertitel durch Klicken bearbeiten</a:t>
            </a:r>
          </a:p>
        </p:txBody>
      </p:sp>
      <p:sp>
        <p:nvSpPr>
          <p:cNvPr id="3" name="Content Placeholder 2"/>
          <p:cNvSpPr>
            <a:spLocks noGrp="1"/>
          </p:cNvSpPr>
          <p:nvPr>
            <p:ph sz="half" idx="1"/>
          </p:nvPr>
        </p:nvSpPr>
        <p:spPr>
          <a:xfrm>
            <a:off x="468000" y="1008000"/>
            <a:ext cx="4176860" cy="3708000"/>
          </a:xfrm>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0" name="Bildplatzhalter 9"/>
          <p:cNvSpPr>
            <a:spLocks noGrp="1"/>
          </p:cNvSpPr>
          <p:nvPr>
            <p:ph type="pic" sz="quarter" idx="14"/>
          </p:nvPr>
        </p:nvSpPr>
        <p:spPr>
          <a:xfrm>
            <a:off x="4895688" y="1008000"/>
            <a:ext cx="3816512" cy="3708000"/>
          </a:xfrm>
          <a:solidFill>
            <a:schemeClr val="bg1">
              <a:lumMod val="95000"/>
            </a:schemeClr>
          </a:solidFill>
        </p:spPr>
        <p:txBody>
          <a:bodyPr/>
          <a:lstStyle/>
          <a:p>
            <a:r>
              <a:rPr lang="de-DE" dirty="0"/>
              <a:t>Bild durch Klicken auf Symbol hinzufügen</a:t>
            </a:r>
            <a:endParaRPr lang="en-US" dirty="0"/>
          </a:p>
        </p:txBody>
      </p:sp>
      <p:sp>
        <p:nvSpPr>
          <p:cNvPr id="4" name="Datumsplatzhalter 3">
            <a:extLst>
              <a:ext uri="{FF2B5EF4-FFF2-40B4-BE49-F238E27FC236}">
                <a16:creationId xmlns:a16="http://schemas.microsoft.com/office/drawing/2014/main" id="{65B32AC5-E9DE-4649-B1AC-9A62A340C736}"/>
              </a:ext>
              <a:ext uri="{C183D7F6-B498-43B3-948B-1728B52AA6E4}">
                <adec:decorative xmlns:adec="http://schemas.microsoft.com/office/drawing/2017/decorative" val="1"/>
              </a:ext>
            </a:extLst>
          </p:cNvPr>
          <p:cNvSpPr>
            <a:spLocks noGrp="1"/>
          </p:cNvSpPr>
          <p:nvPr>
            <p:ph type="dt" sz="half" idx="15"/>
          </p:nvPr>
        </p:nvSpPr>
        <p:spPr/>
        <p:txBody>
          <a:bodyPr/>
          <a:lstStyle/>
          <a:p>
            <a:r>
              <a:rPr lang="de-DE"/>
              <a:t>08/20/2020</a:t>
            </a:r>
            <a:endParaRPr lang="en-US" dirty="0"/>
          </a:p>
        </p:txBody>
      </p:sp>
      <p:sp>
        <p:nvSpPr>
          <p:cNvPr id="8" name="Fußzeilenplatzhalter 7">
            <a:extLst>
              <a:ext uri="{FF2B5EF4-FFF2-40B4-BE49-F238E27FC236}">
                <a16:creationId xmlns:a16="http://schemas.microsoft.com/office/drawing/2014/main" id="{385FC210-A7D0-48A0-965B-FED973105A9B}"/>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University of Stuttgart</a:t>
            </a:r>
            <a:endParaRPr lang="en-US" dirty="0"/>
          </a:p>
        </p:txBody>
      </p:sp>
      <p:sp>
        <p:nvSpPr>
          <p:cNvPr id="9" name="Foliennummernplatzhalter 8">
            <a:extLst>
              <a:ext uri="{FF2B5EF4-FFF2-40B4-BE49-F238E27FC236}">
                <a16:creationId xmlns:a16="http://schemas.microsoft.com/office/drawing/2014/main" id="{94CA4BF4-EDC6-4CFF-AE4B-CB671709F924}"/>
              </a:ext>
              <a:ext uri="{C183D7F6-B498-43B3-948B-1728B52AA6E4}">
                <adec:decorative xmlns:adec="http://schemas.microsoft.com/office/drawing/2017/decorative" val="1"/>
              </a:ext>
            </a:extLst>
          </p:cNvPr>
          <p:cNvSpPr>
            <a:spLocks noGrp="1"/>
          </p:cNvSpPr>
          <p:nvPr>
            <p:ph type="sldNum" sz="quarter" idx="17"/>
          </p:nvPr>
        </p:nvSpPr>
        <p:spPr/>
        <p:txBody>
          <a:bodyPr/>
          <a:lstStyle/>
          <a:p>
            <a:fld id="{9E82CC3C-1DC0-4FDA-9590-6CC506AB67F8}" type="slidenum">
              <a:rPr lang="en-US" smtClean="0"/>
              <a:pPr/>
              <a:t>‹Nr.›</a:t>
            </a:fld>
            <a:endParaRPr lang="en-US" dirty="0"/>
          </a:p>
        </p:txBody>
      </p:sp>
    </p:spTree>
    <p:extLst>
      <p:ext uri="{BB962C8B-B14F-4D97-AF65-F5344CB8AC3E}">
        <p14:creationId xmlns:p14="http://schemas.microsoft.com/office/powerpoint/2010/main" val="25733934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 Bilder">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63CA99B5-A2F2-4F10-9CFB-140C563A4A28}"/>
              </a:ext>
            </a:extLst>
          </p:cNvPr>
          <p:cNvSpPr>
            <a:spLocks noGrp="1"/>
          </p:cNvSpPr>
          <p:nvPr>
            <p:ph type="title"/>
          </p:nvPr>
        </p:nvSpPr>
        <p:spPr/>
        <p:txBody>
          <a:bodyPr/>
          <a:lstStyle/>
          <a:p>
            <a:r>
              <a:rPr lang="de-DE" dirty="0"/>
              <a:t>Mastertitelformat bearbeiten</a:t>
            </a:r>
            <a:endParaRPr lang="en-GB" dirty="0"/>
          </a:p>
        </p:txBody>
      </p:sp>
      <p:sp>
        <p:nvSpPr>
          <p:cNvPr id="15" name="Textplatzhalter 7">
            <a:extLst>
              <a:ext uri="{FF2B5EF4-FFF2-40B4-BE49-F238E27FC236}">
                <a16:creationId xmlns:a16="http://schemas.microsoft.com/office/drawing/2014/main" id="{F23A02F9-9EFB-40DA-A6A9-B4AB8316E8D8}"/>
              </a:ext>
            </a:extLst>
          </p:cNvPr>
          <p:cNvSpPr>
            <a:spLocks noGrp="1"/>
          </p:cNvSpPr>
          <p:nvPr>
            <p:ph type="body" sz="quarter" idx="13" hasCustomPrompt="1"/>
          </p:nvPr>
        </p:nvSpPr>
        <p:spPr>
          <a:xfrm>
            <a:off x="468000" y="576000"/>
            <a:ext cx="8244200" cy="277200"/>
          </a:xfrm>
        </p:spPr>
        <p:txBody>
          <a:bodyPr lIns="0" tIns="0" rIns="0" bIns="0"/>
          <a:lstStyle>
            <a:lvl1pPr marL="0" indent="0">
              <a:buNone/>
              <a:defRPr sz="1800" baseline="0"/>
            </a:lvl1pPr>
          </a:lstStyle>
          <a:p>
            <a:pPr lvl="0"/>
            <a:r>
              <a:rPr lang="de-DE" dirty="0"/>
              <a:t>Untertitel durch Klicken bearbeiten</a:t>
            </a:r>
          </a:p>
        </p:txBody>
      </p:sp>
      <p:sp>
        <p:nvSpPr>
          <p:cNvPr id="13" name="Bildplatzhalter 7"/>
          <p:cNvSpPr>
            <a:spLocks noGrp="1"/>
          </p:cNvSpPr>
          <p:nvPr>
            <p:ph type="pic" sz="quarter" idx="19"/>
          </p:nvPr>
        </p:nvSpPr>
        <p:spPr>
          <a:xfrm>
            <a:off x="0" y="951548"/>
            <a:ext cx="3240000" cy="2073600"/>
          </a:xfrm>
          <a:solidFill>
            <a:schemeClr val="bg1">
              <a:lumMod val="95000"/>
            </a:schemeClr>
          </a:solidFill>
        </p:spPr>
        <p:txBody>
          <a:bodyPr/>
          <a:lstStyle/>
          <a:p>
            <a:r>
              <a:rPr lang="de-DE" dirty="0"/>
              <a:t>Bild durch Klicken auf Symbol hinzufügen</a:t>
            </a:r>
            <a:endParaRPr lang="en-US" dirty="0"/>
          </a:p>
        </p:txBody>
      </p:sp>
      <p:sp>
        <p:nvSpPr>
          <p:cNvPr id="10" name="Bildplatzhalter 7"/>
          <p:cNvSpPr>
            <a:spLocks noGrp="1"/>
          </p:cNvSpPr>
          <p:nvPr>
            <p:ph type="pic" sz="quarter" idx="16"/>
          </p:nvPr>
        </p:nvSpPr>
        <p:spPr>
          <a:xfrm>
            <a:off x="3240003" y="951548"/>
            <a:ext cx="3239999" cy="2073600"/>
          </a:xfrm>
          <a:solidFill>
            <a:schemeClr val="bg1">
              <a:lumMod val="95000"/>
            </a:schemeClr>
          </a:solidFill>
        </p:spPr>
        <p:txBody>
          <a:bodyPr/>
          <a:lstStyle/>
          <a:p>
            <a:r>
              <a:rPr lang="de-DE" dirty="0"/>
              <a:t>Bild durch Klicken auf Symbol hinzufügen</a:t>
            </a:r>
            <a:endParaRPr lang="en-US" dirty="0"/>
          </a:p>
        </p:txBody>
      </p:sp>
      <p:sp>
        <p:nvSpPr>
          <p:cNvPr id="14" name="Bildplatzhalter 7"/>
          <p:cNvSpPr>
            <a:spLocks noGrp="1"/>
          </p:cNvSpPr>
          <p:nvPr>
            <p:ph type="pic" sz="quarter" idx="20"/>
          </p:nvPr>
        </p:nvSpPr>
        <p:spPr>
          <a:xfrm>
            <a:off x="0" y="3038621"/>
            <a:ext cx="3240000" cy="2104879"/>
          </a:xfrm>
          <a:solidFill>
            <a:schemeClr val="bg1">
              <a:lumMod val="95000"/>
            </a:schemeClr>
          </a:solidFill>
        </p:spPr>
        <p:txBody>
          <a:bodyPr/>
          <a:lstStyle/>
          <a:p>
            <a:r>
              <a:rPr lang="de-DE" dirty="0"/>
              <a:t>Bild durch Klicken auf Symbol hinzufügen</a:t>
            </a:r>
            <a:endParaRPr lang="en-US" dirty="0"/>
          </a:p>
        </p:txBody>
      </p:sp>
      <p:sp>
        <p:nvSpPr>
          <p:cNvPr id="11" name="Bildplatzhalter 7"/>
          <p:cNvSpPr>
            <a:spLocks noGrp="1"/>
          </p:cNvSpPr>
          <p:nvPr>
            <p:ph type="pic" sz="quarter" idx="17"/>
          </p:nvPr>
        </p:nvSpPr>
        <p:spPr>
          <a:xfrm>
            <a:off x="3240000" y="3038621"/>
            <a:ext cx="3240000" cy="2104879"/>
          </a:xfrm>
          <a:solidFill>
            <a:schemeClr val="bg1">
              <a:lumMod val="95000"/>
            </a:schemeClr>
          </a:solidFill>
        </p:spPr>
        <p:txBody>
          <a:bodyPr/>
          <a:lstStyle/>
          <a:p>
            <a:r>
              <a:rPr lang="de-DE" dirty="0"/>
              <a:t>Bild durch Klicken auf Symbol hinzufügen</a:t>
            </a:r>
            <a:endParaRPr lang="en-US" dirty="0"/>
          </a:p>
        </p:txBody>
      </p:sp>
      <p:sp>
        <p:nvSpPr>
          <p:cNvPr id="12" name="Bildplatzhalter 7"/>
          <p:cNvSpPr>
            <a:spLocks noGrp="1"/>
          </p:cNvSpPr>
          <p:nvPr>
            <p:ph type="pic" sz="quarter" idx="18"/>
          </p:nvPr>
        </p:nvSpPr>
        <p:spPr>
          <a:xfrm>
            <a:off x="6480000" y="951549"/>
            <a:ext cx="2664000" cy="4191953"/>
          </a:xfrm>
          <a:solidFill>
            <a:schemeClr val="bg1">
              <a:lumMod val="95000"/>
            </a:schemeClr>
          </a:solidFill>
        </p:spPr>
        <p:txBody>
          <a:bodyPr/>
          <a:lstStyle/>
          <a:p>
            <a:r>
              <a:rPr lang="de-DE" dirty="0"/>
              <a:t>Bild durch Klicken auf Symbol hinzufügen</a:t>
            </a:r>
            <a:endParaRPr lang="en-US" dirty="0"/>
          </a:p>
        </p:txBody>
      </p:sp>
    </p:spTree>
    <p:extLst>
      <p:ext uri="{BB962C8B-B14F-4D97-AF65-F5344CB8AC3E}">
        <p14:creationId xmlns:p14="http://schemas.microsoft.com/office/powerpoint/2010/main" val="10523236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mit runden Bildern">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3A8DCC85-4928-492C-BEE7-FC5B55B32E11}"/>
              </a:ext>
            </a:extLst>
          </p:cNvPr>
          <p:cNvSpPr>
            <a:spLocks noGrp="1"/>
          </p:cNvSpPr>
          <p:nvPr>
            <p:ph type="title"/>
          </p:nvPr>
        </p:nvSpPr>
        <p:spPr/>
        <p:txBody>
          <a:bodyPr/>
          <a:lstStyle/>
          <a:p>
            <a:r>
              <a:rPr lang="de-DE" dirty="0"/>
              <a:t>Mastertitelformat bearbeiten</a:t>
            </a:r>
            <a:endParaRPr lang="en-GB" dirty="0"/>
          </a:p>
        </p:txBody>
      </p:sp>
      <p:sp>
        <p:nvSpPr>
          <p:cNvPr id="8" name="Bildplatzhalter 7"/>
          <p:cNvSpPr>
            <a:spLocks noGrp="1" noChangeAspect="1"/>
          </p:cNvSpPr>
          <p:nvPr>
            <p:ph type="pic" sz="quarter" idx="14"/>
          </p:nvPr>
        </p:nvSpPr>
        <p:spPr>
          <a:xfrm>
            <a:off x="482226" y="957295"/>
            <a:ext cx="1080000" cy="1080000"/>
          </a:xfrm>
          <a:prstGeom prst="ellipse">
            <a:avLst/>
          </a:prstGeom>
          <a:solidFill>
            <a:schemeClr val="bg1">
              <a:lumMod val="95000"/>
            </a:schemeClr>
          </a:solidFill>
        </p:spPr>
        <p:txBody>
          <a:bodyPr tIns="0"/>
          <a:lstStyle>
            <a:lvl1pPr marL="0" indent="0" algn="ctr">
              <a:buNone/>
              <a:defRPr sz="1000"/>
            </a:lvl1pPr>
          </a:lstStyle>
          <a:p>
            <a:r>
              <a:rPr lang="de-DE" dirty="0"/>
              <a:t>Bild durch Klicken auf Symbol hinzufügen</a:t>
            </a:r>
            <a:endParaRPr lang="en-US" dirty="0"/>
          </a:p>
        </p:txBody>
      </p:sp>
      <p:sp>
        <p:nvSpPr>
          <p:cNvPr id="12" name="Textplatzhalter 10"/>
          <p:cNvSpPr>
            <a:spLocks noGrp="1"/>
          </p:cNvSpPr>
          <p:nvPr>
            <p:ph type="body" sz="quarter" idx="16"/>
          </p:nvPr>
        </p:nvSpPr>
        <p:spPr>
          <a:xfrm>
            <a:off x="1818000" y="957295"/>
            <a:ext cx="6894200" cy="1080000"/>
          </a:xfrm>
        </p:spPr>
        <p:txBody>
          <a:bodyPr anchor="ctr"/>
          <a:lstStyle>
            <a:lvl1pPr marL="0" indent="0">
              <a:buNone/>
              <a:defRPr sz="14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Textmasterformat bearbeiten</a:t>
            </a:r>
          </a:p>
        </p:txBody>
      </p:sp>
      <p:sp>
        <p:nvSpPr>
          <p:cNvPr id="21" name="Bildplatzhalter 7"/>
          <p:cNvSpPr>
            <a:spLocks noGrp="1" noChangeAspect="1"/>
          </p:cNvSpPr>
          <p:nvPr>
            <p:ph type="pic" sz="quarter" idx="17"/>
          </p:nvPr>
        </p:nvSpPr>
        <p:spPr>
          <a:xfrm>
            <a:off x="482226" y="2284074"/>
            <a:ext cx="1080000" cy="1080000"/>
          </a:xfrm>
          <a:prstGeom prst="ellipse">
            <a:avLst/>
          </a:prstGeom>
          <a:solidFill>
            <a:schemeClr val="bg1">
              <a:lumMod val="95000"/>
            </a:schemeClr>
          </a:solidFill>
        </p:spPr>
        <p:txBody>
          <a:bodyPr tIns="0"/>
          <a:lstStyle>
            <a:lvl1pPr marL="0" indent="0" algn="ctr">
              <a:buNone/>
              <a:defRPr sz="1000"/>
            </a:lvl1pPr>
          </a:lstStyle>
          <a:p>
            <a:r>
              <a:rPr lang="de-DE" dirty="0"/>
              <a:t>Bild durch Klicken auf Symbol hinzufügen</a:t>
            </a:r>
            <a:endParaRPr lang="en-US" dirty="0"/>
          </a:p>
        </p:txBody>
      </p:sp>
      <p:sp>
        <p:nvSpPr>
          <p:cNvPr id="22" name="Textplatzhalter 10"/>
          <p:cNvSpPr>
            <a:spLocks noGrp="1"/>
          </p:cNvSpPr>
          <p:nvPr>
            <p:ph type="body" sz="quarter" idx="18"/>
          </p:nvPr>
        </p:nvSpPr>
        <p:spPr>
          <a:xfrm>
            <a:off x="1818000" y="2284074"/>
            <a:ext cx="6894200" cy="1080000"/>
          </a:xfrm>
        </p:spPr>
        <p:txBody>
          <a:bodyPr anchor="ctr"/>
          <a:lstStyle>
            <a:lvl1pPr marL="0" indent="0">
              <a:buNone/>
              <a:defRPr sz="14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Textmasterformat bearbeiten</a:t>
            </a:r>
          </a:p>
        </p:txBody>
      </p:sp>
      <p:sp>
        <p:nvSpPr>
          <p:cNvPr id="23" name="Bildplatzhalter 7"/>
          <p:cNvSpPr>
            <a:spLocks noGrp="1" noChangeAspect="1"/>
          </p:cNvSpPr>
          <p:nvPr>
            <p:ph type="pic" sz="quarter" idx="19"/>
          </p:nvPr>
        </p:nvSpPr>
        <p:spPr>
          <a:xfrm>
            <a:off x="482226" y="3610853"/>
            <a:ext cx="1080000" cy="1080000"/>
          </a:xfrm>
          <a:prstGeom prst="ellipse">
            <a:avLst/>
          </a:prstGeom>
          <a:solidFill>
            <a:schemeClr val="bg1">
              <a:lumMod val="95000"/>
            </a:schemeClr>
          </a:solidFill>
        </p:spPr>
        <p:txBody>
          <a:bodyPr tIns="0"/>
          <a:lstStyle>
            <a:lvl1pPr marL="0" indent="0" algn="ctr">
              <a:buNone/>
              <a:defRPr sz="1000"/>
            </a:lvl1pPr>
          </a:lstStyle>
          <a:p>
            <a:r>
              <a:rPr lang="de-DE" dirty="0"/>
              <a:t>Bild durch Klicken auf Symbol hinzufügen</a:t>
            </a:r>
            <a:endParaRPr lang="en-US" dirty="0"/>
          </a:p>
        </p:txBody>
      </p:sp>
      <p:sp>
        <p:nvSpPr>
          <p:cNvPr id="24" name="Textplatzhalter 10"/>
          <p:cNvSpPr>
            <a:spLocks noGrp="1"/>
          </p:cNvSpPr>
          <p:nvPr>
            <p:ph type="body" sz="quarter" idx="20"/>
          </p:nvPr>
        </p:nvSpPr>
        <p:spPr>
          <a:xfrm>
            <a:off x="1818000" y="3610853"/>
            <a:ext cx="6894200" cy="1080000"/>
          </a:xfrm>
        </p:spPr>
        <p:txBody>
          <a:bodyPr anchor="ctr"/>
          <a:lstStyle>
            <a:lvl1pPr marL="0" indent="0">
              <a:buNone/>
              <a:defRPr sz="14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Textmasterformat bearbeiten</a:t>
            </a:r>
          </a:p>
        </p:txBody>
      </p:sp>
      <p:sp>
        <p:nvSpPr>
          <p:cNvPr id="2" name="Datumsplatzhalter 1">
            <a:extLst>
              <a:ext uri="{FF2B5EF4-FFF2-40B4-BE49-F238E27FC236}">
                <a16:creationId xmlns:a16="http://schemas.microsoft.com/office/drawing/2014/main" id="{9E3799E2-3C23-4EE3-8932-7D8BEC42B9DA}"/>
              </a:ext>
              <a:ext uri="{C183D7F6-B498-43B3-948B-1728B52AA6E4}">
                <adec:decorative xmlns:adec="http://schemas.microsoft.com/office/drawing/2017/decorative" val="1"/>
              </a:ext>
            </a:extLst>
          </p:cNvPr>
          <p:cNvSpPr>
            <a:spLocks noGrp="1"/>
          </p:cNvSpPr>
          <p:nvPr>
            <p:ph type="dt" sz="half" idx="21"/>
          </p:nvPr>
        </p:nvSpPr>
        <p:spPr/>
        <p:txBody>
          <a:bodyPr/>
          <a:lstStyle/>
          <a:p>
            <a:r>
              <a:rPr lang="de-DE"/>
              <a:t>08/20/2020</a:t>
            </a:r>
            <a:endParaRPr lang="en-US" dirty="0"/>
          </a:p>
        </p:txBody>
      </p:sp>
      <p:sp>
        <p:nvSpPr>
          <p:cNvPr id="7" name="Fußzeilenplatzhalter 6">
            <a:extLst>
              <a:ext uri="{FF2B5EF4-FFF2-40B4-BE49-F238E27FC236}">
                <a16:creationId xmlns:a16="http://schemas.microsoft.com/office/drawing/2014/main" id="{FAAF8D85-2BDA-4B6B-9739-948CC7B45B04}"/>
              </a:ext>
              <a:ext uri="{C183D7F6-B498-43B3-948B-1728B52AA6E4}">
                <adec:decorative xmlns:adec="http://schemas.microsoft.com/office/drawing/2017/decorative" val="1"/>
              </a:ext>
            </a:extLst>
          </p:cNvPr>
          <p:cNvSpPr>
            <a:spLocks noGrp="1"/>
          </p:cNvSpPr>
          <p:nvPr>
            <p:ph type="ftr" sz="quarter" idx="22"/>
          </p:nvPr>
        </p:nvSpPr>
        <p:spPr/>
        <p:txBody>
          <a:bodyPr/>
          <a:lstStyle/>
          <a:p>
            <a:r>
              <a:rPr lang="en-US"/>
              <a:t>University of Stuttgart</a:t>
            </a:r>
            <a:endParaRPr lang="en-US" dirty="0"/>
          </a:p>
        </p:txBody>
      </p:sp>
      <p:sp>
        <p:nvSpPr>
          <p:cNvPr id="9" name="Foliennummernplatzhalter 8">
            <a:extLst>
              <a:ext uri="{FF2B5EF4-FFF2-40B4-BE49-F238E27FC236}">
                <a16:creationId xmlns:a16="http://schemas.microsoft.com/office/drawing/2014/main" id="{49B14986-AEF7-4911-8AC9-241E2F85323A}"/>
              </a:ext>
              <a:ext uri="{C183D7F6-B498-43B3-948B-1728B52AA6E4}">
                <adec:decorative xmlns:adec="http://schemas.microsoft.com/office/drawing/2017/decorative" val="1"/>
              </a:ext>
            </a:extLst>
          </p:cNvPr>
          <p:cNvSpPr>
            <a:spLocks noGrp="1"/>
          </p:cNvSpPr>
          <p:nvPr>
            <p:ph type="sldNum" sz="quarter" idx="23"/>
          </p:nvPr>
        </p:nvSpPr>
        <p:spPr/>
        <p:txBody>
          <a:bodyPr/>
          <a:lstStyle/>
          <a:p>
            <a:fld id="{9E82CC3C-1DC0-4FDA-9590-6CC506AB67F8}" type="slidenum">
              <a:rPr lang="en-US" smtClean="0"/>
              <a:pPr/>
              <a:t>‹Nr.›</a:t>
            </a:fld>
            <a:endParaRPr lang="en-US" dirty="0"/>
          </a:p>
        </p:txBody>
      </p:sp>
    </p:spTree>
    <p:extLst>
      <p:ext uri="{BB962C8B-B14F-4D97-AF65-F5344CB8AC3E}">
        <p14:creationId xmlns:p14="http://schemas.microsoft.com/office/powerpoint/2010/main" val="9004424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mit eckigen Bildern">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E792EEEF-D15B-42F6-B267-A355CF4E4DBF}"/>
              </a:ext>
            </a:extLst>
          </p:cNvPr>
          <p:cNvSpPr>
            <a:spLocks noGrp="1"/>
          </p:cNvSpPr>
          <p:nvPr>
            <p:ph type="title"/>
          </p:nvPr>
        </p:nvSpPr>
        <p:spPr/>
        <p:txBody>
          <a:bodyPr/>
          <a:lstStyle/>
          <a:p>
            <a:r>
              <a:rPr lang="de-DE" dirty="0"/>
              <a:t>Mastertitelformat bearbeiten</a:t>
            </a:r>
            <a:endParaRPr lang="en-GB" dirty="0"/>
          </a:p>
        </p:txBody>
      </p:sp>
      <p:sp>
        <p:nvSpPr>
          <p:cNvPr id="8" name="Bildplatzhalter 7"/>
          <p:cNvSpPr>
            <a:spLocks noGrp="1"/>
          </p:cNvSpPr>
          <p:nvPr>
            <p:ph type="pic" sz="quarter" idx="14"/>
          </p:nvPr>
        </p:nvSpPr>
        <p:spPr>
          <a:xfrm>
            <a:off x="476250" y="958620"/>
            <a:ext cx="1440000" cy="1080000"/>
          </a:xfrm>
          <a:prstGeom prst="rect">
            <a:avLst/>
          </a:prstGeom>
          <a:solidFill>
            <a:schemeClr val="bg1">
              <a:lumMod val="95000"/>
            </a:schemeClr>
          </a:solidFill>
        </p:spPr>
        <p:txBody>
          <a:bodyPr tIns="0"/>
          <a:lstStyle>
            <a:lvl1pPr marL="0" indent="0" algn="ctr">
              <a:buNone/>
              <a:defRPr sz="1200"/>
            </a:lvl1pPr>
          </a:lstStyle>
          <a:p>
            <a:r>
              <a:rPr lang="de-DE" dirty="0"/>
              <a:t>Bild durch Klicken auf Symbol hinzufügen</a:t>
            </a:r>
            <a:endParaRPr lang="en-US" dirty="0"/>
          </a:p>
        </p:txBody>
      </p:sp>
      <p:sp>
        <p:nvSpPr>
          <p:cNvPr id="12" name="Textplatzhalter 10"/>
          <p:cNvSpPr>
            <a:spLocks noGrp="1"/>
          </p:cNvSpPr>
          <p:nvPr>
            <p:ph type="body" sz="quarter" idx="16"/>
          </p:nvPr>
        </p:nvSpPr>
        <p:spPr>
          <a:xfrm>
            <a:off x="2144110" y="958621"/>
            <a:ext cx="6568090" cy="1080000"/>
          </a:xfrm>
        </p:spPr>
        <p:txBody>
          <a:bodyPr anchor="ctr"/>
          <a:lstStyle>
            <a:lvl1pPr marL="0" indent="0">
              <a:buNone/>
              <a:defRPr sz="14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Textmasterformat bearbeiten</a:t>
            </a:r>
          </a:p>
        </p:txBody>
      </p:sp>
      <p:sp>
        <p:nvSpPr>
          <p:cNvPr id="13" name="Bildplatzhalter 7"/>
          <p:cNvSpPr>
            <a:spLocks noGrp="1"/>
          </p:cNvSpPr>
          <p:nvPr>
            <p:ph type="pic" sz="quarter" idx="21"/>
          </p:nvPr>
        </p:nvSpPr>
        <p:spPr>
          <a:xfrm>
            <a:off x="476250" y="2294605"/>
            <a:ext cx="1440000" cy="1080000"/>
          </a:xfrm>
          <a:prstGeom prst="rect">
            <a:avLst/>
          </a:prstGeom>
          <a:solidFill>
            <a:schemeClr val="bg1">
              <a:lumMod val="95000"/>
            </a:schemeClr>
          </a:solidFill>
        </p:spPr>
        <p:txBody>
          <a:bodyPr tIns="0"/>
          <a:lstStyle>
            <a:lvl1pPr marL="0" indent="0" algn="ctr">
              <a:buNone/>
              <a:defRPr sz="1200"/>
            </a:lvl1pPr>
          </a:lstStyle>
          <a:p>
            <a:r>
              <a:rPr lang="de-DE" dirty="0"/>
              <a:t>Bild durch Klicken auf Symbol hinzufügen</a:t>
            </a:r>
            <a:endParaRPr lang="en-US" dirty="0"/>
          </a:p>
        </p:txBody>
      </p:sp>
      <p:sp>
        <p:nvSpPr>
          <p:cNvPr id="14" name="Textplatzhalter 10"/>
          <p:cNvSpPr>
            <a:spLocks noGrp="1"/>
          </p:cNvSpPr>
          <p:nvPr>
            <p:ph type="body" sz="quarter" idx="22"/>
          </p:nvPr>
        </p:nvSpPr>
        <p:spPr>
          <a:xfrm>
            <a:off x="2144110" y="2294605"/>
            <a:ext cx="6568090" cy="1080000"/>
          </a:xfrm>
        </p:spPr>
        <p:txBody>
          <a:bodyPr anchor="ctr"/>
          <a:lstStyle>
            <a:lvl1pPr marL="0" indent="0">
              <a:buNone/>
              <a:defRPr sz="14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Textmasterformat bearbeiten</a:t>
            </a:r>
          </a:p>
        </p:txBody>
      </p:sp>
      <p:sp>
        <p:nvSpPr>
          <p:cNvPr id="15" name="Bildplatzhalter 7"/>
          <p:cNvSpPr>
            <a:spLocks noGrp="1"/>
          </p:cNvSpPr>
          <p:nvPr>
            <p:ph type="pic" sz="quarter" idx="23"/>
          </p:nvPr>
        </p:nvSpPr>
        <p:spPr>
          <a:xfrm>
            <a:off x="476250" y="3630591"/>
            <a:ext cx="1440000" cy="1080000"/>
          </a:xfrm>
          <a:prstGeom prst="rect">
            <a:avLst/>
          </a:prstGeom>
          <a:solidFill>
            <a:schemeClr val="bg1">
              <a:lumMod val="95000"/>
            </a:schemeClr>
          </a:solidFill>
        </p:spPr>
        <p:txBody>
          <a:bodyPr tIns="0"/>
          <a:lstStyle>
            <a:lvl1pPr marL="0" indent="0" algn="ctr">
              <a:buNone/>
              <a:defRPr sz="1200"/>
            </a:lvl1pPr>
          </a:lstStyle>
          <a:p>
            <a:r>
              <a:rPr lang="de-DE" dirty="0"/>
              <a:t>Bild durch Klicken auf Symbol hinzufügen</a:t>
            </a:r>
            <a:endParaRPr lang="en-US" dirty="0"/>
          </a:p>
        </p:txBody>
      </p:sp>
      <p:sp>
        <p:nvSpPr>
          <p:cNvPr id="16" name="Textplatzhalter 10"/>
          <p:cNvSpPr>
            <a:spLocks noGrp="1"/>
          </p:cNvSpPr>
          <p:nvPr>
            <p:ph type="body" sz="quarter" idx="24"/>
          </p:nvPr>
        </p:nvSpPr>
        <p:spPr>
          <a:xfrm>
            <a:off x="2144110" y="3630591"/>
            <a:ext cx="6568090" cy="1080000"/>
          </a:xfrm>
        </p:spPr>
        <p:txBody>
          <a:bodyPr anchor="ctr"/>
          <a:lstStyle>
            <a:lvl1pPr marL="0" indent="0">
              <a:buNone/>
              <a:defRPr sz="14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Textmasterformat bearbeiten</a:t>
            </a:r>
          </a:p>
        </p:txBody>
      </p:sp>
      <p:sp>
        <p:nvSpPr>
          <p:cNvPr id="2" name="Datumsplatzhalter 1">
            <a:extLst>
              <a:ext uri="{FF2B5EF4-FFF2-40B4-BE49-F238E27FC236}">
                <a16:creationId xmlns:a16="http://schemas.microsoft.com/office/drawing/2014/main" id="{424AC54E-2FE8-44FD-8448-789AC527CD62}"/>
              </a:ext>
              <a:ext uri="{C183D7F6-B498-43B3-948B-1728B52AA6E4}">
                <adec:decorative xmlns:adec="http://schemas.microsoft.com/office/drawing/2017/decorative" val="1"/>
              </a:ext>
            </a:extLst>
          </p:cNvPr>
          <p:cNvSpPr>
            <a:spLocks noGrp="1"/>
          </p:cNvSpPr>
          <p:nvPr>
            <p:ph type="dt" sz="half" idx="25"/>
          </p:nvPr>
        </p:nvSpPr>
        <p:spPr/>
        <p:txBody>
          <a:bodyPr/>
          <a:lstStyle/>
          <a:p>
            <a:r>
              <a:rPr lang="de-DE"/>
              <a:t>08/20/2020</a:t>
            </a:r>
            <a:endParaRPr lang="en-US" dirty="0"/>
          </a:p>
        </p:txBody>
      </p:sp>
      <p:sp>
        <p:nvSpPr>
          <p:cNvPr id="7" name="Fußzeilenplatzhalter 6">
            <a:extLst>
              <a:ext uri="{FF2B5EF4-FFF2-40B4-BE49-F238E27FC236}">
                <a16:creationId xmlns:a16="http://schemas.microsoft.com/office/drawing/2014/main" id="{FD788027-74D9-4A2C-99EF-860F4806E5B7}"/>
              </a:ext>
              <a:ext uri="{C183D7F6-B498-43B3-948B-1728B52AA6E4}">
                <adec:decorative xmlns:adec="http://schemas.microsoft.com/office/drawing/2017/decorative" val="1"/>
              </a:ext>
            </a:extLst>
          </p:cNvPr>
          <p:cNvSpPr>
            <a:spLocks noGrp="1"/>
          </p:cNvSpPr>
          <p:nvPr>
            <p:ph type="ftr" sz="quarter" idx="26"/>
          </p:nvPr>
        </p:nvSpPr>
        <p:spPr/>
        <p:txBody>
          <a:bodyPr/>
          <a:lstStyle/>
          <a:p>
            <a:r>
              <a:rPr lang="en-US"/>
              <a:t>University of Stuttgart</a:t>
            </a:r>
            <a:endParaRPr lang="en-US" dirty="0"/>
          </a:p>
        </p:txBody>
      </p:sp>
      <p:sp>
        <p:nvSpPr>
          <p:cNvPr id="9" name="Foliennummernplatzhalter 8">
            <a:extLst>
              <a:ext uri="{FF2B5EF4-FFF2-40B4-BE49-F238E27FC236}">
                <a16:creationId xmlns:a16="http://schemas.microsoft.com/office/drawing/2014/main" id="{1E67A0A4-F964-4E95-B836-83B9DA51486C}"/>
              </a:ext>
              <a:ext uri="{C183D7F6-B498-43B3-948B-1728B52AA6E4}">
                <adec:decorative xmlns:adec="http://schemas.microsoft.com/office/drawing/2017/decorative" val="1"/>
              </a:ext>
            </a:extLst>
          </p:cNvPr>
          <p:cNvSpPr>
            <a:spLocks noGrp="1"/>
          </p:cNvSpPr>
          <p:nvPr>
            <p:ph type="sldNum" sz="quarter" idx="27"/>
          </p:nvPr>
        </p:nvSpPr>
        <p:spPr/>
        <p:txBody>
          <a:bodyPr/>
          <a:lstStyle/>
          <a:p>
            <a:fld id="{9E82CC3C-1DC0-4FDA-9590-6CC506AB67F8}" type="slidenum">
              <a:rPr lang="en-US" smtClean="0"/>
              <a:pPr/>
              <a:t>‹Nr.›</a:t>
            </a:fld>
            <a:endParaRPr lang="en-US" dirty="0"/>
          </a:p>
        </p:txBody>
      </p:sp>
    </p:spTree>
    <p:extLst>
      <p:ext uri="{BB962C8B-B14F-4D97-AF65-F5344CB8AC3E}">
        <p14:creationId xmlns:p14="http://schemas.microsoft.com/office/powerpoint/2010/main" val="26219553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 Personen">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2369BABE-C34D-4B71-ABE7-625BE220F249}"/>
              </a:ext>
            </a:extLst>
          </p:cNvPr>
          <p:cNvSpPr>
            <a:spLocks noGrp="1"/>
          </p:cNvSpPr>
          <p:nvPr>
            <p:ph type="title"/>
          </p:nvPr>
        </p:nvSpPr>
        <p:spPr/>
        <p:txBody>
          <a:bodyPr/>
          <a:lstStyle/>
          <a:p>
            <a:r>
              <a:rPr lang="de-DE" dirty="0"/>
              <a:t>Mastertitelformat bearbeiten</a:t>
            </a:r>
            <a:endParaRPr lang="en-GB" dirty="0"/>
          </a:p>
        </p:txBody>
      </p:sp>
      <p:sp>
        <p:nvSpPr>
          <p:cNvPr id="16" name="Textplatzhalter 7">
            <a:extLst>
              <a:ext uri="{FF2B5EF4-FFF2-40B4-BE49-F238E27FC236}">
                <a16:creationId xmlns:a16="http://schemas.microsoft.com/office/drawing/2014/main" id="{4F73F404-72E1-4BC9-B71C-D15CC679050E}"/>
              </a:ext>
            </a:extLst>
          </p:cNvPr>
          <p:cNvSpPr>
            <a:spLocks noGrp="1"/>
          </p:cNvSpPr>
          <p:nvPr>
            <p:ph type="body" sz="quarter" idx="13" hasCustomPrompt="1"/>
          </p:nvPr>
        </p:nvSpPr>
        <p:spPr>
          <a:xfrm>
            <a:off x="468000" y="576000"/>
            <a:ext cx="8244200" cy="277200"/>
          </a:xfrm>
        </p:spPr>
        <p:txBody>
          <a:bodyPr lIns="0" tIns="0" rIns="0" bIns="0"/>
          <a:lstStyle>
            <a:lvl1pPr marL="0" indent="0">
              <a:buNone/>
              <a:defRPr sz="1800" baseline="0"/>
            </a:lvl1pPr>
          </a:lstStyle>
          <a:p>
            <a:pPr lvl="0"/>
            <a:r>
              <a:rPr lang="de-DE" dirty="0"/>
              <a:t>Untertitel durch Klicken bearbeiten</a:t>
            </a:r>
          </a:p>
        </p:txBody>
      </p:sp>
      <p:sp>
        <p:nvSpPr>
          <p:cNvPr id="9" name="Rechteck 8">
            <a:extLst>
              <a:ext uri="{C183D7F6-B498-43B3-948B-1728B52AA6E4}">
                <adec:decorative xmlns:adec="http://schemas.microsoft.com/office/drawing/2017/decorative" val="1"/>
              </a:ext>
            </a:extLst>
          </p:cNvPr>
          <p:cNvSpPr/>
          <p:nvPr userDrawn="1"/>
        </p:nvSpPr>
        <p:spPr>
          <a:xfrm>
            <a:off x="475247" y="2104084"/>
            <a:ext cx="2814039" cy="262638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4" dirty="0"/>
          </a:p>
        </p:txBody>
      </p:sp>
      <p:sp>
        <p:nvSpPr>
          <p:cNvPr id="8" name="Bildplatzhalter 7">
            <a:extLst>
              <a:ext uri="{C183D7F6-B498-43B3-948B-1728B52AA6E4}">
                <adec:decorative xmlns:adec="http://schemas.microsoft.com/office/drawing/2017/decorative" val="1"/>
              </a:ext>
            </a:extLst>
          </p:cNvPr>
          <p:cNvSpPr>
            <a:spLocks noGrp="1" noChangeAspect="1"/>
          </p:cNvSpPr>
          <p:nvPr>
            <p:ph type="pic" sz="quarter" idx="14"/>
          </p:nvPr>
        </p:nvSpPr>
        <p:spPr>
          <a:xfrm>
            <a:off x="1162266" y="1287711"/>
            <a:ext cx="1440000" cy="1440000"/>
          </a:xfrm>
          <a:prstGeom prst="ellipse">
            <a:avLst/>
          </a:prstGeom>
          <a:solidFill>
            <a:schemeClr val="bg1">
              <a:lumMod val="95000"/>
            </a:schemeClr>
          </a:solidFill>
        </p:spPr>
        <p:txBody>
          <a:bodyPr tIns="0"/>
          <a:lstStyle>
            <a:lvl1pPr marL="0" indent="0" algn="ctr">
              <a:buNone/>
              <a:defRPr sz="1200"/>
            </a:lvl1pPr>
          </a:lstStyle>
          <a:p>
            <a:r>
              <a:rPr lang="de-DE" dirty="0"/>
              <a:t>Bild durch Klicken auf Symbol hinzufügen</a:t>
            </a:r>
            <a:endParaRPr lang="en-US" dirty="0"/>
          </a:p>
        </p:txBody>
      </p:sp>
      <p:sp>
        <p:nvSpPr>
          <p:cNvPr id="11" name="Textplatzhalter 10"/>
          <p:cNvSpPr>
            <a:spLocks noGrp="1"/>
          </p:cNvSpPr>
          <p:nvPr>
            <p:ph type="body" sz="quarter" idx="15" hasCustomPrompt="1"/>
          </p:nvPr>
        </p:nvSpPr>
        <p:spPr>
          <a:xfrm>
            <a:off x="720000" y="2893320"/>
            <a:ext cx="2340290" cy="226800"/>
          </a:xfrm>
        </p:spPr>
        <p:txBody>
          <a:bodyPr/>
          <a:lstStyle>
            <a:lvl1pPr marL="0" indent="0">
              <a:buNone/>
              <a:defRPr sz="1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12" name="Textplatzhalter 10"/>
          <p:cNvSpPr>
            <a:spLocks noGrp="1"/>
          </p:cNvSpPr>
          <p:nvPr>
            <p:ph type="body" sz="quarter" idx="16" hasCustomPrompt="1"/>
          </p:nvPr>
        </p:nvSpPr>
        <p:spPr>
          <a:xfrm>
            <a:off x="720000" y="3240001"/>
            <a:ext cx="2340290" cy="1130805"/>
          </a:xfrm>
        </p:spPr>
        <p:txBody>
          <a:bodyPr/>
          <a:lstStyle>
            <a:lvl1pPr marL="0" indent="0">
              <a:spcBef>
                <a:spcPts val="1200"/>
              </a:spcBef>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Institut und Professur</a:t>
            </a:r>
          </a:p>
        </p:txBody>
      </p:sp>
      <p:sp>
        <p:nvSpPr>
          <p:cNvPr id="21" name="Rechteck 20">
            <a:extLst>
              <a:ext uri="{C183D7F6-B498-43B3-948B-1728B52AA6E4}">
                <adec:decorative xmlns:adec="http://schemas.microsoft.com/office/drawing/2017/decorative" val="1"/>
              </a:ext>
            </a:extLst>
          </p:cNvPr>
          <p:cNvSpPr/>
          <p:nvPr userDrawn="1"/>
        </p:nvSpPr>
        <p:spPr>
          <a:xfrm>
            <a:off x="3896479" y="2084206"/>
            <a:ext cx="2814039" cy="262638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4" dirty="0"/>
          </a:p>
        </p:txBody>
      </p:sp>
      <p:sp>
        <p:nvSpPr>
          <p:cNvPr id="22" name="Bildplatzhalter 7">
            <a:extLst>
              <a:ext uri="{C183D7F6-B498-43B3-948B-1728B52AA6E4}">
                <adec:decorative xmlns:adec="http://schemas.microsoft.com/office/drawing/2017/decorative" val="1"/>
              </a:ext>
            </a:extLst>
          </p:cNvPr>
          <p:cNvSpPr>
            <a:spLocks noGrp="1" noChangeAspect="1"/>
          </p:cNvSpPr>
          <p:nvPr>
            <p:ph type="pic" sz="quarter" idx="17"/>
          </p:nvPr>
        </p:nvSpPr>
        <p:spPr>
          <a:xfrm>
            <a:off x="4583498" y="1287711"/>
            <a:ext cx="1440000" cy="1440000"/>
          </a:xfrm>
          <a:prstGeom prst="ellipse">
            <a:avLst/>
          </a:prstGeom>
          <a:solidFill>
            <a:schemeClr val="bg1">
              <a:lumMod val="95000"/>
            </a:schemeClr>
          </a:solidFill>
        </p:spPr>
        <p:txBody>
          <a:bodyPr tIns="0"/>
          <a:lstStyle>
            <a:lvl1pPr marL="0" indent="0" algn="ctr">
              <a:buNone/>
              <a:defRPr sz="1200"/>
            </a:lvl1pPr>
          </a:lstStyle>
          <a:p>
            <a:r>
              <a:rPr lang="de-DE" dirty="0"/>
              <a:t>Bild durch Klicken auf Symbol hinzufügen</a:t>
            </a:r>
            <a:endParaRPr lang="en-US" dirty="0"/>
          </a:p>
        </p:txBody>
      </p:sp>
      <p:sp>
        <p:nvSpPr>
          <p:cNvPr id="23" name="Textplatzhalter 10"/>
          <p:cNvSpPr>
            <a:spLocks noGrp="1"/>
          </p:cNvSpPr>
          <p:nvPr>
            <p:ph type="body" sz="quarter" idx="18" hasCustomPrompt="1"/>
          </p:nvPr>
        </p:nvSpPr>
        <p:spPr>
          <a:xfrm>
            <a:off x="4134251" y="2893320"/>
            <a:ext cx="2340290" cy="226800"/>
          </a:xfrm>
        </p:spPr>
        <p:txBody>
          <a:bodyPr/>
          <a:lstStyle>
            <a:lvl1pPr marL="0" indent="0">
              <a:buNone/>
              <a:defRPr sz="1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24" name="Textplatzhalter 10"/>
          <p:cNvSpPr>
            <a:spLocks noGrp="1"/>
          </p:cNvSpPr>
          <p:nvPr>
            <p:ph type="body" sz="quarter" idx="19" hasCustomPrompt="1"/>
          </p:nvPr>
        </p:nvSpPr>
        <p:spPr>
          <a:xfrm>
            <a:off x="4134251" y="3240001"/>
            <a:ext cx="2340290" cy="1130805"/>
          </a:xfrm>
        </p:spPr>
        <p:txBody>
          <a:bodyPr/>
          <a:lstStyle>
            <a:lvl1pPr marL="0" indent="0">
              <a:spcBef>
                <a:spcPts val="1200"/>
              </a:spcBef>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Institut und Professur</a:t>
            </a:r>
          </a:p>
        </p:txBody>
      </p:sp>
      <p:sp>
        <p:nvSpPr>
          <p:cNvPr id="2" name="Datumsplatzhalter 1">
            <a:extLst>
              <a:ext uri="{FF2B5EF4-FFF2-40B4-BE49-F238E27FC236}">
                <a16:creationId xmlns:a16="http://schemas.microsoft.com/office/drawing/2014/main" id="{67891870-DFB4-45E6-9383-4A10E76B3D6A}"/>
              </a:ext>
              <a:ext uri="{C183D7F6-B498-43B3-948B-1728B52AA6E4}">
                <adec:decorative xmlns:adec="http://schemas.microsoft.com/office/drawing/2017/decorative" val="1"/>
              </a:ext>
            </a:extLst>
          </p:cNvPr>
          <p:cNvSpPr>
            <a:spLocks noGrp="1"/>
          </p:cNvSpPr>
          <p:nvPr>
            <p:ph type="dt" sz="half" idx="20"/>
          </p:nvPr>
        </p:nvSpPr>
        <p:spPr/>
        <p:txBody>
          <a:bodyPr/>
          <a:lstStyle/>
          <a:p>
            <a:r>
              <a:rPr lang="de-DE"/>
              <a:t>08/20/2020</a:t>
            </a:r>
            <a:endParaRPr lang="en-US" dirty="0"/>
          </a:p>
        </p:txBody>
      </p:sp>
      <p:sp>
        <p:nvSpPr>
          <p:cNvPr id="7" name="Fußzeilenplatzhalter 6">
            <a:extLst>
              <a:ext uri="{FF2B5EF4-FFF2-40B4-BE49-F238E27FC236}">
                <a16:creationId xmlns:a16="http://schemas.microsoft.com/office/drawing/2014/main" id="{5B04DB42-8004-4EC2-BA6C-C35BBD8F5FAD}"/>
              </a:ext>
              <a:ext uri="{C183D7F6-B498-43B3-948B-1728B52AA6E4}">
                <adec:decorative xmlns:adec="http://schemas.microsoft.com/office/drawing/2017/decorative" val="1"/>
              </a:ext>
            </a:extLst>
          </p:cNvPr>
          <p:cNvSpPr>
            <a:spLocks noGrp="1"/>
          </p:cNvSpPr>
          <p:nvPr>
            <p:ph type="ftr" sz="quarter" idx="21"/>
          </p:nvPr>
        </p:nvSpPr>
        <p:spPr/>
        <p:txBody>
          <a:bodyPr/>
          <a:lstStyle/>
          <a:p>
            <a:r>
              <a:rPr lang="en-US"/>
              <a:t>University of Stuttgart</a:t>
            </a:r>
            <a:endParaRPr lang="en-US" dirty="0"/>
          </a:p>
        </p:txBody>
      </p:sp>
      <p:sp>
        <p:nvSpPr>
          <p:cNvPr id="10" name="Foliennummernplatzhalter 9">
            <a:extLst>
              <a:ext uri="{FF2B5EF4-FFF2-40B4-BE49-F238E27FC236}">
                <a16:creationId xmlns:a16="http://schemas.microsoft.com/office/drawing/2014/main" id="{2AC375FE-0D6A-422E-9BA2-D4859CDA8902}"/>
              </a:ext>
              <a:ext uri="{C183D7F6-B498-43B3-948B-1728B52AA6E4}">
                <adec:decorative xmlns:adec="http://schemas.microsoft.com/office/drawing/2017/decorative" val="1"/>
              </a:ext>
            </a:extLst>
          </p:cNvPr>
          <p:cNvSpPr>
            <a:spLocks noGrp="1"/>
          </p:cNvSpPr>
          <p:nvPr>
            <p:ph type="sldNum" sz="quarter" idx="22"/>
          </p:nvPr>
        </p:nvSpPr>
        <p:spPr/>
        <p:txBody>
          <a:bodyPr/>
          <a:lstStyle/>
          <a:p>
            <a:fld id="{9E82CC3C-1DC0-4FDA-9590-6CC506AB67F8}" type="slidenum">
              <a:rPr lang="en-US" smtClean="0"/>
              <a:pPr/>
              <a:t>‹Nr.›</a:t>
            </a:fld>
            <a:endParaRPr lang="en-US" dirty="0"/>
          </a:p>
        </p:txBody>
      </p:sp>
    </p:spTree>
    <p:extLst>
      <p:ext uri="{BB962C8B-B14F-4D97-AF65-F5344CB8AC3E}">
        <p14:creationId xmlns:p14="http://schemas.microsoft.com/office/powerpoint/2010/main" val="25383625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 Personen">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38B00749-49F7-4FC9-AE55-9A89B4673F2B}"/>
              </a:ext>
            </a:extLst>
          </p:cNvPr>
          <p:cNvSpPr>
            <a:spLocks noGrp="1"/>
          </p:cNvSpPr>
          <p:nvPr>
            <p:ph type="title"/>
          </p:nvPr>
        </p:nvSpPr>
        <p:spPr/>
        <p:txBody>
          <a:bodyPr/>
          <a:lstStyle/>
          <a:p>
            <a:r>
              <a:rPr lang="de-DE"/>
              <a:t>Mastertitelformat bearbeiten</a:t>
            </a:r>
            <a:endParaRPr lang="en-GB"/>
          </a:p>
        </p:txBody>
      </p:sp>
      <p:sp>
        <p:nvSpPr>
          <p:cNvPr id="25" name="Textplatzhalter 7">
            <a:extLst>
              <a:ext uri="{FF2B5EF4-FFF2-40B4-BE49-F238E27FC236}">
                <a16:creationId xmlns:a16="http://schemas.microsoft.com/office/drawing/2014/main" id="{234A045F-25D1-4F69-800A-3EC98AD24806}"/>
              </a:ext>
            </a:extLst>
          </p:cNvPr>
          <p:cNvSpPr>
            <a:spLocks noGrp="1"/>
          </p:cNvSpPr>
          <p:nvPr>
            <p:ph type="body" sz="quarter" idx="13" hasCustomPrompt="1"/>
          </p:nvPr>
        </p:nvSpPr>
        <p:spPr>
          <a:xfrm>
            <a:off x="468000" y="576000"/>
            <a:ext cx="8244200" cy="277200"/>
          </a:xfrm>
        </p:spPr>
        <p:txBody>
          <a:bodyPr lIns="0" tIns="0" rIns="0" bIns="0"/>
          <a:lstStyle>
            <a:lvl1pPr marL="0" indent="0">
              <a:buNone/>
              <a:defRPr sz="1800" baseline="0"/>
            </a:lvl1pPr>
          </a:lstStyle>
          <a:p>
            <a:pPr lvl="0"/>
            <a:r>
              <a:rPr lang="de-DE" dirty="0"/>
              <a:t>Untertitel durch Klicken bearbeiten</a:t>
            </a:r>
          </a:p>
        </p:txBody>
      </p:sp>
      <p:sp>
        <p:nvSpPr>
          <p:cNvPr id="9" name="Rechteck 8">
            <a:extLst>
              <a:ext uri="{C183D7F6-B498-43B3-948B-1728B52AA6E4}">
                <adec:decorative xmlns:adec="http://schemas.microsoft.com/office/drawing/2017/decorative" val="1"/>
              </a:ext>
            </a:extLst>
          </p:cNvPr>
          <p:cNvSpPr/>
          <p:nvPr userDrawn="1"/>
        </p:nvSpPr>
        <p:spPr>
          <a:xfrm>
            <a:off x="475246" y="2084206"/>
            <a:ext cx="2520000" cy="262638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4" dirty="0"/>
          </a:p>
        </p:txBody>
      </p:sp>
      <p:sp>
        <p:nvSpPr>
          <p:cNvPr id="21" name="Bildplatzhalter 7">
            <a:extLst>
              <a:ext uri="{FF2B5EF4-FFF2-40B4-BE49-F238E27FC236}">
                <a16:creationId xmlns:a16="http://schemas.microsoft.com/office/drawing/2014/main" id="{0CCFCC13-9E94-4A8E-927E-B90EB96934B9}"/>
              </a:ext>
              <a:ext uri="{C183D7F6-B498-43B3-948B-1728B52AA6E4}">
                <adec:decorative xmlns:adec="http://schemas.microsoft.com/office/drawing/2017/decorative" val="1"/>
              </a:ext>
            </a:extLst>
          </p:cNvPr>
          <p:cNvSpPr>
            <a:spLocks noGrp="1" noChangeAspect="1"/>
          </p:cNvSpPr>
          <p:nvPr>
            <p:ph type="pic" sz="quarter" idx="14"/>
          </p:nvPr>
        </p:nvSpPr>
        <p:spPr>
          <a:xfrm>
            <a:off x="1015246" y="1287711"/>
            <a:ext cx="1440000" cy="1440000"/>
          </a:xfrm>
          <a:prstGeom prst="ellipse">
            <a:avLst/>
          </a:prstGeom>
          <a:solidFill>
            <a:schemeClr val="bg1">
              <a:lumMod val="95000"/>
            </a:schemeClr>
          </a:solidFill>
        </p:spPr>
        <p:txBody>
          <a:bodyPr tIns="0"/>
          <a:lstStyle>
            <a:lvl1pPr marL="0" indent="0" algn="ctr">
              <a:buNone/>
              <a:defRPr sz="1200"/>
            </a:lvl1pPr>
          </a:lstStyle>
          <a:p>
            <a:r>
              <a:rPr lang="de-DE" dirty="0"/>
              <a:t>Bild durch Klicken auf Symbol hinzufügen</a:t>
            </a:r>
            <a:endParaRPr lang="en-US" dirty="0"/>
          </a:p>
        </p:txBody>
      </p:sp>
      <p:sp>
        <p:nvSpPr>
          <p:cNvPr id="11" name="Textplatzhalter 10"/>
          <p:cNvSpPr>
            <a:spLocks noGrp="1"/>
          </p:cNvSpPr>
          <p:nvPr>
            <p:ph type="body" sz="quarter" idx="15" hasCustomPrompt="1"/>
          </p:nvPr>
        </p:nvSpPr>
        <p:spPr>
          <a:xfrm>
            <a:off x="720000" y="2893320"/>
            <a:ext cx="2160000" cy="226800"/>
          </a:xfrm>
        </p:spPr>
        <p:txBody>
          <a:bodyPr/>
          <a:lstStyle>
            <a:lvl1pPr marL="0" indent="0">
              <a:buNone/>
              <a:defRPr sz="1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12" name="Textplatzhalter 10"/>
          <p:cNvSpPr>
            <a:spLocks noGrp="1"/>
          </p:cNvSpPr>
          <p:nvPr>
            <p:ph type="body" sz="quarter" idx="16" hasCustomPrompt="1"/>
          </p:nvPr>
        </p:nvSpPr>
        <p:spPr>
          <a:xfrm>
            <a:off x="720000" y="3240001"/>
            <a:ext cx="2160000" cy="1130805"/>
          </a:xfrm>
        </p:spPr>
        <p:txBody>
          <a:bodyPr/>
          <a:lstStyle>
            <a:lvl1pPr marL="0" indent="0">
              <a:spcBef>
                <a:spcPts val="1200"/>
              </a:spcBef>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Institut und Professur</a:t>
            </a:r>
          </a:p>
        </p:txBody>
      </p:sp>
      <p:sp>
        <p:nvSpPr>
          <p:cNvPr id="13" name="Rechteck 12">
            <a:extLst>
              <a:ext uri="{C183D7F6-B498-43B3-948B-1728B52AA6E4}">
                <adec:decorative xmlns:adec="http://schemas.microsoft.com/office/drawing/2017/decorative" val="1"/>
              </a:ext>
            </a:extLst>
          </p:cNvPr>
          <p:cNvSpPr/>
          <p:nvPr userDrawn="1"/>
        </p:nvSpPr>
        <p:spPr>
          <a:xfrm>
            <a:off x="3335345" y="2084206"/>
            <a:ext cx="2520000" cy="262638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4" dirty="0"/>
          </a:p>
        </p:txBody>
      </p:sp>
      <p:sp>
        <p:nvSpPr>
          <p:cNvPr id="22" name="Bildplatzhalter 7">
            <a:extLst>
              <a:ext uri="{FF2B5EF4-FFF2-40B4-BE49-F238E27FC236}">
                <a16:creationId xmlns:a16="http://schemas.microsoft.com/office/drawing/2014/main" id="{34D29721-8BC0-4D90-A4F3-75A72451E902}"/>
              </a:ext>
              <a:ext uri="{C183D7F6-B498-43B3-948B-1728B52AA6E4}">
                <adec:decorative xmlns:adec="http://schemas.microsoft.com/office/drawing/2017/decorative" val="1"/>
              </a:ext>
            </a:extLst>
          </p:cNvPr>
          <p:cNvSpPr>
            <a:spLocks noGrp="1" noChangeAspect="1"/>
          </p:cNvSpPr>
          <p:nvPr>
            <p:ph type="pic" sz="quarter" idx="17"/>
          </p:nvPr>
        </p:nvSpPr>
        <p:spPr>
          <a:xfrm>
            <a:off x="3875345" y="1287711"/>
            <a:ext cx="1440000" cy="1440000"/>
          </a:xfrm>
          <a:prstGeom prst="ellipse">
            <a:avLst/>
          </a:prstGeom>
          <a:solidFill>
            <a:schemeClr val="bg1">
              <a:lumMod val="95000"/>
            </a:schemeClr>
          </a:solidFill>
        </p:spPr>
        <p:txBody>
          <a:bodyPr tIns="0"/>
          <a:lstStyle>
            <a:lvl1pPr marL="0" indent="0" algn="ctr">
              <a:buNone/>
              <a:defRPr sz="1200"/>
            </a:lvl1pPr>
          </a:lstStyle>
          <a:p>
            <a:r>
              <a:rPr lang="de-DE" dirty="0"/>
              <a:t>Bild durch Klicken auf Symbol hinzufügen</a:t>
            </a:r>
            <a:endParaRPr lang="en-US" dirty="0"/>
          </a:p>
        </p:txBody>
      </p:sp>
      <p:sp>
        <p:nvSpPr>
          <p:cNvPr id="15" name="Textplatzhalter 10"/>
          <p:cNvSpPr>
            <a:spLocks noGrp="1"/>
          </p:cNvSpPr>
          <p:nvPr>
            <p:ph type="body" sz="quarter" idx="18" hasCustomPrompt="1"/>
          </p:nvPr>
        </p:nvSpPr>
        <p:spPr>
          <a:xfrm>
            <a:off x="3576609" y="2893320"/>
            <a:ext cx="2160000" cy="226800"/>
          </a:xfrm>
        </p:spPr>
        <p:txBody>
          <a:bodyPr/>
          <a:lstStyle>
            <a:lvl1pPr marL="0" indent="0">
              <a:buNone/>
              <a:defRPr sz="1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16" name="Textplatzhalter 10"/>
          <p:cNvSpPr>
            <a:spLocks noGrp="1"/>
          </p:cNvSpPr>
          <p:nvPr>
            <p:ph type="body" sz="quarter" idx="19" hasCustomPrompt="1"/>
          </p:nvPr>
        </p:nvSpPr>
        <p:spPr>
          <a:xfrm>
            <a:off x="3576609" y="3240001"/>
            <a:ext cx="2160000" cy="1130805"/>
          </a:xfrm>
        </p:spPr>
        <p:txBody>
          <a:bodyPr/>
          <a:lstStyle>
            <a:lvl1pPr marL="0" indent="0">
              <a:spcBef>
                <a:spcPts val="1200"/>
              </a:spcBef>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Institut und Professur</a:t>
            </a:r>
          </a:p>
        </p:txBody>
      </p:sp>
      <p:sp>
        <p:nvSpPr>
          <p:cNvPr id="17" name="Rechteck 16">
            <a:extLst>
              <a:ext uri="{C183D7F6-B498-43B3-948B-1728B52AA6E4}">
                <adec:decorative xmlns:adec="http://schemas.microsoft.com/office/drawing/2017/decorative" val="1"/>
              </a:ext>
            </a:extLst>
          </p:cNvPr>
          <p:cNvSpPr/>
          <p:nvPr userDrawn="1"/>
        </p:nvSpPr>
        <p:spPr>
          <a:xfrm>
            <a:off x="6195444" y="2084205"/>
            <a:ext cx="2520000" cy="26263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4" dirty="0"/>
          </a:p>
        </p:txBody>
      </p:sp>
      <p:sp>
        <p:nvSpPr>
          <p:cNvPr id="23" name="Bildplatzhalter 7">
            <a:extLst>
              <a:ext uri="{FF2B5EF4-FFF2-40B4-BE49-F238E27FC236}">
                <a16:creationId xmlns:a16="http://schemas.microsoft.com/office/drawing/2014/main" id="{01CD30C1-0EF4-4BAD-97BF-FFFDBEF2C182}"/>
              </a:ext>
              <a:ext uri="{C183D7F6-B498-43B3-948B-1728B52AA6E4}">
                <adec:decorative xmlns:adec="http://schemas.microsoft.com/office/drawing/2017/decorative" val="1"/>
              </a:ext>
            </a:extLst>
          </p:cNvPr>
          <p:cNvSpPr>
            <a:spLocks noGrp="1" noChangeAspect="1"/>
          </p:cNvSpPr>
          <p:nvPr>
            <p:ph type="pic" sz="quarter" idx="23"/>
          </p:nvPr>
        </p:nvSpPr>
        <p:spPr>
          <a:xfrm>
            <a:off x="6735444" y="1287711"/>
            <a:ext cx="1440000" cy="1440000"/>
          </a:xfrm>
          <a:prstGeom prst="ellipse">
            <a:avLst/>
          </a:prstGeom>
          <a:solidFill>
            <a:schemeClr val="bg1">
              <a:lumMod val="95000"/>
            </a:schemeClr>
          </a:solidFill>
        </p:spPr>
        <p:txBody>
          <a:bodyPr tIns="0"/>
          <a:lstStyle>
            <a:lvl1pPr marL="0" indent="0" algn="ctr">
              <a:buNone/>
              <a:defRPr sz="1200"/>
            </a:lvl1pPr>
          </a:lstStyle>
          <a:p>
            <a:r>
              <a:rPr lang="de-DE" dirty="0"/>
              <a:t>Bild durch Klicken auf Symbol hinzufügen</a:t>
            </a:r>
            <a:endParaRPr lang="en-US" dirty="0"/>
          </a:p>
        </p:txBody>
      </p:sp>
      <p:sp>
        <p:nvSpPr>
          <p:cNvPr id="19" name="Textplatzhalter 10"/>
          <p:cNvSpPr>
            <a:spLocks noGrp="1"/>
          </p:cNvSpPr>
          <p:nvPr>
            <p:ph type="body" sz="quarter" idx="21" hasCustomPrompt="1"/>
          </p:nvPr>
        </p:nvSpPr>
        <p:spPr>
          <a:xfrm>
            <a:off x="6433218" y="2893320"/>
            <a:ext cx="2160000" cy="226800"/>
          </a:xfrm>
        </p:spPr>
        <p:txBody>
          <a:bodyPr/>
          <a:lstStyle>
            <a:lvl1pPr marL="0" indent="0">
              <a:buNone/>
              <a:defRPr sz="1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20" name="Textplatzhalter 10"/>
          <p:cNvSpPr>
            <a:spLocks noGrp="1"/>
          </p:cNvSpPr>
          <p:nvPr>
            <p:ph type="body" sz="quarter" idx="22" hasCustomPrompt="1"/>
          </p:nvPr>
        </p:nvSpPr>
        <p:spPr>
          <a:xfrm>
            <a:off x="6433218" y="3240001"/>
            <a:ext cx="2160000" cy="1130805"/>
          </a:xfrm>
        </p:spPr>
        <p:txBody>
          <a:bodyPr/>
          <a:lstStyle>
            <a:lvl1pPr marL="0" indent="0">
              <a:spcBef>
                <a:spcPts val="1200"/>
              </a:spcBef>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Institut und Professur</a:t>
            </a:r>
          </a:p>
        </p:txBody>
      </p:sp>
      <p:sp>
        <p:nvSpPr>
          <p:cNvPr id="2" name="Datumsplatzhalter 1">
            <a:extLst>
              <a:ext uri="{FF2B5EF4-FFF2-40B4-BE49-F238E27FC236}">
                <a16:creationId xmlns:a16="http://schemas.microsoft.com/office/drawing/2014/main" id="{B5737E52-6A3C-46DC-946E-C8C9351FA4CA}"/>
              </a:ext>
              <a:ext uri="{C183D7F6-B498-43B3-948B-1728B52AA6E4}">
                <adec:decorative xmlns:adec="http://schemas.microsoft.com/office/drawing/2017/decorative" val="1"/>
              </a:ext>
            </a:extLst>
          </p:cNvPr>
          <p:cNvSpPr>
            <a:spLocks noGrp="1"/>
          </p:cNvSpPr>
          <p:nvPr>
            <p:ph type="dt" sz="half" idx="24"/>
          </p:nvPr>
        </p:nvSpPr>
        <p:spPr/>
        <p:txBody>
          <a:bodyPr/>
          <a:lstStyle/>
          <a:p>
            <a:r>
              <a:rPr lang="de-DE"/>
              <a:t>08/20/2020</a:t>
            </a:r>
            <a:endParaRPr lang="en-US" dirty="0"/>
          </a:p>
        </p:txBody>
      </p:sp>
      <p:sp>
        <p:nvSpPr>
          <p:cNvPr id="7" name="Fußzeilenplatzhalter 6">
            <a:extLst>
              <a:ext uri="{FF2B5EF4-FFF2-40B4-BE49-F238E27FC236}">
                <a16:creationId xmlns:a16="http://schemas.microsoft.com/office/drawing/2014/main" id="{F045F5D0-F689-442E-B9D8-1F4BAD70A0FF}"/>
              </a:ext>
              <a:ext uri="{C183D7F6-B498-43B3-948B-1728B52AA6E4}">
                <adec:decorative xmlns:adec="http://schemas.microsoft.com/office/drawing/2017/decorative" val="1"/>
              </a:ext>
            </a:extLst>
          </p:cNvPr>
          <p:cNvSpPr>
            <a:spLocks noGrp="1"/>
          </p:cNvSpPr>
          <p:nvPr>
            <p:ph type="ftr" sz="quarter" idx="25"/>
          </p:nvPr>
        </p:nvSpPr>
        <p:spPr/>
        <p:txBody>
          <a:bodyPr/>
          <a:lstStyle/>
          <a:p>
            <a:r>
              <a:rPr lang="en-US"/>
              <a:t>University of Stuttgart</a:t>
            </a:r>
            <a:endParaRPr lang="en-US" dirty="0"/>
          </a:p>
        </p:txBody>
      </p:sp>
      <p:sp>
        <p:nvSpPr>
          <p:cNvPr id="8" name="Foliennummernplatzhalter 7">
            <a:extLst>
              <a:ext uri="{FF2B5EF4-FFF2-40B4-BE49-F238E27FC236}">
                <a16:creationId xmlns:a16="http://schemas.microsoft.com/office/drawing/2014/main" id="{FA0B96AE-C8F3-44FA-AE7D-D6C08699149A}"/>
              </a:ext>
              <a:ext uri="{C183D7F6-B498-43B3-948B-1728B52AA6E4}">
                <adec:decorative xmlns:adec="http://schemas.microsoft.com/office/drawing/2017/decorative" val="1"/>
              </a:ext>
            </a:extLst>
          </p:cNvPr>
          <p:cNvSpPr>
            <a:spLocks noGrp="1"/>
          </p:cNvSpPr>
          <p:nvPr>
            <p:ph type="sldNum" sz="quarter" idx="26"/>
          </p:nvPr>
        </p:nvSpPr>
        <p:spPr/>
        <p:txBody>
          <a:bodyPr/>
          <a:lstStyle/>
          <a:p>
            <a:fld id="{9E82CC3C-1DC0-4FDA-9590-6CC506AB67F8}" type="slidenum">
              <a:rPr lang="en-US" smtClean="0"/>
              <a:pPr/>
              <a:t>‹Nr.›</a:t>
            </a:fld>
            <a:endParaRPr lang="en-US" dirty="0"/>
          </a:p>
        </p:txBody>
      </p:sp>
    </p:spTree>
    <p:extLst>
      <p:ext uri="{BB962C8B-B14F-4D97-AF65-F5344CB8AC3E}">
        <p14:creationId xmlns:p14="http://schemas.microsoft.com/office/powerpoint/2010/main" val="25978097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 Personen">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300D522C-4936-4859-8D4D-0C55FD55D08F}"/>
              </a:ext>
            </a:extLst>
          </p:cNvPr>
          <p:cNvSpPr>
            <a:spLocks noGrp="1"/>
          </p:cNvSpPr>
          <p:nvPr>
            <p:ph type="title"/>
          </p:nvPr>
        </p:nvSpPr>
        <p:spPr/>
        <p:txBody>
          <a:bodyPr/>
          <a:lstStyle/>
          <a:p>
            <a:r>
              <a:rPr lang="de-DE"/>
              <a:t>Mastertitelformat bearbeiten</a:t>
            </a:r>
            <a:endParaRPr lang="en-GB"/>
          </a:p>
        </p:txBody>
      </p:sp>
      <p:sp>
        <p:nvSpPr>
          <p:cNvPr id="29" name="Textplatzhalter 7">
            <a:extLst>
              <a:ext uri="{FF2B5EF4-FFF2-40B4-BE49-F238E27FC236}">
                <a16:creationId xmlns:a16="http://schemas.microsoft.com/office/drawing/2014/main" id="{51AA1992-9A0E-4E06-BCFA-97D889E62091}"/>
              </a:ext>
            </a:extLst>
          </p:cNvPr>
          <p:cNvSpPr>
            <a:spLocks noGrp="1"/>
          </p:cNvSpPr>
          <p:nvPr>
            <p:ph type="body" sz="quarter" idx="13" hasCustomPrompt="1"/>
          </p:nvPr>
        </p:nvSpPr>
        <p:spPr>
          <a:xfrm>
            <a:off x="468000" y="576000"/>
            <a:ext cx="8244200" cy="277200"/>
          </a:xfrm>
        </p:spPr>
        <p:txBody>
          <a:bodyPr lIns="0" tIns="0" rIns="0" bIns="0"/>
          <a:lstStyle>
            <a:lvl1pPr marL="0" indent="0">
              <a:buNone/>
              <a:defRPr sz="1800" baseline="0"/>
            </a:lvl1pPr>
          </a:lstStyle>
          <a:p>
            <a:pPr lvl="0"/>
            <a:r>
              <a:rPr lang="de-DE" dirty="0"/>
              <a:t>Untertitel durch Klicken bearbeiten</a:t>
            </a:r>
          </a:p>
        </p:txBody>
      </p:sp>
      <p:sp>
        <p:nvSpPr>
          <p:cNvPr id="9" name="Rechteck 8">
            <a:extLst>
              <a:ext uri="{C183D7F6-B498-43B3-948B-1728B52AA6E4}">
                <adec:decorative xmlns:adec="http://schemas.microsoft.com/office/drawing/2017/decorative" val="1"/>
              </a:ext>
            </a:extLst>
          </p:cNvPr>
          <p:cNvSpPr/>
          <p:nvPr userDrawn="1"/>
        </p:nvSpPr>
        <p:spPr>
          <a:xfrm>
            <a:off x="466728" y="2084206"/>
            <a:ext cx="2031501" cy="262590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4" dirty="0"/>
          </a:p>
        </p:txBody>
      </p:sp>
      <p:sp>
        <p:nvSpPr>
          <p:cNvPr id="23" name="Bildplatzhalter 7">
            <a:extLst>
              <a:ext uri="{FF2B5EF4-FFF2-40B4-BE49-F238E27FC236}">
                <a16:creationId xmlns:a16="http://schemas.microsoft.com/office/drawing/2014/main" id="{8148DC21-4CB2-4171-8B0E-7865619CB5BB}"/>
              </a:ext>
              <a:ext uri="{C183D7F6-B498-43B3-948B-1728B52AA6E4}">
                <adec:decorative xmlns:adec="http://schemas.microsoft.com/office/drawing/2017/decorative" val="1"/>
              </a:ext>
            </a:extLst>
          </p:cNvPr>
          <p:cNvSpPr>
            <a:spLocks noGrp="1" noChangeAspect="1"/>
          </p:cNvSpPr>
          <p:nvPr>
            <p:ph type="pic" sz="quarter" idx="14"/>
          </p:nvPr>
        </p:nvSpPr>
        <p:spPr>
          <a:xfrm>
            <a:off x="832678" y="1287711"/>
            <a:ext cx="1299600" cy="1299600"/>
          </a:xfrm>
          <a:prstGeom prst="ellipse">
            <a:avLst/>
          </a:prstGeom>
          <a:solidFill>
            <a:schemeClr val="bg1">
              <a:lumMod val="95000"/>
            </a:schemeClr>
          </a:solidFill>
        </p:spPr>
        <p:txBody>
          <a:bodyPr tIns="0"/>
          <a:lstStyle>
            <a:lvl1pPr marL="0" indent="0" algn="ctr">
              <a:buNone/>
              <a:defRPr sz="1200"/>
            </a:lvl1pPr>
          </a:lstStyle>
          <a:p>
            <a:r>
              <a:rPr lang="de-DE" dirty="0"/>
              <a:t>Bild durch Klicken auf Symbol hinzufügen</a:t>
            </a:r>
            <a:endParaRPr lang="en-US" dirty="0"/>
          </a:p>
        </p:txBody>
      </p:sp>
      <p:sp>
        <p:nvSpPr>
          <p:cNvPr id="11" name="Textplatzhalter 10"/>
          <p:cNvSpPr>
            <a:spLocks noGrp="1"/>
          </p:cNvSpPr>
          <p:nvPr>
            <p:ph type="body" sz="quarter" idx="15" hasCustomPrompt="1"/>
          </p:nvPr>
        </p:nvSpPr>
        <p:spPr>
          <a:xfrm>
            <a:off x="669981" y="2753398"/>
            <a:ext cx="1624994" cy="366998"/>
          </a:xfrm>
        </p:spPr>
        <p:txBody>
          <a:bodyPr/>
          <a:lstStyle>
            <a:lvl1pPr marL="0" indent="0">
              <a:buNone/>
              <a:defRPr sz="1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12" name="Textplatzhalter 10"/>
          <p:cNvSpPr>
            <a:spLocks noGrp="1"/>
          </p:cNvSpPr>
          <p:nvPr>
            <p:ph type="body" sz="quarter" idx="16" hasCustomPrompt="1"/>
          </p:nvPr>
        </p:nvSpPr>
        <p:spPr>
          <a:xfrm>
            <a:off x="669981" y="3288873"/>
            <a:ext cx="1624994" cy="1293065"/>
          </a:xfrm>
        </p:spPr>
        <p:txBody>
          <a:bodyPr/>
          <a:lstStyle>
            <a:lvl1pPr marL="0" indent="0">
              <a:spcBef>
                <a:spcPts val="1200"/>
              </a:spcBef>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Institut und Professur</a:t>
            </a:r>
          </a:p>
        </p:txBody>
      </p:sp>
      <p:sp>
        <p:nvSpPr>
          <p:cNvPr id="24" name="Rechteck 23">
            <a:extLst>
              <a:ext uri="{C183D7F6-B498-43B3-948B-1728B52AA6E4}">
                <adec:decorative xmlns:adec="http://schemas.microsoft.com/office/drawing/2017/decorative" val="1"/>
              </a:ext>
            </a:extLst>
          </p:cNvPr>
          <p:cNvSpPr/>
          <p:nvPr userDrawn="1"/>
        </p:nvSpPr>
        <p:spPr>
          <a:xfrm>
            <a:off x="2556630" y="2084206"/>
            <a:ext cx="2016000" cy="262590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4" dirty="0"/>
          </a:p>
        </p:txBody>
      </p:sp>
      <p:sp>
        <p:nvSpPr>
          <p:cNvPr id="37" name="Bildplatzhalter 7">
            <a:extLst>
              <a:ext uri="{FF2B5EF4-FFF2-40B4-BE49-F238E27FC236}">
                <a16:creationId xmlns:a16="http://schemas.microsoft.com/office/drawing/2014/main" id="{515DA547-D380-4DDE-8F77-C8902B702291}"/>
              </a:ext>
              <a:ext uri="{C183D7F6-B498-43B3-948B-1728B52AA6E4}">
                <adec:decorative xmlns:adec="http://schemas.microsoft.com/office/drawing/2017/decorative" val="1"/>
              </a:ext>
            </a:extLst>
          </p:cNvPr>
          <p:cNvSpPr>
            <a:spLocks noGrp="1" noChangeAspect="1"/>
          </p:cNvSpPr>
          <p:nvPr>
            <p:ph type="pic" sz="quarter" idx="26"/>
          </p:nvPr>
        </p:nvSpPr>
        <p:spPr>
          <a:xfrm>
            <a:off x="2914830" y="1287711"/>
            <a:ext cx="1299600" cy="1299600"/>
          </a:xfrm>
          <a:prstGeom prst="ellipse">
            <a:avLst/>
          </a:prstGeom>
          <a:solidFill>
            <a:schemeClr val="bg1">
              <a:lumMod val="95000"/>
            </a:schemeClr>
          </a:solidFill>
        </p:spPr>
        <p:txBody>
          <a:bodyPr tIns="0"/>
          <a:lstStyle>
            <a:lvl1pPr marL="0" indent="0" algn="ctr">
              <a:buNone/>
              <a:defRPr sz="1200"/>
            </a:lvl1pPr>
          </a:lstStyle>
          <a:p>
            <a:r>
              <a:rPr lang="de-DE" dirty="0"/>
              <a:t>Bild durch Klicken auf Symbol hinzufügen</a:t>
            </a:r>
            <a:endParaRPr lang="en-US" dirty="0"/>
          </a:p>
        </p:txBody>
      </p:sp>
      <p:sp>
        <p:nvSpPr>
          <p:cNvPr id="26" name="Textplatzhalter 10"/>
          <p:cNvSpPr>
            <a:spLocks noGrp="1"/>
          </p:cNvSpPr>
          <p:nvPr>
            <p:ph type="body" sz="quarter" idx="18" hasCustomPrompt="1"/>
          </p:nvPr>
        </p:nvSpPr>
        <p:spPr>
          <a:xfrm>
            <a:off x="2752133" y="2753398"/>
            <a:ext cx="1624994" cy="366998"/>
          </a:xfrm>
        </p:spPr>
        <p:txBody>
          <a:bodyPr/>
          <a:lstStyle>
            <a:lvl1pPr marL="0" indent="0">
              <a:buNone/>
              <a:defRPr sz="1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27" name="Textplatzhalter 10"/>
          <p:cNvSpPr>
            <a:spLocks noGrp="1"/>
          </p:cNvSpPr>
          <p:nvPr>
            <p:ph type="body" sz="quarter" idx="19" hasCustomPrompt="1"/>
          </p:nvPr>
        </p:nvSpPr>
        <p:spPr>
          <a:xfrm>
            <a:off x="2752133" y="3288873"/>
            <a:ext cx="1624994" cy="1293065"/>
          </a:xfrm>
        </p:spPr>
        <p:txBody>
          <a:bodyPr/>
          <a:lstStyle>
            <a:lvl1pPr marL="0" indent="0">
              <a:spcBef>
                <a:spcPts val="1200"/>
              </a:spcBef>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Institut und Professur</a:t>
            </a:r>
          </a:p>
        </p:txBody>
      </p:sp>
      <p:sp>
        <p:nvSpPr>
          <p:cNvPr id="28" name="Rechteck 27">
            <a:extLst>
              <a:ext uri="{C183D7F6-B498-43B3-948B-1728B52AA6E4}">
                <adec:decorative xmlns:adec="http://schemas.microsoft.com/office/drawing/2017/decorative" val="1"/>
              </a:ext>
            </a:extLst>
          </p:cNvPr>
          <p:cNvSpPr/>
          <p:nvPr userDrawn="1"/>
        </p:nvSpPr>
        <p:spPr>
          <a:xfrm>
            <a:off x="4631031" y="2084206"/>
            <a:ext cx="2016000" cy="262590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4" dirty="0"/>
          </a:p>
        </p:txBody>
      </p:sp>
      <p:sp>
        <p:nvSpPr>
          <p:cNvPr id="38" name="Bildplatzhalter 7">
            <a:extLst>
              <a:ext uri="{FF2B5EF4-FFF2-40B4-BE49-F238E27FC236}">
                <a16:creationId xmlns:a16="http://schemas.microsoft.com/office/drawing/2014/main" id="{27A38D11-8E8E-44F4-9460-58E87F53EFA8}"/>
              </a:ext>
              <a:ext uri="{C183D7F6-B498-43B3-948B-1728B52AA6E4}">
                <adec:decorative xmlns:adec="http://schemas.microsoft.com/office/drawing/2017/decorative" val="1"/>
              </a:ext>
            </a:extLst>
          </p:cNvPr>
          <p:cNvSpPr>
            <a:spLocks noGrp="1" noChangeAspect="1"/>
          </p:cNvSpPr>
          <p:nvPr>
            <p:ph type="pic" sz="quarter" idx="27"/>
          </p:nvPr>
        </p:nvSpPr>
        <p:spPr>
          <a:xfrm>
            <a:off x="4989231" y="1287711"/>
            <a:ext cx="1299600" cy="1299600"/>
          </a:xfrm>
          <a:prstGeom prst="ellipse">
            <a:avLst/>
          </a:prstGeom>
          <a:solidFill>
            <a:schemeClr val="bg1">
              <a:lumMod val="95000"/>
            </a:schemeClr>
          </a:solidFill>
        </p:spPr>
        <p:txBody>
          <a:bodyPr tIns="0"/>
          <a:lstStyle>
            <a:lvl1pPr marL="0" indent="0" algn="ctr">
              <a:buNone/>
              <a:defRPr sz="1200"/>
            </a:lvl1pPr>
          </a:lstStyle>
          <a:p>
            <a:r>
              <a:rPr lang="de-DE" dirty="0"/>
              <a:t>Bild durch Klicken auf Symbol hinzufügen</a:t>
            </a:r>
            <a:endParaRPr lang="en-US" dirty="0"/>
          </a:p>
        </p:txBody>
      </p:sp>
      <p:sp>
        <p:nvSpPr>
          <p:cNvPr id="30" name="Textplatzhalter 10"/>
          <p:cNvSpPr>
            <a:spLocks noGrp="1"/>
          </p:cNvSpPr>
          <p:nvPr>
            <p:ph type="body" sz="quarter" idx="21" hasCustomPrompt="1"/>
          </p:nvPr>
        </p:nvSpPr>
        <p:spPr>
          <a:xfrm>
            <a:off x="4826534" y="2753398"/>
            <a:ext cx="1624994" cy="366998"/>
          </a:xfrm>
        </p:spPr>
        <p:txBody>
          <a:bodyPr/>
          <a:lstStyle>
            <a:lvl1pPr marL="0" indent="0">
              <a:buNone/>
              <a:defRPr sz="1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31" name="Textplatzhalter 10"/>
          <p:cNvSpPr>
            <a:spLocks noGrp="1"/>
          </p:cNvSpPr>
          <p:nvPr>
            <p:ph type="body" sz="quarter" idx="22" hasCustomPrompt="1"/>
          </p:nvPr>
        </p:nvSpPr>
        <p:spPr>
          <a:xfrm>
            <a:off x="4826534" y="3288873"/>
            <a:ext cx="1624994" cy="1293065"/>
          </a:xfrm>
        </p:spPr>
        <p:txBody>
          <a:bodyPr/>
          <a:lstStyle>
            <a:lvl1pPr marL="0" indent="0">
              <a:spcBef>
                <a:spcPts val="1200"/>
              </a:spcBef>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Institut und Professur</a:t>
            </a:r>
          </a:p>
        </p:txBody>
      </p:sp>
      <p:sp>
        <p:nvSpPr>
          <p:cNvPr id="32" name="Rechteck 31">
            <a:extLst>
              <a:ext uri="{C183D7F6-B498-43B3-948B-1728B52AA6E4}">
                <adec:decorative xmlns:adec="http://schemas.microsoft.com/office/drawing/2017/decorative" val="1"/>
              </a:ext>
            </a:extLst>
          </p:cNvPr>
          <p:cNvSpPr/>
          <p:nvPr userDrawn="1"/>
        </p:nvSpPr>
        <p:spPr>
          <a:xfrm>
            <a:off x="6705432" y="2084206"/>
            <a:ext cx="2016000" cy="262590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4" dirty="0"/>
          </a:p>
        </p:txBody>
      </p:sp>
      <p:sp>
        <p:nvSpPr>
          <p:cNvPr id="39" name="Bildplatzhalter 7">
            <a:extLst>
              <a:ext uri="{FF2B5EF4-FFF2-40B4-BE49-F238E27FC236}">
                <a16:creationId xmlns:a16="http://schemas.microsoft.com/office/drawing/2014/main" id="{F9D0B43C-E1CE-4C97-B82A-2D4CC82B3CB1}"/>
              </a:ext>
              <a:ext uri="{C183D7F6-B498-43B3-948B-1728B52AA6E4}">
                <adec:decorative xmlns:adec="http://schemas.microsoft.com/office/drawing/2017/decorative" val="1"/>
              </a:ext>
            </a:extLst>
          </p:cNvPr>
          <p:cNvSpPr>
            <a:spLocks noGrp="1" noChangeAspect="1"/>
          </p:cNvSpPr>
          <p:nvPr>
            <p:ph type="pic" sz="quarter" idx="28"/>
          </p:nvPr>
        </p:nvSpPr>
        <p:spPr>
          <a:xfrm>
            <a:off x="7063632" y="1287711"/>
            <a:ext cx="1299600" cy="1299600"/>
          </a:xfrm>
          <a:prstGeom prst="ellipse">
            <a:avLst/>
          </a:prstGeom>
          <a:solidFill>
            <a:schemeClr val="bg1">
              <a:lumMod val="95000"/>
            </a:schemeClr>
          </a:solidFill>
        </p:spPr>
        <p:txBody>
          <a:bodyPr tIns="0"/>
          <a:lstStyle>
            <a:lvl1pPr marL="0" indent="0" algn="ctr">
              <a:buNone/>
              <a:defRPr sz="1200"/>
            </a:lvl1pPr>
          </a:lstStyle>
          <a:p>
            <a:r>
              <a:rPr lang="de-DE" dirty="0"/>
              <a:t>Bild durch Klicken auf Symbol hinzufügen</a:t>
            </a:r>
            <a:endParaRPr lang="en-US" dirty="0"/>
          </a:p>
        </p:txBody>
      </p:sp>
      <p:sp>
        <p:nvSpPr>
          <p:cNvPr id="34" name="Textplatzhalter 10"/>
          <p:cNvSpPr>
            <a:spLocks noGrp="1"/>
          </p:cNvSpPr>
          <p:nvPr>
            <p:ph type="body" sz="quarter" idx="24" hasCustomPrompt="1"/>
          </p:nvPr>
        </p:nvSpPr>
        <p:spPr>
          <a:xfrm>
            <a:off x="6900935" y="2753398"/>
            <a:ext cx="1624994" cy="366998"/>
          </a:xfrm>
        </p:spPr>
        <p:txBody>
          <a:bodyPr/>
          <a:lstStyle>
            <a:lvl1pPr marL="0" indent="0">
              <a:buNone/>
              <a:defRPr sz="1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35" name="Textplatzhalter 10"/>
          <p:cNvSpPr>
            <a:spLocks noGrp="1"/>
          </p:cNvSpPr>
          <p:nvPr>
            <p:ph type="body" sz="quarter" idx="25" hasCustomPrompt="1"/>
          </p:nvPr>
        </p:nvSpPr>
        <p:spPr>
          <a:xfrm>
            <a:off x="6900935" y="3288873"/>
            <a:ext cx="1624994" cy="1293065"/>
          </a:xfrm>
        </p:spPr>
        <p:txBody>
          <a:bodyPr/>
          <a:lstStyle>
            <a:lvl1pPr marL="0" indent="0">
              <a:spcBef>
                <a:spcPts val="1200"/>
              </a:spcBef>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Institut und Professur</a:t>
            </a:r>
          </a:p>
        </p:txBody>
      </p:sp>
      <p:sp>
        <p:nvSpPr>
          <p:cNvPr id="2" name="Datumsplatzhalter 1">
            <a:extLst>
              <a:ext uri="{FF2B5EF4-FFF2-40B4-BE49-F238E27FC236}">
                <a16:creationId xmlns:a16="http://schemas.microsoft.com/office/drawing/2014/main" id="{59D2061A-F7B9-4066-8B32-A1C3482EF45F}"/>
              </a:ext>
              <a:ext uri="{C183D7F6-B498-43B3-948B-1728B52AA6E4}">
                <adec:decorative xmlns:adec="http://schemas.microsoft.com/office/drawing/2017/decorative" val="1"/>
              </a:ext>
            </a:extLst>
          </p:cNvPr>
          <p:cNvSpPr>
            <a:spLocks noGrp="1"/>
          </p:cNvSpPr>
          <p:nvPr>
            <p:ph type="dt" sz="half" idx="29"/>
          </p:nvPr>
        </p:nvSpPr>
        <p:spPr/>
        <p:txBody>
          <a:bodyPr/>
          <a:lstStyle/>
          <a:p>
            <a:r>
              <a:rPr lang="de-DE"/>
              <a:t>08/20/2020</a:t>
            </a:r>
            <a:endParaRPr lang="en-US" dirty="0"/>
          </a:p>
        </p:txBody>
      </p:sp>
      <p:sp>
        <p:nvSpPr>
          <p:cNvPr id="7" name="Fußzeilenplatzhalter 6">
            <a:extLst>
              <a:ext uri="{FF2B5EF4-FFF2-40B4-BE49-F238E27FC236}">
                <a16:creationId xmlns:a16="http://schemas.microsoft.com/office/drawing/2014/main" id="{03FA1FEC-5452-4CA7-AC29-AAC289A6BF9A}"/>
              </a:ext>
              <a:ext uri="{C183D7F6-B498-43B3-948B-1728B52AA6E4}">
                <adec:decorative xmlns:adec="http://schemas.microsoft.com/office/drawing/2017/decorative" val="1"/>
              </a:ext>
            </a:extLst>
          </p:cNvPr>
          <p:cNvSpPr>
            <a:spLocks noGrp="1"/>
          </p:cNvSpPr>
          <p:nvPr>
            <p:ph type="ftr" sz="quarter" idx="30"/>
          </p:nvPr>
        </p:nvSpPr>
        <p:spPr/>
        <p:txBody>
          <a:bodyPr/>
          <a:lstStyle/>
          <a:p>
            <a:r>
              <a:rPr lang="en-US"/>
              <a:t>University of Stuttgart</a:t>
            </a:r>
            <a:endParaRPr lang="en-US" dirty="0"/>
          </a:p>
        </p:txBody>
      </p:sp>
      <p:sp>
        <p:nvSpPr>
          <p:cNvPr id="8" name="Foliennummernplatzhalter 7">
            <a:extLst>
              <a:ext uri="{FF2B5EF4-FFF2-40B4-BE49-F238E27FC236}">
                <a16:creationId xmlns:a16="http://schemas.microsoft.com/office/drawing/2014/main" id="{2FF134CF-6C49-4AA3-AF75-2A80F4C02FB0}"/>
              </a:ext>
              <a:ext uri="{C183D7F6-B498-43B3-948B-1728B52AA6E4}">
                <adec:decorative xmlns:adec="http://schemas.microsoft.com/office/drawing/2017/decorative" val="1"/>
              </a:ext>
            </a:extLst>
          </p:cNvPr>
          <p:cNvSpPr>
            <a:spLocks noGrp="1"/>
          </p:cNvSpPr>
          <p:nvPr>
            <p:ph type="sldNum" sz="quarter" idx="31"/>
          </p:nvPr>
        </p:nvSpPr>
        <p:spPr/>
        <p:txBody>
          <a:bodyPr/>
          <a:lstStyle/>
          <a:p>
            <a:fld id="{9E82CC3C-1DC0-4FDA-9590-6CC506AB67F8}" type="slidenum">
              <a:rPr lang="en-US" smtClean="0"/>
              <a:pPr/>
              <a:t>‹Nr.›</a:t>
            </a:fld>
            <a:endParaRPr lang="en-US" dirty="0"/>
          </a:p>
        </p:txBody>
      </p:sp>
    </p:spTree>
    <p:extLst>
      <p:ext uri="{BB962C8B-B14F-4D97-AF65-F5344CB8AC3E}">
        <p14:creationId xmlns:p14="http://schemas.microsoft.com/office/powerpoint/2010/main" val="40849720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CA6FC187-6C25-4F69-9AFE-1DD17195077A}"/>
              </a:ext>
            </a:extLst>
          </p:cNvPr>
          <p:cNvSpPr>
            <a:spLocks noGrp="1"/>
          </p:cNvSpPr>
          <p:nvPr>
            <p:ph type="title"/>
          </p:nvPr>
        </p:nvSpPr>
        <p:spPr/>
        <p:txBody>
          <a:bodyPr/>
          <a:lstStyle/>
          <a:p>
            <a:r>
              <a:rPr lang="de-DE"/>
              <a:t>Mastertitelformat bearbeiten</a:t>
            </a:r>
            <a:endParaRPr lang="en-GB"/>
          </a:p>
        </p:txBody>
      </p:sp>
      <p:sp>
        <p:nvSpPr>
          <p:cNvPr id="7" name="Textplatzhalter 7">
            <a:extLst>
              <a:ext uri="{FF2B5EF4-FFF2-40B4-BE49-F238E27FC236}">
                <a16:creationId xmlns:a16="http://schemas.microsoft.com/office/drawing/2014/main" id="{6B0B00BC-A6AE-499E-84DC-2DAD144AC366}"/>
              </a:ext>
            </a:extLst>
          </p:cNvPr>
          <p:cNvSpPr>
            <a:spLocks noGrp="1"/>
          </p:cNvSpPr>
          <p:nvPr>
            <p:ph type="body" sz="quarter" idx="13" hasCustomPrompt="1"/>
          </p:nvPr>
        </p:nvSpPr>
        <p:spPr>
          <a:xfrm>
            <a:off x="468000" y="576000"/>
            <a:ext cx="8244200" cy="277200"/>
          </a:xfrm>
        </p:spPr>
        <p:txBody>
          <a:bodyPr lIns="0" tIns="0" rIns="0" bIns="0"/>
          <a:lstStyle>
            <a:lvl1pPr marL="0" indent="0">
              <a:buNone/>
              <a:defRPr sz="1800" baseline="0"/>
            </a:lvl1pPr>
          </a:lstStyle>
          <a:p>
            <a:pPr lvl="0"/>
            <a:r>
              <a:rPr lang="de-DE" dirty="0"/>
              <a:t>Untertitel durch Klicken bearbeiten</a:t>
            </a:r>
          </a:p>
        </p:txBody>
      </p:sp>
      <p:sp>
        <p:nvSpPr>
          <p:cNvPr id="2" name="Datumsplatzhalter 1">
            <a:extLst>
              <a:ext uri="{FF2B5EF4-FFF2-40B4-BE49-F238E27FC236}">
                <a16:creationId xmlns:a16="http://schemas.microsoft.com/office/drawing/2014/main" id="{F5C91D90-14FB-4048-90C7-46ECAAC1A854}"/>
              </a:ext>
              <a:ext uri="{C183D7F6-B498-43B3-948B-1728B52AA6E4}">
                <adec:decorative xmlns:adec="http://schemas.microsoft.com/office/drawing/2017/decorative" val="1"/>
              </a:ext>
            </a:extLst>
          </p:cNvPr>
          <p:cNvSpPr>
            <a:spLocks noGrp="1"/>
          </p:cNvSpPr>
          <p:nvPr>
            <p:ph type="dt" sz="half" idx="14"/>
          </p:nvPr>
        </p:nvSpPr>
        <p:spPr/>
        <p:txBody>
          <a:bodyPr/>
          <a:lstStyle/>
          <a:p>
            <a:r>
              <a:rPr lang="de-DE"/>
              <a:t>08/20/2020</a:t>
            </a:r>
            <a:endParaRPr lang="en-US" dirty="0"/>
          </a:p>
        </p:txBody>
      </p:sp>
      <p:sp>
        <p:nvSpPr>
          <p:cNvPr id="8" name="Fußzeilenplatzhalter 7">
            <a:extLst>
              <a:ext uri="{FF2B5EF4-FFF2-40B4-BE49-F238E27FC236}">
                <a16:creationId xmlns:a16="http://schemas.microsoft.com/office/drawing/2014/main" id="{76EB3F55-4D9D-4868-AB1E-72DEFF73228D}"/>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University of Stuttgart</a:t>
            </a:r>
            <a:endParaRPr lang="en-US" dirty="0"/>
          </a:p>
        </p:txBody>
      </p:sp>
      <p:sp>
        <p:nvSpPr>
          <p:cNvPr id="9" name="Foliennummernplatzhalter 8">
            <a:extLst>
              <a:ext uri="{FF2B5EF4-FFF2-40B4-BE49-F238E27FC236}">
                <a16:creationId xmlns:a16="http://schemas.microsoft.com/office/drawing/2014/main" id="{3F23070B-2BFB-4265-B171-72C9AFED1F2B}"/>
              </a:ext>
              <a:ext uri="{C183D7F6-B498-43B3-948B-1728B52AA6E4}">
                <adec:decorative xmlns:adec="http://schemas.microsoft.com/office/drawing/2017/decorative" val="1"/>
              </a:ext>
            </a:extLst>
          </p:cNvPr>
          <p:cNvSpPr>
            <a:spLocks noGrp="1"/>
          </p:cNvSpPr>
          <p:nvPr>
            <p:ph type="sldNum" sz="quarter" idx="16"/>
          </p:nvPr>
        </p:nvSpPr>
        <p:spPr/>
        <p:txBody>
          <a:bodyPr/>
          <a:lstStyle/>
          <a:p>
            <a:fld id="{9E82CC3C-1DC0-4FDA-9590-6CC506AB67F8}" type="slidenum">
              <a:rPr lang="en-US" smtClean="0"/>
              <a:pPr/>
              <a:t>‹Nr.›</a:t>
            </a:fld>
            <a:endParaRPr lang="en-US" dirty="0"/>
          </a:p>
        </p:txBody>
      </p:sp>
    </p:spTree>
    <p:extLst>
      <p:ext uri="{BB962C8B-B14F-4D97-AF65-F5344CB8AC3E}">
        <p14:creationId xmlns:p14="http://schemas.microsoft.com/office/powerpoint/2010/main" val="6965125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5" name="Datumsplatzhalter 4">
            <a:extLst>
              <a:ext uri="{FF2B5EF4-FFF2-40B4-BE49-F238E27FC236}">
                <a16:creationId xmlns:a16="http://schemas.microsoft.com/office/drawing/2014/main" id="{8EB4CBF2-CB08-4260-9880-58E2CB8136E3}"/>
              </a:ext>
              <a:ext uri="{C183D7F6-B498-43B3-948B-1728B52AA6E4}">
                <adec:decorative xmlns:adec="http://schemas.microsoft.com/office/drawing/2017/decorative" val="1"/>
              </a:ext>
            </a:extLst>
          </p:cNvPr>
          <p:cNvSpPr>
            <a:spLocks noGrp="1"/>
          </p:cNvSpPr>
          <p:nvPr>
            <p:ph type="dt" sz="half" idx="10"/>
          </p:nvPr>
        </p:nvSpPr>
        <p:spPr/>
        <p:txBody>
          <a:bodyPr/>
          <a:lstStyle/>
          <a:p>
            <a:r>
              <a:rPr lang="de-DE"/>
              <a:t>08/20/2020</a:t>
            </a:r>
            <a:endParaRPr lang="en-US" dirty="0"/>
          </a:p>
        </p:txBody>
      </p:sp>
      <p:sp>
        <p:nvSpPr>
          <p:cNvPr id="6" name="Fußzeilenplatzhalter 5">
            <a:extLst>
              <a:ext uri="{FF2B5EF4-FFF2-40B4-BE49-F238E27FC236}">
                <a16:creationId xmlns:a16="http://schemas.microsoft.com/office/drawing/2014/main" id="{506F32DB-70F8-46A0-9893-754D621F6EF8}"/>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University of Stuttgart</a:t>
            </a:r>
            <a:endParaRPr lang="en-US" dirty="0"/>
          </a:p>
        </p:txBody>
      </p:sp>
      <p:sp>
        <p:nvSpPr>
          <p:cNvPr id="7" name="Foliennummernplatzhalter 6">
            <a:extLst>
              <a:ext uri="{FF2B5EF4-FFF2-40B4-BE49-F238E27FC236}">
                <a16:creationId xmlns:a16="http://schemas.microsoft.com/office/drawing/2014/main" id="{1E68AB4C-9B2E-45E8-ADE4-94712E4C94CE}"/>
              </a:ext>
              <a:ext uri="{C183D7F6-B498-43B3-948B-1728B52AA6E4}">
                <adec:decorative xmlns:adec="http://schemas.microsoft.com/office/drawing/2017/decorative" val="1"/>
              </a:ext>
            </a:extLst>
          </p:cNvPr>
          <p:cNvSpPr>
            <a:spLocks noGrp="1"/>
          </p:cNvSpPr>
          <p:nvPr>
            <p:ph type="sldNum" sz="quarter" idx="12"/>
          </p:nvPr>
        </p:nvSpPr>
        <p:spPr/>
        <p:txBody>
          <a:bodyPr/>
          <a:lstStyle/>
          <a:p>
            <a:fld id="{9E82CC3C-1DC0-4FDA-9590-6CC506AB67F8}" type="slidenum">
              <a:rPr lang="en-US" smtClean="0"/>
              <a:pPr/>
              <a:t>‹Nr.›</a:t>
            </a:fld>
            <a:endParaRPr lang="en-US" dirty="0"/>
          </a:p>
        </p:txBody>
      </p:sp>
    </p:spTree>
    <p:extLst>
      <p:ext uri="{BB962C8B-B14F-4D97-AF65-F5344CB8AC3E}">
        <p14:creationId xmlns:p14="http://schemas.microsoft.com/office/powerpoint/2010/main" val="113024922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chlussfolie">
    <p:spTree>
      <p:nvGrpSpPr>
        <p:cNvPr id="1" name=""/>
        <p:cNvGrpSpPr/>
        <p:nvPr/>
      </p:nvGrpSpPr>
      <p:grpSpPr>
        <a:xfrm>
          <a:off x="0" y="0"/>
          <a:ext cx="0" cy="0"/>
          <a:chOff x="0" y="0"/>
          <a:chExt cx="0" cy="0"/>
        </a:xfrm>
      </p:grpSpPr>
      <p:pic>
        <p:nvPicPr>
          <p:cNvPr id="15" name="Grafik 14">
            <a:extLst>
              <a:ext uri="{FF2B5EF4-FFF2-40B4-BE49-F238E27FC236}">
                <a16:creationId xmlns:a16="http://schemas.microsoft.com/office/drawing/2014/main" id="{6A65769C-F1B2-46A8-BE29-7BDA292637F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02988" y="268958"/>
            <a:ext cx="2136071" cy="431998"/>
          </a:xfrm>
          <a:prstGeom prst="rect">
            <a:avLst/>
          </a:prstGeom>
        </p:spPr>
      </p:pic>
      <p:pic>
        <p:nvPicPr>
          <p:cNvPr id="17" name="Grafik 16">
            <a:extLst>
              <a:ext uri="{FF2B5EF4-FFF2-40B4-BE49-F238E27FC236}">
                <a16:creationId xmlns:a16="http://schemas.microsoft.com/office/drawing/2014/main" id="{D336D8DB-9367-4FF1-A5AE-E9BB1F8D0313}"/>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3763" t="1" b="-1"/>
          <a:stretch/>
        </p:blipFill>
        <p:spPr>
          <a:xfrm>
            <a:off x="910588" y="580838"/>
            <a:ext cx="1628471" cy="168351"/>
          </a:xfrm>
          <a:prstGeom prst="rect">
            <a:avLst/>
          </a:prstGeom>
        </p:spPr>
      </p:pic>
      <p:sp>
        <p:nvSpPr>
          <p:cNvPr id="16" name="Textfeld 15"/>
          <p:cNvSpPr txBox="1"/>
          <p:nvPr userDrawn="1"/>
        </p:nvSpPr>
        <p:spPr>
          <a:xfrm>
            <a:off x="396000" y="1360800"/>
            <a:ext cx="2160000" cy="291600"/>
          </a:xfrm>
          <a:prstGeom prst="rect">
            <a:avLst/>
          </a:prstGeom>
        </p:spPr>
        <p:txBody>
          <a:bodyPr vert="horz" lIns="0" tIns="0" rIns="0" bIns="0" rtlCol="0">
            <a:noAutofit/>
          </a:bodyPr>
          <a:lstStyle>
            <a:lvl1pPr lvl="0" indent="0" defTabSz="685800">
              <a:lnSpc>
                <a:spcPct val="120000"/>
              </a:lnSpc>
              <a:spcBef>
                <a:spcPts val="750"/>
              </a:spcBef>
              <a:buClr>
                <a:schemeClr val="accent2"/>
              </a:buClr>
              <a:buFont typeface="Arial" panose="020B0604020202020204" pitchFamily="34" charset="0"/>
              <a:buNone/>
              <a:defRPr sz="1200" b="0">
                <a:solidFill>
                  <a:schemeClr val="tx1">
                    <a:lumMod val="75000"/>
                    <a:lumOff val="25000"/>
                  </a:schemeClr>
                </a:solidFill>
              </a:defRPr>
            </a:lvl1pPr>
            <a:lvl2pPr marL="449263" indent="-273050" defTabSz="685800">
              <a:lnSpc>
                <a:spcPct val="120000"/>
              </a:lnSpc>
              <a:spcBef>
                <a:spcPts val="375"/>
              </a:spcBef>
              <a:buFont typeface="Arial" panose="020B0604020202020204" pitchFamily="34" charset="0"/>
              <a:buChar char="–"/>
              <a:defRPr sz="1800">
                <a:solidFill>
                  <a:schemeClr val="bg1"/>
                </a:solidFill>
              </a:defRPr>
            </a:lvl2pPr>
            <a:lvl3pPr marL="715963" indent="-266700" defTabSz="685800">
              <a:lnSpc>
                <a:spcPct val="120000"/>
              </a:lnSpc>
              <a:spcBef>
                <a:spcPts val="375"/>
              </a:spcBef>
              <a:buFont typeface="Arial" panose="020B0604020202020204" pitchFamily="34" charset="0"/>
              <a:buChar char="–"/>
              <a:defRPr sz="1800">
                <a:solidFill>
                  <a:schemeClr val="bg1"/>
                </a:solidFill>
              </a:defRPr>
            </a:lvl3pPr>
            <a:lvl4pPr marL="987425" indent="-271463" defTabSz="685800">
              <a:lnSpc>
                <a:spcPct val="120000"/>
              </a:lnSpc>
              <a:spcBef>
                <a:spcPts val="375"/>
              </a:spcBef>
              <a:buFont typeface="Arial" panose="020B0604020202020204" pitchFamily="34" charset="0"/>
              <a:buChar char="–"/>
              <a:defRPr sz="1800">
                <a:solidFill>
                  <a:schemeClr val="bg1"/>
                </a:solidFill>
              </a:defRPr>
            </a:lvl4pPr>
            <a:lvl5pPr marL="1254125" indent="-266700" defTabSz="685800">
              <a:lnSpc>
                <a:spcPct val="120000"/>
              </a:lnSpc>
              <a:spcBef>
                <a:spcPts val="375"/>
              </a:spcBef>
              <a:buFont typeface="Arial" panose="020B0604020202020204" pitchFamily="34" charset="0"/>
              <a:buChar char="–"/>
              <a:defRPr sz="1800">
                <a:solidFill>
                  <a:schemeClr val="bg1"/>
                </a:solidFill>
              </a:defRPr>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lvl="0">
              <a:spcBef>
                <a:spcPts val="200"/>
              </a:spcBef>
              <a:spcAft>
                <a:spcPts val="0"/>
              </a:spcAft>
              <a:tabLst>
                <a:tab pos="541332" algn="l"/>
              </a:tabLst>
            </a:pPr>
            <a:r>
              <a:rPr lang="de-DE" sz="2000" b="1" dirty="0" err="1">
                <a:solidFill>
                  <a:schemeClr val="tx1"/>
                </a:solidFill>
              </a:rPr>
              <a:t>Thank</a:t>
            </a:r>
            <a:r>
              <a:rPr lang="de-DE" sz="2000" b="1" dirty="0">
                <a:solidFill>
                  <a:schemeClr val="tx1"/>
                </a:solidFill>
              </a:rPr>
              <a:t> </a:t>
            </a:r>
            <a:r>
              <a:rPr lang="de-DE" sz="2000" b="1" dirty="0" err="1">
                <a:solidFill>
                  <a:schemeClr val="tx1"/>
                </a:solidFill>
              </a:rPr>
              <a:t>you</a:t>
            </a:r>
            <a:r>
              <a:rPr lang="de-DE" sz="2000" b="1" dirty="0">
                <a:solidFill>
                  <a:schemeClr val="tx1"/>
                </a:solidFill>
              </a:rPr>
              <a:t>!</a:t>
            </a:r>
          </a:p>
        </p:txBody>
      </p:sp>
      <p:sp>
        <p:nvSpPr>
          <p:cNvPr id="6" name="Bildplatzhalter 7">
            <a:extLst>
              <a:ext uri="{C183D7F6-B498-43B3-948B-1728B52AA6E4}">
                <adec:decorative xmlns:adec="http://schemas.microsoft.com/office/drawing/2017/decorative" val="1"/>
              </a:ext>
            </a:extLst>
          </p:cNvPr>
          <p:cNvSpPr>
            <a:spLocks noGrp="1"/>
          </p:cNvSpPr>
          <p:nvPr>
            <p:ph type="pic" sz="quarter" idx="14"/>
          </p:nvPr>
        </p:nvSpPr>
        <p:spPr>
          <a:xfrm>
            <a:off x="410400" y="1911600"/>
            <a:ext cx="1440000" cy="1440000"/>
          </a:xfrm>
          <a:prstGeom prst="ellipse">
            <a:avLst/>
          </a:prstGeom>
          <a:solidFill>
            <a:schemeClr val="bg1">
              <a:lumMod val="95000"/>
            </a:schemeClr>
          </a:solidFill>
        </p:spPr>
        <p:txBody>
          <a:bodyPr tIns="0"/>
          <a:lstStyle>
            <a:lvl1pPr marL="0" indent="0" algn="ctr">
              <a:buNone/>
              <a:defRPr sz="1200"/>
            </a:lvl1pPr>
          </a:lstStyle>
          <a:p>
            <a:r>
              <a:rPr lang="de-DE" dirty="0"/>
              <a:t>Bild durch Klicken auf Symbol hinzufügen</a:t>
            </a:r>
            <a:endParaRPr lang="en-US" dirty="0"/>
          </a:p>
        </p:txBody>
      </p:sp>
      <p:sp>
        <p:nvSpPr>
          <p:cNvPr id="19" name="Textplatzhalter 10"/>
          <p:cNvSpPr>
            <a:spLocks noGrp="1"/>
          </p:cNvSpPr>
          <p:nvPr>
            <p:ph type="body" sz="quarter" idx="15" hasCustomPrompt="1"/>
          </p:nvPr>
        </p:nvSpPr>
        <p:spPr>
          <a:xfrm>
            <a:off x="2174400" y="2093040"/>
            <a:ext cx="3290054" cy="194400"/>
          </a:xfrm>
        </p:spPr>
        <p:txBody>
          <a:bodyPr/>
          <a:lstStyle>
            <a:lvl1pPr marL="0" indent="0">
              <a:buNone/>
              <a:defRPr sz="1200" b="1">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26" name="E-Mail">
            <a:extLst>
              <a:ext uri="{FF2B5EF4-FFF2-40B4-BE49-F238E27FC236}">
                <a16:creationId xmlns:a16="http://schemas.microsoft.com/office/drawing/2014/main" id="{3F6E91DA-4315-4842-8A73-EF9BF09F6867}"/>
              </a:ext>
            </a:extLst>
          </p:cNvPr>
          <p:cNvSpPr>
            <a:spLocks noGrp="1"/>
          </p:cNvSpPr>
          <p:nvPr>
            <p:ph type="body" sz="quarter" idx="31" hasCustomPrompt="1"/>
          </p:nvPr>
        </p:nvSpPr>
        <p:spPr>
          <a:xfrm>
            <a:off x="2174400" y="2571750"/>
            <a:ext cx="542646" cy="216482"/>
          </a:xfrm>
        </p:spPr>
        <p:txBody>
          <a:bodyPr/>
          <a:lstStyle>
            <a:lvl1pPr>
              <a:buFontTx/>
              <a:buNone/>
              <a:defRPr lang="de-DE" sz="1200" b="0" kern="1200" dirty="0" smtClean="0">
                <a:solidFill>
                  <a:schemeClr val="tx1"/>
                </a:solidFill>
                <a:latin typeface="+mn-lt"/>
                <a:ea typeface="+mn-ea"/>
                <a:cs typeface="+mn-cs"/>
              </a:defRPr>
            </a:lvl1pPr>
            <a:lvl2pPr>
              <a:defRPr lang="de-DE" sz="1200" b="0" kern="1200" dirty="0" smtClean="0">
                <a:solidFill>
                  <a:schemeClr val="tx1"/>
                </a:solidFill>
                <a:latin typeface="+mn-lt"/>
                <a:ea typeface="+mn-ea"/>
                <a:cs typeface="+mn-cs"/>
              </a:defRPr>
            </a:lvl2pPr>
            <a:lvl3pPr>
              <a:defRPr lang="de-DE" sz="1200" b="0" kern="1200" dirty="0" smtClean="0">
                <a:solidFill>
                  <a:schemeClr val="tx1"/>
                </a:solidFill>
                <a:latin typeface="+mn-lt"/>
                <a:ea typeface="+mn-ea"/>
                <a:cs typeface="+mn-cs"/>
              </a:defRPr>
            </a:lvl3pPr>
            <a:lvl4pPr>
              <a:defRPr lang="de-DE" sz="1200" b="0" kern="1200" dirty="0" smtClean="0">
                <a:solidFill>
                  <a:schemeClr val="tx1"/>
                </a:solidFill>
                <a:latin typeface="+mn-lt"/>
                <a:ea typeface="+mn-ea"/>
                <a:cs typeface="+mn-cs"/>
              </a:defRPr>
            </a:lvl4pPr>
            <a:lvl5pPr>
              <a:defRPr lang="de-DE" sz="1200" b="0" kern="1200" dirty="0">
                <a:solidFill>
                  <a:schemeClr val="tx1"/>
                </a:solidFill>
                <a:latin typeface="+mn-lt"/>
                <a:ea typeface="+mn-ea"/>
                <a:cs typeface="+mn-cs"/>
              </a:defRPr>
            </a:lvl5pPr>
          </a:lstStyle>
          <a:p>
            <a:pPr marL="0" lvl="0" indent="0" algn="l" defTabSz="571454" rtl="0" eaLnBrk="1" latinLnBrk="0" hangingPunct="1">
              <a:lnSpc>
                <a:spcPct val="120000"/>
              </a:lnSpc>
              <a:spcBef>
                <a:spcPts val="625"/>
              </a:spcBef>
              <a:buClr>
                <a:schemeClr val="accent1"/>
              </a:buClr>
              <a:buFont typeface="Arial" panose="020B0604020202020204" pitchFamily="34" charset="0"/>
              <a:buNone/>
            </a:pPr>
            <a:r>
              <a:rPr lang="de-DE" dirty="0" err="1"/>
              <a:t>e-mail</a:t>
            </a:r>
            <a:endParaRPr lang="de-DE" dirty="0"/>
          </a:p>
        </p:txBody>
      </p:sp>
      <p:sp>
        <p:nvSpPr>
          <p:cNvPr id="28" name="Email Adresse">
            <a:extLst>
              <a:ext uri="{FF2B5EF4-FFF2-40B4-BE49-F238E27FC236}">
                <a16:creationId xmlns:a16="http://schemas.microsoft.com/office/drawing/2014/main" id="{2E9486C1-A07E-4972-B438-0354636F62C8}"/>
              </a:ext>
            </a:extLst>
          </p:cNvPr>
          <p:cNvSpPr>
            <a:spLocks noGrp="1"/>
          </p:cNvSpPr>
          <p:nvPr>
            <p:ph type="body" sz="quarter" idx="26" hasCustomPrompt="1"/>
          </p:nvPr>
        </p:nvSpPr>
        <p:spPr>
          <a:xfrm>
            <a:off x="2717046" y="2571750"/>
            <a:ext cx="2747409" cy="216000"/>
          </a:xfrm>
        </p:spPr>
        <p:txBody>
          <a:bodyPr/>
          <a:lstStyle>
            <a:lvl1pPr marL="0" indent="0">
              <a:buNone/>
              <a:defRPr sz="12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err="1"/>
              <a:t>enter</a:t>
            </a:r>
            <a:r>
              <a:rPr lang="de-DE" dirty="0"/>
              <a:t> </a:t>
            </a:r>
            <a:r>
              <a:rPr lang="de-DE" dirty="0" err="1"/>
              <a:t>address</a:t>
            </a:r>
            <a:endParaRPr lang="de-DE" dirty="0"/>
          </a:p>
        </p:txBody>
      </p:sp>
      <p:sp>
        <p:nvSpPr>
          <p:cNvPr id="29" name="Telefonnummer">
            <a:extLst>
              <a:ext uri="{FF2B5EF4-FFF2-40B4-BE49-F238E27FC236}">
                <a16:creationId xmlns:a16="http://schemas.microsoft.com/office/drawing/2014/main" id="{3CBB6CEB-664B-42B5-8E61-99712350A32C}"/>
              </a:ext>
            </a:extLst>
          </p:cNvPr>
          <p:cNvSpPr>
            <a:spLocks noGrp="1"/>
          </p:cNvSpPr>
          <p:nvPr>
            <p:ph type="body" sz="quarter" idx="32" hasCustomPrompt="1"/>
          </p:nvPr>
        </p:nvSpPr>
        <p:spPr>
          <a:xfrm>
            <a:off x="2174400" y="2803118"/>
            <a:ext cx="1745931" cy="245786"/>
          </a:xfrm>
        </p:spPr>
        <p:txBody>
          <a:bodyPr wrap="none"/>
          <a:lstStyle>
            <a:lvl1pPr marL="0" indent="0">
              <a:buNone/>
              <a:tabLst>
                <a:tab pos="538163" algn="l"/>
              </a:tabLst>
              <a:defRPr sz="12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lgn="l" defTabSz="571454" rtl="0" eaLnBrk="1" latinLnBrk="0" hangingPunct="1">
              <a:lnSpc>
                <a:spcPct val="120000"/>
              </a:lnSpc>
              <a:spcBef>
                <a:spcPts val="625"/>
              </a:spcBef>
              <a:spcAft>
                <a:spcPts val="0"/>
              </a:spcAft>
              <a:buClr>
                <a:schemeClr val="accent1"/>
              </a:buClr>
              <a:buFont typeface="Arial" panose="020B0604020202020204" pitchFamily="34" charset="0"/>
              <a:buNone/>
              <a:tabLst>
                <a:tab pos="541338" algn="l"/>
              </a:tabLst>
            </a:pPr>
            <a:r>
              <a:rPr lang="de-DE" dirty="0" err="1">
                <a:solidFill>
                  <a:schemeClr val="tx1"/>
                </a:solidFill>
              </a:rPr>
              <a:t>phone</a:t>
            </a:r>
            <a:r>
              <a:rPr lang="de-DE" dirty="0">
                <a:solidFill>
                  <a:schemeClr val="tx1"/>
                </a:solidFill>
              </a:rPr>
              <a:t>	+49 (0) 711 685-</a:t>
            </a:r>
          </a:p>
        </p:txBody>
      </p:sp>
      <p:sp>
        <p:nvSpPr>
          <p:cNvPr id="30" name="Durchwahl">
            <a:extLst>
              <a:ext uri="{FF2B5EF4-FFF2-40B4-BE49-F238E27FC236}">
                <a16:creationId xmlns:a16="http://schemas.microsoft.com/office/drawing/2014/main" id="{1D874AC3-A5E6-4160-B089-7D15670623B6}"/>
              </a:ext>
            </a:extLst>
          </p:cNvPr>
          <p:cNvSpPr>
            <a:spLocks noGrp="1"/>
          </p:cNvSpPr>
          <p:nvPr>
            <p:ph type="body" sz="quarter" idx="23" hasCustomPrompt="1"/>
          </p:nvPr>
        </p:nvSpPr>
        <p:spPr>
          <a:xfrm>
            <a:off x="3861486" y="2803118"/>
            <a:ext cx="649267" cy="245786"/>
          </a:xfrm>
        </p:spPr>
        <p:txBody>
          <a:bodyPr/>
          <a:lstStyle>
            <a:lvl1pPr marL="0" indent="0">
              <a:buNone/>
              <a:defRPr sz="12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a:t>
            </a:r>
          </a:p>
        </p:txBody>
      </p:sp>
      <p:sp>
        <p:nvSpPr>
          <p:cNvPr id="31" name="www">
            <a:extLst>
              <a:ext uri="{FF2B5EF4-FFF2-40B4-BE49-F238E27FC236}">
                <a16:creationId xmlns:a16="http://schemas.microsoft.com/office/drawing/2014/main" id="{2D50EB94-1B6A-4808-869F-07F41859F9C9}"/>
              </a:ext>
            </a:extLst>
          </p:cNvPr>
          <p:cNvSpPr>
            <a:spLocks noGrp="1"/>
          </p:cNvSpPr>
          <p:nvPr>
            <p:ph type="body" sz="quarter" idx="33" hasCustomPrompt="1"/>
          </p:nvPr>
        </p:nvSpPr>
        <p:spPr>
          <a:xfrm>
            <a:off x="2174401" y="3063790"/>
            <a:ext cx="364806" cy="238329"/>
          </a:xfrm>
        </p:spPr>
        <p:txBody>
          <a:bodyPr/>
          <a:lstStyle>
            <a:lvl1pPr marL="0" indent="0">
              <a:buNone/>
              <a:defRPr sz="12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www.</a:t>
            </a:r>
          </a:p>
        </p:txBody>
      </p:sp>
      <p:sp>
        <p:nvSpPr>
          <p:cNvPr id="32" name="Webadresse">
            <a:extLst>
              <a:ext uri="{FF2B5EF4-FFF2-40B4-BE49-F238E27FC236}">
                <a16:creationId xmlns:a16="http://schemas.microsoft.com/office/drawing/2014/main" id="{6E6785CE-8C96-4924-8283-EC51081BD240}"/>
              </a:ext>
            </a:extLst>
          </p:cNvPr>
          <p:cNvSpPr>
            <a:spLocks noGrp="1"/>
          </p:cNvSpPr>
          <p:nvPr>
            <p:ph type="body" sz="quarter" idx="24" hasCustomPrompt="1"/>
          </p:nvPr>
        </p:nvSpPr>
        <p:spPr>
          <a:xfrm>
            <a:off x="2539208" y="3063790"/>
            <a:ext cx="1838323" cy="238329"/>
          </a:xfrm>
        </p:spPr>
        <p:txBody>
          <a:bodyPr/>
          <a:lstStyle>
            <a:lvl1pPr marL="0" indent="0">
              <a:buNone/>
              <a:defRPr sz="12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err="1"/>
              <a:t>enter</a:t>
            </a:r>
            <a:r>
              <a:rPr lang="de-DE" dirty="0"/>
              <a:t> </a:t>
            </a:r>
            <a:r>
              <a:rPr lang="de-DE" dirty="0" err="1"/>
              <a:t>address</a:t>
            </a:r>
            <a:endParaRPr lang="de-DE" dirty="0"/>
          </a:p>
        </p:txBody>
      </p:sp>
      <p:sp>
        <p:nvSpPr>
          <p:cNvPr id="33" name="Universität Stuttgart">
            <a:extLst>
              <a:ext uri="{FF2B5EF4-FFF2-40B4-BE49-F238E27FC236}">
                <a16:creationId xmlns:a16="http://schemas.microsoft.com/office/drawing/2014/main" id="{0C08BB04-B052-4FF7-B62B-8ABD826FA796}"/>
              </a:ext>
            </a:extLst>
          </p:cNvPr>
          <p:cNvSpPr>
            <a:spLocks noGrp="1"/>
          </p:cNvSpPr>
          <p:nvPr>
            <p:ph type="body" sz="quarter" idx="34" hasCustomPrompt="1"/>
          </p:nvPr>
        </p:nvSpPr>
        <p:spPr>
          <a:xfrm>
            <a:off x="2174400" y="3508234"/>
            <a:ext cx="2500012" cy="218691"/>
          </a:xfrm>
        </p:spPr>
        <p:txBody>
          <a:bodyPr/>
          <a:lstStyle>
            <a:lvl1pPr marL="0" indent="0">
              <a:buNone/>
              <a:defRPr sz="12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lgn="l" defTabSz="571454" rtl="0" eaLnBrk="1" latinLnBrk="0" hangingPunct="1">
              <a:lnSpc>
                <a:spcPct val="120000"/>
              </a:lnSpc>
              <a:spcBef>
                <a:spcPts val="625"/>
              </a:spcBef>
              <a:spcAft>
                <a:spcPts val="0"/>
              </a:spcAft>
              <a:buClr>
                <a:schemeClr val="accent1"/>
              </a:buClr>
              <a:buFont typeface="Arial" panose="020B0604020202020204" pitchFamily="34" charset="0"/>
              <a:buNone/>
              <a:tabLst>
                <a:tab pos="541338" algn="l"/>
              </a:tabLst>
            </a:pPr>
            <a:r>
              <a:rPr lang="de-DE" dirty="0"/>
              <a:t>University </a:t>
            </a:r>
            <a:r>
              <a:rPr lang="de-DE" dirty="0" err="1"/>
              <a:t>of</a:t>
            </a:r>
            <a:r>
              <a:rPr lang="de-DE" dirty="0"/>
              <a:t> Stuttgart</a:t>
            </a:r>
          </a:p>
        </p:txBody>
      </p:sp>
      <p:sp>
        <p:nvSpPr>
          <p:cNvPr id="34" name="Abteilung Institut">
            <a:extLst>
              <a:ext uri="{FF2B5EF4-FFF2-40B4-BE49-F238E27FC236}">
                <a16:creationId xmlns:a16="http://schemas.microsoft.com/office/drawing/2014/main" id="{547D4004-B9BD-4097-81E1-6F5F7DA08A0D}"/>
              </a:ext>
            </a:extLst>
          </p:cNvPr>
          <p:cNvSpPr>
            <a:spLocks noGrp="1"/>
          </p:cNvSpPr>
          <p:nvPr>
            <p:ph type="body" sz="quarter" idx="25" hasCustomPrompt="1"/>
          </p:nvPr>
        </p:nvSpPr>
        <p:spPr>
          <a:xfrm>
            <a:off x="2174400" y="3747179"/>
            <a:ext cx="3290054" cy="216000"/>
          </a:xfrm>
        </p:spPr>
        <p:txBody>
          <a:bodyPr/>
          <a:lstStyle>
            <a:lvl1pPr marL="0" indent="0">
              <a:buNone/>
              <a:defRPr sz="12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Department </a:t>
            </a:r>
            <a:r>
              <a:rPr lang="de-DE" dirty="0" err="1"/>
              <a:t>or</a:t>
            </a:r>
            <a:r>
              <a:rPr lang="de-DE" dirty="0"/>
              <a:t> </a:t>
            </a:r>
            <a:r>
              <a:rPr lang="de-DE" dirty="0" err="1"/>
              <a:t>institute</a:t>
            </a:r>
            <a:r>
              <a:rPr lang="de-DE" dirty="0"/>
              <a:t> </a:t>
            </a:r>
            <a:r>
              <a:rPr lang="de-DE" dirty="0" err="1"/>
              <a:t>name</a:t>
            </a:r>
            <a:endParaRPr lang="de-DE" dirty="0"/>
          </a:p>
        </p:txBody>
      </p:sp>
      <p:sp>
        <p:nvSpPr>
          <p:cNvPr id="35" name="Adressfeld">
            <a:extLst>
              <a:ext uri="{FF2B5EF4-FFF2-40B4-BE49-F238E27FC236}">
                <a16:creationId xmlns:a16="http://schemas.microsoft.com/office/drawing/2014/main" id="{9484ABC1-A1AA-40CB-8BB1-AB6F21778D07}"/>
              </a:ext>
            </a:extLst>
          </p:cNvPr>
          <p:cNvSpPr>
            <a:spLocks noGrp="1"/>
          </p:cNvSpPr>
          <p:nvPr>
            <p:ph type="body" sz="quarter" idx="21" hasCustomPrompt="1"/>
          </p:nvPr>
        </p:nvSpPr>
        <p:spPr>
          <a:xfrm>
            <a:off x="2174400" y="3983433"/>
            <a:ext cx="3290054" cy="216000"/>
          </a:xfrm>
        </p:spPr>
        <p:txBody>
          <a:bodyPr/>
          <a:lstStyle>
            <a:lvl1pPr marL="0" indent="0">
              <a:buNone/>
              <a:defRPr sz="12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err="1"/>
              <a:t>Address</a:t>
            </a:r>
            <a:endParaRPr lang="de-DE" dirty="0"/>
          </a:p>
        </p:txBody>
      </p:sp>
    </p:spTree>
    <p:extLst>
      <p:ext uri="{BB962C8B-B14F-4D97-AF65-F5344CB8AC3E}">
        <p14:creationId xmlns:p14="http://schemas.microsoft.com/office/powerpoint/2010/main" val="9998344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chlussfolie bla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8" name="Grafik 27">
            <a:extLst>
              <a:ext uri="{FF2B5EF4-FFF2-40B4-BE49-F238E27FC236}">
                <a16:creationId xmlns:a16="http://schemas.microsoft.com/office/drawing/2014/main" id="{FB752999-B480-46AD-86AB-B98CEC626865}"/>
              </a:ext>
              <a:ext uri="{C183D7F6-B498-43B3-948B-1728B52AA6E4}">
                <adec:decorative xmlns:adec="http://schemas.microsoft.com/office/drawing/2017/decorative" val="1"/>
              </a:ext>
            </a:extLst>
          </p:cNvPr>
          <p:cNvPicPr>
            <a:picLocks noChangeAspect="1"/>
          </p:cNvPicPr>
          <p:nvPr userDrawn="1"/>
        </p:nvPicPr>
        <p:blipFill>
          <a:blip r:embed="rId3">
            <a:biLevel thresh="25000"/>
            <a:extLst>
              <a:ext uri="{28A0092B-C50C-407E-A947-70E740481C1C}">
                <a14:useLocalDpi xmlns:a14="http://schemas.microsoft.com/office/drawing/2010/main" val="0"/>
              </a:ext>
            </a:extLst>
          </a:blip>
          <a:stretch>
            <a:fillRect/>
          </a:stretch>
        </p:blipFill>
        <p:spPr>
          <a:xfrm>
            <a:off x="406800" y="344529"/>
            <a:ext cx="2136071" cy="431998"/>
          </a:xfrm>
          <a:prstGeom prst="rect">
            <a:avLst/>
          </a:prstGeom>
        </p:spPr>
      </p:pic>
      <p:pic>
        <p:nvPicPr>
          <p:cNvPr id="29" name="Grafik 28">
            <a:extLst>
              <a:ext uri="{FF2B5EF4-FFF2-40B4-BE49-F238E27FC236}">
                <a16:creationId xmlns:a16="http://schemas.microsoft.com/office/drawing/2014/main" id="{EA94CF37-DF83-4EB6-B7FC-3A54F0E0CFEA}"/>
              </a:ext>
              <a:ext uri="{C183D7F6-B498-43B3-948B-1728B52AA6E4}">
                <adec:decorative xmlns:adec="http://schemas.microsoft.com/office/drawing/2017/decorative" val="1"/>
              </a:ext>
            </a:extLst>
          </p:cNvPr>
          <p:cNvPicPr>
            <a:picLocks noChangeAspect="1"/>
          </p:cNvPicPr>
          <p:nvPr userDrawn="1"/>
        </p:nvPicPr>
        <p:blipFill rotWithShape="1">
          <a:blip r:embed="rId4">
            <a:biLevel thresh="25000"/>
            <a:extLst>
              <a:ext uri="{28A0092B-C50C-407E-A947-70E740481C1C}">
                <a14:useLocalDpi xmlns:a14="http://schemas.microsoft.com/office/drawing/2010/main" val="0"/>
              </a:ext>
            </a:extLst>
          </a:blip>
          <a:srcRect l="23763" t="1" b="-1"/>
          <a:stretch/>
        </p:blipFill>
        <p:spPr>
          <a:xfrm>
            <a:off x="914400" y="656409"/>
            <a:ext cx="1628471" cy="168351"/>
          </a:xfrm>
          <a:prstGeom prst="rect">
            <a:avLst/>
          </a:prstGeom>
        </p:spPr>
      </p:pic>
      <p:sp>
        <p:nvSpPr>
          <p:cNvPr id="16" name="Textfeld 15"/>
          <p:cNvSpPr txBox="1"/>
          <p:nvPr userDrawn="1"/>
        </p:nvSpPr>
        <p:spPr>
          <a:xfrm>
            <a:off x="396000" y="1360800"/>
            <a:ext cx="2160000" cy="291600"/>
          </a:xfrm>
          <a:prstGeom prst="rect">
            <a:avLst/>
          </a:prstGeom>
        </p:spPr>
        <p:txBody>
          <a:bodyPr vert="horz" lIns="0" tIns="0" rIns="0" bIns="0" rtlCol="0">
            <a:noAutofit/>
          </a:bodyPr>
          <a:lstStyle>
            <a:lvl1pPr lvl="0" indent="0" defTabSz="685800">
              <a:lnSpc>
                <a:spcPct val="120000"/>
              </a:lnSpc>
              <a:spcBef>
                <a:spcPts val="750"/>
              </a:spcBef>
              <a:buClr>
                <a:schemeClr val="accent2"/>
              </a:buClr>
              <a:buFont typeface="Arial" panose="020B0604020202020204" pitchFamily="34" charset="0"/>
              <a:buNone/>
              <a:defRPr sz="1200" b="0">
                <a:solidFill>
                  <a:schemeClr val="tx1">
                    <a:lumMod val="75000"/>
                    <a:lumOff val="25000"/>
                  </a:schemeClr>
                </a:solidFill>
              </a:defRPr>
            </a:lvl1pPr>
            <a:lvl2pPr marL="449263" indent="-273050" defTabSz="685800">
              <a:lnSpc>
                <a:spcPct val="120000"/>
              </a:lnSpc>
              <a:spcBef>
                <a:spcPts val="375"/>
              </a:spcBef>
              <a:buFont typeface="Arial" panose="020B0604020202020204" pitchFamily="34" charset="0"/>
              <a:buChar char="–"/>
              <a:defRPr sz="1800">
                <a:solidFill>
                  <a:schemeClr val="bg1"/>
                </a:solidFill>
              </a:defRPr>
            </a:lvl2pPr>
            <a:lvl3pPr marL="715963" indent="-266700" defTabSz="685800">
              <a:lnSpc>
                <a:spcPct val="120000"/>
              </a:lnSpc>
              <a:spcBef>
                <a:spcPts val="375"/>
              </a:spcBef>
              <a:buFont typeface="Arial" panose="020B0604020202020204" pitchFamily="34" charset="0"/>
              <a:buChar char="–"/>
              <a:defRPr sz="1800">
                <a:solidFill>
                  <a:schemeClr val="bg1"/>
                </a:solidFill>
              </a:defRPr>
            </a:lvl3pPr>
            <a:lvl4pPr marL="987425" indent="-271463" defTabSz="685800">
              <a:lnSpc>
                <a:spcPct val="120000"/>
              </a:lnSpc>
              <a:spcBef>
                <a:spcPts val="375"/>
              </a:spcBef>
              <a:buFont typeface="Arial" panose="020B0604020202020204" pitchFamily="34" charset="0"/>
              <a:buChar char="–"/>
              <a:defRPr sz="1800">
                <a:solidFill>
                  <a:schemeClr val="bg1"/>
                </a:solidFill>
              </a:defRPr>
            </a:lvl4pPr>
            <a:lvl5pPr marL="1254125" indent="-266700" defTabSz="685800">
              <a:lnSpc>
                <a:spcPct val="120000"/>
              </a:lnSpc>
              <a:spcBef>
                <a:spcPts val="375"/>
              </a:spcBef>
              <a:buFont typeface="Arial" panose="020B0604020202020204" pitchFamily="34" charset="0"/>
              <a:buChar char="–"/>
              <a:defRPr sz="1800">
                <a:solidFill>
                  <a:schemeClr val="bg1"/>
                </a:solidFill>
              </a:defRPr>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lvl="0">
              <a:spcBef>
                <a:spcPts val="200"/>
              </a:spcBef>
              <a:spcAft>
                <a:spcPts val="0"/>
              </a:spcAft>
              <a:tabLst>
                <a:tab pos="541332" algn="l"/>
              </a:tabLst>
            </a:pPr>
            <a:r>
              <a:rPr lang="de-DE" sz="2000" b="1" dirty="0" err="1">
                <a:solidFill>
                  <a:schemeClr val="bg1"/>
                </a:solidFill>
              </a:rPr>
              <a:t>Thank</a:t>
            </a:r>
            <a:r>
              <a:rPr lang="de-DE" sz="2000" b="1" dirty="0">
                <a:solidFill>
                  <a:schemeClr val="bg1"/>
                </a:solidFill>
              </a:rPr>
              <a:t> </a:t>
            </a:r>
            <a:r>
              <a:rPr lang="de-DE" sz="2000" b="1" dirty="0" err="1">
                <a:solidFill>
                  <a:schemeClr val="bg1"/>
                </a:solidFill>
              </a:rPr>
              <a:t>you</a:t>
            </a:r>
            <a:r>
              <a:rPr lang="de-DE" sz="2000" b="1" dirty="0">
                <a:solidFill>
                  <a:schemeClr val="bg1"/>
                </a:solidFill>
              </a:rPr>
              <a:t>!</a:t>
            </a:r>
          </a:p>
        </p:txBody>
      </p:sp>
      <p:sp>
        <p:nvSpPr>
          <p:cNvPr id="27" name="Bildplatzhalter 7">
            <a:extLst>
              <a:ext uri="{FF2B5EF4-FFF2-40B4-BE49-F238E27FC236}">
                <a16:creationId xmlns:a16="http://schemas.microsoft.com/office/drawing/2014/main" id="{E8FAD59D-97FD-4838-AA91-B266FA5DD370}"/>
              </a:ext>
            </a:extLst>
          </p:cNvPr>
          <p:cNvSpPr>
            <a:spLocks noGrp="1"/>
          </p:cNvSpPr>
          <p:nvPr>
            <p:ph type="pic" sz="quarter" idx="14"/>
          </p:nvPr>
        </p:nvSpPr>
        <p:spPr>
          <a:xfrm>
            <a:off x="410400" y="1911600"/>
            <a:ext cx="1440000" cy="1440000"/>
          </a:xfrm>
          <a:prstGeom prst="ellipse">
            <a:avLst/>
          </a:prstGeom>
          <a:solidFill>
            <a:schemeClr val="bg1"/>
          </a:solidFill>
        </p:spPr>
        <p:txBody>
          <a:bodyPr tIns="0"/>
          <a:lstStyle>
            <a:lvl1pPr marL="0" indent="0" algn="ctr">
              <a:buNone/>
              <a:defRPr sz="1200"/>
            </a:lvl1pPr>
          </a:lstStyle>
          <a:p>
            <a:r>
              <a:rPr lang="de-DE" dirty="0"/>
              <a:t>Bild durch Klicken auf Symbol hinzufügen</a:t>
            </a:r>
            <a:endParaRPr lang="en-US" dirty="0"/>
          </a:p>
        </p:txBody>
      </p:sp>
      <p:sp>
        <p:nvSpPr>
          <p:cNvPr id="20" name="Textplatzhalter 10"/>
          <p:cNvSpPr>
            <a:spLocks noGrp="1"/>
          </p:cNvSpPr>
          <p:nvPr>
            <p:ph type="body" sz="quarter" idx="15" hasCustomPrompt="1"/>
          </p:nvPr>
        </p:nvSpPr>
        <p:spPr>
          <a:xfrm>
            <a:off x="2174400" y="2093040"/>
            <a:ext cx="3290054" cy="194400"/>
          </a:xfrm>
        </p:spPr>
        <p:txBody>
          <a:bodyPr/>
          <a:lstStyle>
            <a:lvl1pPr marL="0" indent="0">
              <a:buNone/>
              <a:defRPr sz="1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21" name="E-Mail">
            <a:extLst>
              <a:ext uri="{FF2B5EF4-FFF2-40B4-BE49-F238E27FC236}">
                <a16:creationId xmlns:a16="http://schemas.microsoft.com/office/drawing/2014/main" id="{0EF3AEB7-6218-41A3-AF52-E25C7AF428CB}"/>
              </a:ext>
            </a:extLst>
          </p:cNvPr>
          <p:cNvSpPr>
            <a:spLocks noGrp="1"/>
          </p:cNvSpPr>
          <p:nvPr>
            <p:ph type="body" sz="quarter" idx="31" hasCustomPrompt="1"/>
          </p:nvPr>
        </p:nvSpPr>
        <p:spPr>
          <a:xfrm>
            <a:off x="2174400" y="2571750"/>
            <a:ext cx="542646" cy="216482"/>
          </a:xfrm>
        </p:spPr>
        <p:txBody>
          <a:bodyPr/>
          <a:lstStyle>
            <a:lvl1pPr>
              <a:buFontTx/>
              <a:buNone/>
              <a:defRPr lang="de-DE" sz="1200" b="0" kern="1200" dirty="0" smtClean="0">
                <a:solidFill>
                  <a:schemeClr val="bg1"/>
                </a:solidFill>
                <a:latin typeface="+mn-lt"/>
                <a:ea typeface="+mn-ea"/>
                <a:cs typeface="+mn-cs"/>
              </a:defRPr>
            </a:lvl1pPr>
            <a:lvl2pPr>
              <a:defRPr lang="de-DE" sz="1200" b="0" kern="1200" dirty="0" smtClean="0">
                <a:solidFill>
                  <a:schemeClr val="tx1"/>
                </a:solidFill>
                <a:latin typeface="+mn-lt"/>
                <a:ea typeface="+mn-ea"/>
                <a:cs typeface="+mn-cs"/>
              </a:defRPr>
            </a:lvl2pPr>
            <a:lvl3pPr>
              <a:defRPr lang="de-DE" sz="1200" b="0" kern="1200" dirty="0" smtClean="0">
                <a:solidFill>
                  <a:schemeClr val="tx1"/>
                </a:solidFill>
                <a:latin typeface="+mn-lt"/>
                <a:ea typeface="+mn-ea"/>
                <a:cs typeface="+mn-cs"/>
              </a:defRPr>
            </a:lvl3pPr>
            <a:lvl4pPr>
              <a:defRPr lang="de-DE" sz="1200" b="0" kern="1200" dirty="0" smtClean="0">
                <a:solidFill>
                  <a:schemeClr val="tx1"/>
                </a:solidFill>
                <a:latin typeface="+mn-lt"/>
                <a:ea typeface="+mn-ea"/>
                <a:cs typeface="+mn-cs"/>
              </a:defRPr>
            </a:lvl4pPr>
            <a:lvl5pPr>
              <a:defRPr lang="de-DE" sz="1200" b="0" kern="1200" dirty="0">
                <a:solidFill>
                  <a:schemeClr val="tx1"/>
                </a:solidFill>
                <a:latin typeface="+mn-lt"/>
                <a:ea typeface="+mn-ea"/>
                <a:cs typeface="+mn-cs"/>
              </a:defRPr>
            </a:lvl5pPr>
          </a:lstStyle>
          <a:p>
            <a:pPr marL="0" lvl="0" indent="0" algn="l" defTabSz="571454" rtl="0" eaLnBrk="1" latinLnBrk="0" hangingPunct="1">
              <a:lnSpc>
                <a:spcPct val="120000"/>
              </a:lnSpc>
              <a:spcBef>
                <a:spcPts val="625"/>
              </a:spcBef>
              <a:buClr>
                <a:schemeClr val="accent1"/>
              </a:buClr>
              <a:buFont typeface="Arial" panose="020B0604020202020204" pitchFamily="34" charset="0"/>
              <a:buNone/>
            </a:pPr>
            <a:r>
              <a:rPr lang="de-DE" dirty="0" err="1"/>
              <a:t>e-mail</a:t>
            </a:r>
            <a:endParaRPr lang="de-DE" dirty="0"/>
          </a:p>
        </p:txBody>
      </p:sp>
      <p:sp>
        <p:nvSpPr>
          <p:cNvPr id="30" name="Email Adresse">
            <a:extLst>
              <a:ext uri="{FF2B5EF4-FFF2-40B4-BE49-F238E27FC236}">
                <a16:creationId xmlns:a16="http://schemas.microsoft.com/office/drawing/2014/main" id="{118DEBC9-D26E-41CE-8AAB-C22253B8FBDB}"/>
              </a:ext>
            </a:extLst>
          </p:cNvPr>
          <p:cNvSpPr>
            <a:spLocks noGrp="1"/>
          </p:cNvSpPr>
          <p:nvPr>
            <p:ph type="body" sz="quarter" idx="26" hasCustomPrompt="1"/>
          </p:nvPr>
        </p:nvSpPr>
        <p:spPr>
          <a:xfrm>
            <a:off x="2717046" y="2571750"/>
            <a:ext cx="2747409" cy="216000"/>
          </a:xfrm>
        </p:spPr>
        <p:txBody>
          <a:bodyPr/>
          <a:lstStyle>
            <a:lvl1pPr marL="0" indent="0">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err="1"/>
              <a:t>enter</a:t>
            </a:r>
            <a:r>
              <a:rPr lang="de-DE" dirty="0"/>
              <a:t> </a:t>
            </a:r>
            <a:r>
              <a:rPr lang="de-DE" dirty="0" err="1"/>
              <a:t>address</a:t>
            </a:r>
            <a:endParaRPr lang="de-DE" dirty="0"/>
          </a:p>
        </p:txBody>
      </p:sp>
      <p:sp>
        <p:nvSpPr>
          <p:cNvPr id="38" name="Durchwahl">
            <a:extLst>
              <a:ext uri="{FF2B5EF4-FFF2-40B4-BE49-F238E27FC236}">
                <a16:creationId xmlns:a16="http://schemas.microsoft.com/office/drawing/2014/main" id="{E133C5D0-8225-4F00-87C0-B1A77BDD5308}"/>
              </a:ext>
            </a:extLst>
          </p:cNvPr>
          <p:cNvSpPr>
            <a:spLocks noGrp="1"/>
          </p:cNvSpPr>
          <p:nvPr>
            <p:ph type="body" sz="quarter" idx="35" hasCustomPrompt="1"/>
          </p:nvPr>
        </p:nvSpPr>
        <p:spPr>
          <a:xfrm>
            <a:off x="2174400" y="2803119"/>
            <a:ext cx="1745931" cy="245786"/>
          </a:xfrm>
        </p:spPr>
        <p:txBody>
          <a:bodyPr/>
          <a:lstStyle>
            <a:lvl1pPr marL="0" indent="0" defTabSz="539750">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err="1"/>
              <a:t>phone</a:t>
            </a:r>
            <a:r>
              <a:rPr lang="de-DE" dirty="0"/>
              <a:t>	+49 (0) 711 685-</a:t>
            </a:r>
          </a:p>
        </p:txBody>
      </p:sp>
      <p:sp>
        <p:nvSpPr>
          <p:cNvPr id="32" name="Durchwahl">
            <a:extLst>
              <a:ext uri="{FF2B5EF4-FFF2-40B4-BE49-F238E27FC236}">
                <a16:creationId xmlns:a16="http://schemas.microsoft.com/office/drawing/2014/main" id="{76EA4574-E195-402F-BE7A-C5DAB28ED00E}"/>
              </a:ext>
            </a:extLst>
          </p:cNvPr>
          <p:cNvSpPr>
            <a:spLocks noGrp="1"/>
          </p:cNvSpPr>
          <p:nvPr>
            <p:ph type="body" sz="quarter" idx="23" hasCustomPrompt="1"/>
          </p:nvPr>
        </p:nvSpPr>
        <p:spPr>
          <a:xfrm>
            <a:off x="3861486" y="2803119"/>
            <a:ext cx="649267" cy="245786"/>
          </a:xfrm>
        </p:spPr>
        <p:txBody>
          <a:bodyPr/>
          <a:lstStyle>
            <a:lvl1pPr marL="0" indent="0">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a:t>
            </a:r>
          </a:p>
        </p:txBody>
      </p:sp>
      <p:sp>
        <p:nvSpPr>
          <p:cNvPr id="33" name="www">
            <a:extLst>
              <a:ext uri="{FF2B5EF4-FFF2-40B4-BE49-F238E27FC236}">
                <a16:creationId xmlns:a16="http://schemas.microsoft.com/office/drawing/2014/main" id="{A2A5A03D-8A1F-46C2-8C7A-3BB7531CDFB9}"/>
              </a:ext>
            </a:extLst>
          </p:cNvPr>
          <p:cNvSpPr>
            <a:spLocks noGrp="1"/>
          </p:cNvSpPr>
          <p:nvPr>
            <p:ph type="body" sz="quarter" idx="33" hasCustomPrompt="1"/>
          </p:nvPr>
        </p:nvSpPr>
        <p:spPr>
          <a:xfrm>
            <a:off x="2174401" y="3063790"/>
            <a:ext cx="364806" cy="238329"/>
          </a:xfrm>
        </p:spPr>
        <p:txBody>
          <a:bodyPr/>
          <a:lstStyle>
            <a:lvl1pPr marL="0" indent="0">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www.</a:t>
            </a:r>
          </a:p>
        </p:txBody>
      </p:sp>
      <p:sp>
        <p:nvSpPr>
          <p:cNvPr id="34" name="Webadresse">
            <a:extLst>
              <a:ext uri="{FF2B5EF4-FFF2-40B4-BE49-F238E27FC236}">
                <a16:creationId xmlns:a16="http://schemas.microsoft.com/office/drawing/2014/main" id="{728AF890-7B6D-440A-957D-471333F7DC28}"/>
              </a:ext>
            </a:extLst>
          </p:cNvPr>
          <p:cNvSpPr>
            <a:spLocks noGrp="1"/>
          </p:cNvSpPr>
          <p:nvPr>
            <p:ph type="body" sz="quarter" idx="24" hasCustomPrompt="1"/>
          </p:nvPr>
        </p:nvSpPr>
        <p:spPr>
          <a:xfrm>
            <a:off x="2539208" y="3063790"/>
            <a:ext cx="1838323" cy="238329"/>
          </a:xfrm>
        </p:spPr>
        <p:txBody>
          <a:bodyPr/>
          <a:lstStyle>
            <a:lvl1pPr marL="0" indent="0">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err="1"/>
              <a:t>enter</a:t>
            </a:r>
            <a:r>
              <a:rPr lang="de-DE" dirty="0"/>
              <a:t> </a:t>
            </a:r>
            <a:r>
              <a:rPr lang="de-DE" dirty="0" err="1"/>
              <a:t>address</a:t>
            </a:r>
            <a:endParaRPr lang="de-DE" dirty="0"/>
          </a:p>
        </p:txBody>
      </p:sp>
      <p:sp>
        <p:nvSpPr>
          <p:cNvPr id="35" name="Universität Stuttgart">
            <a:extLst>
              <a:ext uri="{FF2B5EF4-FFF2-40B4-BE49-F238E27FC236}">
                <a16:creationId xmlns:a16="http://schemas.microsoft.com/office/drawing/2014/main" id="{9B3B404A-B28D-4400-A9AD-FAFEB6FD8D1D}"/>
              </a:ext>
            </a:extLst>
          </p:cNvPr>
          <p:cNvSpPr>
            <a:spLocks noGrp="1"/>
          </p:cNvSpPr>
          <p:nvPr>
            <p:ph type="body" sz="quarter" idx="34" hasCustomPrompt="1"/>
          </p:nvPr>
        </p:nvSpPr>
        <p:spPr>
          <a:xfrm>
            <a:off x="2174400" y="3508234"/>
            <a:ext cx="2500012" cy="218691"/>
          </a:xfrm>
        </p:spPr>
        <p:txBody>
          <a:bodyPr/>
          <a:lstStyle>
            <a:lvl1pPr marL="0" indent="0">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lgn="l" defTabSz="571454" rtl="0" eaLnBrk="1" latinLnBrk="0" hangingPunct="1">
              <a:lnSpc>
                <a:spcPct val="120000"/>
              </a:lnSpc>
              <a:spcBef>
                <a:spcPts val="625"/>
              </a:spcBef>
              <a:spcAft>
                <a:spcPts val="0"/>
              </a:spcAft>
              <a:buClr>
                <a:schemeClr val="accent1"/>
              </a:buClr>
              <a:buFont typeface="Arial" panose="020B0604020202020204" pitchFamily="34" charset="0"/>
              <a:buNone/>
              <a:tabLst>
                <a:tab pos="541338" algn="l"/>
              </a:tabLst>
            </a:pPr>
            <a:r>
              <a:rPr lang="de-DE" dirty="0"/>
              <a:t>University </a:t>
            </a:r>
            <a:r>
              <a:rPr lang="de-DE" dirty="0" err="1"/>
              <a:t>of</a:t>
            </a:r>
            <a:r>
              <a:rPr lang="de-DE" dirty="0"/>
              <a:t> Stuttgart</a:t>
            </a:r>
          </a:p>
        </p:txBody>
      </p:sp>
      <p:sp>
        <p:nvSpPr>
          <p:cNvPr id="36" name="Abteilung Institut">
            <a:extLst>
              <a:ext uri="{FF2B5EF4-FFF2-40B4-BE49-F238E27FC236}">
                <a16:creationId xmlns:a16="http://schemas.microsoft.com/office/drawing/2014/main" id="{635F31DC-6AAF-4C41-8D74-05D4427F48EA}"/>
              </a:ext>
            </a:extLst>
          </p:cNvPr>
          <p:cNvSpPr>
            <a:spLocks noGrp="1"/>
          </p:cNvSpPr>
          <p:nvPr>
            <p:ph type="body" sz="quarter" idx="25" hasCustomPrompt="1"/>
          </p:nvPr>
        </p:nvSpPr>
        <p:spPr>
          <a:xfrm>
            <a:off x="2174400" y="3747179"/>
            <a:ext cx="3290054" cy="216000"/>
          </a:xfrm>
        </p:spPr>
        <p:txBody>
          <a:bodyPr/>
          <a:lstStyle>
            <a:lvl1pPr marL="0" indent="0">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Department </a:t>
            </a:r>
            <a:r>
              <a:rPr lang="de-DE" dirty="0" err="1"/>
              <a:t>or</a:t>
            </a:r>
            <a:r>
              <a:rPr lang="de-DE" dirty="0"/>
              <a:t> </a:t>
            </a:r>
            <a:r>
              <a:rPr lang="de-DE" dirty="0" err="1"/>
              <a:t>institute</a:t>
            </a:r>
            <a:r>
              <a:rPr lang="de-DE" dirty="0"/>
              <a:t> </a:t>
            </a:r>
            <a:r>
              <a:rPr lang="de-DE" dirty="0" err="1"/>
              <a:t>name</a:t>
            </a:r>
            <a:endParaRPr lang="de-DE" dirty="0"/>
          </a:p>
        </p:txBody>
      </p:sp>
      <p:sp>
        <p:nvSpPr>
          <p:cNvPr id="37" name="Adressfeld">
            <a:extLst>
              <a:ext uri="{FF2B5EF4-FFF2-40B4-BE49-F238E27FC236}">
                <a16:creationId xmlns:a16="http://schemas.microsoft.com/office/drawing/2014/main" id="{4C5BC753-6D21-46B4-A737-8F9A5E20BA27}"/>
              </a:ext>
            </a:extLst>
          </p:cNvPr>
          <p:cNvSpPr>
            <a:spLocks noGrp="1"/>
          </p:cNvSpPr>
          <p:nvPr>
            <p:ph type="body" sz="quarter" idx="21" hasCustomPrompt="1"/>
          </p:nvPr>
        </p:nvSpPr>
        <p:spPr>
          <a:xfrm>
            <a:off x="2174400" y="3983433"/>
            <a:ext cx="3290054" cy="216000"/>
          </a:xfrm>
        </p:spPr>
        <p:txBody>
          <a:bodyPr/>
          <a:lstStyle>
            <a:lvl1pPr marL="0" indent="0">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err="1"/>
              <a:t>Address</a:t>
            </a:r>
            <a:endParaRPr lang="de-DE" dirty="0"/>
          </a:p>
        </p:txBody>
      </p:sp>
    </p:spTree>
    <p:extLst>
      <p:ext uri="{BB962C8B-B14F-4D97-AF65-F5344CB8AC3E}">
        <p14:creationId xmlns:p14="http://schemas.microsoft.com/office/powerpoint/2010/main" val="13877380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nstitute_Schlussfolie">
    <p:spTree>
      <p:nvGrpSpPr>
        <p:cNvPr id="1" name=""/>
        <p:cNvGrpSpPr/>
        <p:nvPr/>
      </p:nvGrpSpPr>
      <p:grpSpPr>
        <a:xfrm>
          <a:off x="0" y="0"/>
          <a:ext cx="0" cy="0"/>
          <a:chOff x="0" y="0"/>
          <a:chExt cx="0" cy="0"/>
        </a:xfrm>
      </p:grpSpPr>
      <p:pic>
        <p:nvPicPr>
          <p:cNvPr id="14" name="Grafik 13">
            <a:extLst>
              <a:ext uri="{FF2B5EF4-FFF2-40B4-BE49-F238E27FC236}">
                <a16:creationId xmlns:a16="http://schemas.microsoft.com/office/drawing/2014/main" id="{81775667-CF64-48AD-BB4D-F55AF1DD9BD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02988" y="268958"/>
            <a:ext cx="2136071" cy="431998"/>
          </a:xfrm>
          <a:prstGeom prst="rect">
            <a:avLst/>
          </a:prstGeom>
        </p:spPr>
      </p:pic>
      <p:sp>
        <p:nvSpPr>
          <p:cNvPr id="26" name="Textplatzhalter 9">
            <a:extLst>
              <a:ext uri="{FF2B5EF4-FFF2-40B4-BE49-F238E27FC236}">
                <a16:creationId xmlns:a16="http://schemas.microsoft.com/office/drawing/2014/main" id="{CCC87B1C-0FE3-4333-ACA0-A95E3356614D}"/>
              </a:ext>
              <a:ext uri="{C183D7F6-B498-43B3-948B-1728B52AA6E4}">
                <adec:decorative xmlns:adec="http://schemas.microsoft.com/office/drawing/2017/decorative" val="0"/>
              </a:ext>
            </a:extLst>
          </p:cNvPr>
          <p:cNvSpPr>
            <a:spLocks noGrp="1"/>
          </p:cNvSpPr>
          <p:nvPr>
            <p:ph type="body" sz="quarter" idx="13" hasCustomPrompt="1"/>
          </p:nvPr>
        </p:nvSpPr>
        <p:spPr>
          <a:xfrm>
            <a:off x="952454" y="593154"/>
            <a:ext cx="3561913" cy="435081"/>
          </a:xfrm>
        </p:spPr>
        <p:txBody>
          <a:bodyPr/>
          <a:lstStyle>
            <a:lvl1pPr marL="0" indent="0">
              <a:lnSpc>
                <a:spcPct val="100000"/>
              </a:lnSpc>
              <a:buFontTx/>
              <a:buNone/>
              <a:defRPr sz="1200"/>
            </a:lvl1pPr>
          </a:lstStyle>
          <a:p>
            <a:pPr lvl="0"/>
            <a:r>
              <a:rPr lang="de-DE" dirty="0"/>
              <a:t>Institutsname max. 2-zeilig, bitte hier klicken und überschreiben</a:t>
            </a:r>
          </a:p>
        </p:txBody>
      </p:sp>
      <p:sp>
        <p:nvSpPr>
          <p:cNvPr id="16" name="Textfeld 15"/>
          <p:cNvSpPr txBox="1"/>
          <p:nvPr userDrawn="1"/>
        </p:nvSpPr>
        <p:spPr>
          <a:xfrm>
            <a:off x="396000" y="1360800"/>
            <a:ext cx="2160000" cy="291600"/>
          </a:xfrm>
          <a:prstGeom prst="rect">
            <a:avLst/>
          </a:prstGeom>
        </p:spPr>
        <p:txBody>
          <a:bodyPr vert="horz" lIns="0" tIns="0" rIns="0" bIns="0" rtlCol="0">
            <a:noAutofit/>
          </a:bodyPr>
          <a:lstStyle>
            <a:lvl1pPr lvl="0" indent="0" defTabSz="685800">
              <a:lnSpc>
                <a:spcPct val="120000"/>
              </a:lnSpc>
              <a:spcBef>
                <a:spcPts val="750"/>
              </a:spcBef>
              <a:buClr>
                <a:schemeClr val="accent2"/>
              </a:buClr>
              <a:buFont typeface="Arial" panose="020B0604020202020204" pitchFamily="34" charset="0"/>
              <a:buNone/>
              <a:defRPr sz="1200" b="0">
                <a:solidFill>
                  <a:schemeClr val="tx1">
                    <a:lumMod val="75000"/>
                    <a:lumOff val="25000"/>
                  </a:schemeClr>
                </a:solidFill>
              </a:defRPr>
            </a:lvl1pPr>
            <a:lvl2pPr marL="449263" indent="-273050" defTabSz="685800">
              <a:lnSpc>
                <a:spcPct val="120000"/>
              </a:lnSpc>
              <a:spcBef>
                <a:spcPts val="375"/>
              </a:spcBef>
              <a:buFont typeface="Arial" panose="020B0604020202020204" pitchFamily="34" charset="0"/>
              <a:buChar char="–"/>
              <a:defRPr sz="1800">
                <a:solidFill>
                  <a:schemeClr val="bg1"/>
                </a:solidFill>
              </a:defRPr>
            </a:lvl2pPr>
            <a:lvl3pPr marL="715963" indent="-266700" defTabSz="685800">
              <a:lnSpc>
                <a:spcPct val="120000"/>
              </a:lnSpc>
              <a:spcBef>
                <a:spcPts val="375"/>
              </a:spcBef>
              <a:buFont typeface="Arial" panose="020B0604020202020204" pitchFamily="34" charset="0"/>
              <a:buChar char="–"/>
              <a:defRPr sz="1800">
                <a:solidFill>
                  <a:schemeClr val="bg1"/>
                </a:solidFill>
              </a:defRPr>
            </a:lvl3pPr>
            <a:lvl4pPr marL="987425" indent="-271463" defTabSz="685800">
              <a:lnSpc>
                <a:spcPct val="120000"/>
              </a:lnSpc>
              <a:spcBef>
                <a:spcPts val="375"/>
              </a:spcBef>
              <a:buFont typeface="Arial" panose="020B0604020202020204" pitchFamily="34" charset="0"/>
              <a:buChar char="–"/>
              <a:defRPr sz="1800">
                <a:solidFill>
                  <a:schemeClr val="bg1"/>
                </a:solidFill>
              </a:defRPr>
            </a:lvl4pPr>
            <a:lvl5pPr marL="1254125" indent="-266700" defTabSz="685800">
              <a:lnSpc>
                <a:spcPct val="120000"/>
              </a:lnSpc>
              <a:spcBef>
                <a:spcPts val="375"/>
              </a:spcBef>
              <a:buFont typeface="Arial" panose="020B0604020202020204" pitchFamily="34" charset="0"/>
              <a:buChar char="–"/>
              <a:defRPr sz="1800">
                <a:solidFill>
                  <a:schemeClr val="bg1"/>
                </a:solidFill>
              </a:defRPr>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lvl="0">
              <a:spcBef>
                <a:spcPts val="200"/>
              </a:spcBef>
              <a:spcAft>
                <a:spcPts val="0"/>
              </a:spcAft>
              <a:tabLst>
                <a:tab pos="541332" algn="l"/>
              </a:tabLst>
            </a:pPr>
            <a:r>
              <a:rPr lang="de-DE" sz="2000" b="1" dirty="0" err="1">
                <a:solidFill>
                  <a:schemeClr val="tx1"/>
                </a:solidFill>
              </a:rPr>
              <a:t>Thank</a:t>
            </a:r>
            <a:r>
              <a:rPr lang="de-DE" sz="2000" b="1" dirty="0">
                <a:solidFill>
                  <a:schemeClr val="tx1"/>
                </a:solidFill>
              </a:rPr>
              <a:t> </a:t>
            </a:r>
            <a:r>
              <a:rPr lang="de-DE" sz="2000" b="1" dirty="0" err="1">
                <a:solidFill>
                  <a:schemeClr val="tx1"/>
                </a:solidFill>
              </a:rPr>
              <a:t>you</a:t>
            </a:r>
            <a:r>
              <a:rPr lang="de-DE" sz="2000" b="1" dirty="0">
                <a:solidFill>
                  <a:schemeClr val="tx1"/>
                </a:solidFill>
              </a:rPr>
              <a:t>!</a:t>
            </a:r>
          </a:p>
        </p:txBody>
      </p:sp>
      <p:sp>
        <p:nvSpPr>
          <p:cNvPr id="6" name="Bildplatzhalter 7">
            <a:extLst>
              <a:ext uri="{C183D7F6-B498-43B3-948B-1728B52AA6E4}">
                <adec:decorative xmlns:adec="http://schemas.microsoft.com/office/drawing/2017/decorative" val="1"/>
              </a:ext>
            </a:extLst>
          </p:cNvPr>
          <p:cNvSpPr>
            <a:spLocks noGrp="1"/>
          </p:cNvSpPr>
          <p:nvPr>
            <p:ph type="pic" sz="quarter" idx="14"/>
          </p:nvPr>
        </p:nvSpPr>
        <p:spPr>
          <a:xfrm>
            <a:off x="410400" y="1911600"/>
            <a:ext cx="1440000" cy="1440000"/>
          </a:xfrm>
          <a:prstGeom prst="ellipse">
            <a:avLst/>
          </a:prstGeom>
          <a:solidFill>
            <a:schemeClr val="bg1">
              <a:lumMod val="95000"/>
            </a:schemeClr>
          </a:solidFill>
        </p:spPr>
        <p:txBody>
          <a:bodyPr tIns="0"/>
          <a:lstStyle>
            <a:lvl1pPr marL="0" indent="0" algn="ctr">
              <a:buNone/>
              <a:defRPr sz="1200"/>
            </a:lvl1pPr>
          </a:lstStyle>
          <a:p>
            <a:r>
              <a:rPr lang="de-DE" dirty="0"/>
              <a:t>Bild durch Klicken auf Symbol hinzufügen</a:t>
            </a:r>
            <a:endParaRPr lang="en-US" dirty="0"/>
          </a:p>
        </p:txBody>
      </p:sp>
      <p:sp>
        <p:nvSpPr>
          <p:cNvPr id="19" name="Textplatzhalter 10"/>
          <p:cNvSpPr>
            <a:spLocks noGrp="1"/>
          </p:cNvSpPr>
          <p:nvPr>
            <p:ph type="body" sz="quarter" idx="15" hasCustomPrompt="1"/>
          </p:nvPr>
        </p:nvSpPr>
        <p:spPr>
          <a:xfrm>
            <a:off x="2174400" y="2093040"/>
            <a:ext cx="3290054" cy="194400"/>
          </a:xfrm>
        </p:spPr>
        <p:txBody>
          <a:bodyPr/>
          <a:lstStyle>
            <a:lvl1pPr marL="0" indent="0">
              <a:buNone/>
              <a:defRPr sz="1200" b="1">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20" name="E-Mail">
            <a:extLst>
              <a:ext uri="{FF2B5EF4-FFF2-40B4-BE49-F238E27FC236}">
                <a16:creationId xmlns:a16="http://schemas.microsoft.com/office/drawing/2014/main" id="{9F03756C-F8E1-41A9-9E8F-8F8808524CC2}"/>
              </a:ext>
            </a:extLst>
          </p:cNvPr>
          <p:cNvSpPr>
            <a:spLocks noGrp="1"/>
          </p:cNvSpPr>
          <p:nvPr>
            <p:ph type="body" sz="quarter" idx="31" hasCustomPrompt="1"/>
          </p:nvPr>
        </p:nvSpPr>
        <p:spPr>
          <a:xfrm>
            <a:off x="2174400" y="2571750"/>
            <a:ext cx="542646" cy="216482"/>
          </a:xfrm>
        </p:spPr>
        <p:txBody>
          <a:bodyPr/>
          <a:lstStyle>
            <a:lvl1pPr>
              <a:buFontTx/>
              <a:buNone/>
              <a:defRPr lang="de-DE" sz="1200" b="0" kern="1200" dirty="0" smtClean="0">
                <a:solidFill>
                  <a:schemeClr val="tx1"/>
                </a:solidFill>
                <a:latin typeface="+mn-lt"/>
                <a:ea typeface="+mn-ea"/>
                <a:cs typeface="+mn-cs"/>
              </a:defRPr>
            </a:lvl1pPr>
            <a:lvl2pPr>
              <a:defRPr lang="de-DE" sz="1200" b="0" kern="1200" dirty="0" smtClean="0">
                <a:solidFill>
                  <a:schemeClr val="tx1"/>
                </a:solidFill>
                <a:latin typeface="+mn-lt"/>
                <a:ea typeface="+mn-ea"/>
                <a:cs typeface="+mn-cs"/>
              </a:defRPr>
            </a:lvl2pPr>
            <a:lvl3pPr>
              <a:defRPr lang="de-DE" sz="1200" b="0" kern="1200" dirty="0" smtClean="0">
                <a:solidFill>
                  <a:schemeClr val="tx1"/>
                </a:solidFill>
                <a:latin typeface="+mn-lt"/>
                <a:ea typeface="+mn-ea"/>
                <a:cs typeface="+mn-cs"/>
              </a:defRPr>
            </a:lvl3pPr>
            <a:lvl4pPr>
              <a:defRPr lang="de-DE" sz="1200" b="0" kern="1200" dirty="0" smtClean="0">
                <a:solidFill>
                  <a:schemeClr val="tx1"/>
                </a:solidFill>
                <a:latin typeface="+mn-lt"/>
                <a:ea typeface="+mn-ea"/>
                <a:cs typeface="+mn-cs"/>
              </a:defRPr>
            </a:lvl4pPr>
            <a:lvl5pPr>
              <a:defRPr lang="de-DE" sz="1200" b="0" kern="1200" dirty="0">
                <a:solidFill>
                  <a:schemeClr val="tx1"/>
                </a:solidFill>
                <a:latin typeface="+mn-lt"/>
                <a:ea typeface="+mn-ea"/>
                <a:cs typeface="+mn-cs"/>
              </a:defRPr>
            </a:lvl5pPr>
          </a:lstStyle>
          <a:p>
            <a:pPr marL="0" lvl="0" indent="0" algn="l" defTabSz="571454" rtl="0" eaLnBrk="1" latinLnBrk="0" hangingPunct="1">
              <a:lnSpc>
                <a:spcPct val="120000"/>
              </a:lnSpc>
              <a:spcBef>
                <a:spcPts val="625"/>
              </a:spcBef>
              <a:buClr>
                <a:schemeClr val="accent1"/>
              </a:buClr>
              <a:buFont typeface="Arial" panose="020B0604020202020204" pitchFamily="34" charset="0"/>
              <a:buNone/>
            </a:pPr>
            <a:r>
              <a:rPr lang="de-DE" dirty="0" err="1"/>
              <a:t>e-mail</a:t>
            </a:r>
            <a:endParaRPr lang="de-DE" dirty="0"/>
          </a:p>
        </p:txBody>
      </p:sp>
      <p:sp>
        <p:nvSpPr>
          <p:cNvPr id="28" name="Email Adresse">
            <a:extLst>
              <a:ext uri="{FF2B5EF4-FFF2-40B4-BE49-F238E27FC236}">
                <a16:creationId xmlns:a16="http://schemas.microsoft.com/office/drawing/2014/main" id="{16E0C391-6D81-4638-AEFC-89677A952E40}"/>
              </a:ext>
            </a:extLst>
          </p:cNvPr>
          <p:cNvSpPr>
            <a:spLocks noGrp="1"/>
          </p:cNvSpPr>
          <p:nvPr>
            <p:ph type="body" sz="quarter" idx="26" hasCustomPrompt="1"/>
          </p:nvPr>
        </p:nvSpPr>
        <p:spPr>
          <a:xfrm>
            <a:off x="2717046" y="2571750"/>
            <a:ext cx="2747409" cy="216000"/>
          </a:xfrm>
        </p:spPr>
        <p:txBody>
          <a:bodyPr/>
          <a:lstStyle>
            <a:lvl1pPr marL="0" indent="0">
              <a:buNone/>
              <a:defRPr sz="12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err="1"/>
              <a:t>enter</a:t>
            </a:r>
            <a:r>
              <a:rPr lang="de-DE" dirty="0"/>
              <a:t> </a:t>
            </a:r>
            <a:r>
              <a:rPr lang="de-DE" dirty="0" err="1"/>
              <a:t>address</a:t>
            </a:r>
            <a:endParaRPr lang="de-DE" dirty="0"/>
          </a:p>
        </p:txBody>
      </p:sp>
      <p:sp>
        <p:nvSpPr>
          <p:cNvPr id="29" name="Telefonnummer">
            <a:extLst>
              <a:ext uri="{FF2B5EF4-FFF2-40B4-BE49-F238E27FC236}">
                <a16:creationId xmlns:a16="http://schemas.microsoft.com/office/drawing/2014/main" id="{962EF95F-DFF9-42AD-846E-88B8E1EACBB8}"/>
              </a:ext>
            </a:extLst>
          </p:cNvPr>
          <p:cNvSpPr>
            <a:spLocks noGrp="1"/>
          </p:cNvSpPr>
          <p:nvPr>
            <p:ph type="body" sz="quarter" idx="32" hasCustomPrompt="1"/>
          </p:nvPr>
        </p:nvSpPr>
        <p:spPr>
          <a:xfrm>
            <a:off x="2174400" y="2803118"/>
            <a:ext cx="1745931" cy="245786"/>
          </a:xfrm>
        </p:spPr>
        <p:txBody>
          <a:bodyPr wrap="none"/>
          <a:lstStyle>
            <a:lvl1pPr marL="0" indent="0" defTabSz="538163">
              <a:buNone/>
              <a:defRPr sz="12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lgn="l" defTabSz="571454" rtl="0" eaLnBrk="1" latinLnBrk="0" hangingPunct="1">
              <a:lnSpc>
                <a:spcPct val="120000"/>
              </a:lnSpc>
              <a:spcBef>
                <a:spcPts val="625"/>
              </a:spcBef>
              <a:spcAft>
                <a:spcPts val="0"/>
              </a:spcAft>
              <a:buClr>
                <a:schemeClr val="accent1"/>
              </a:buClr>
              <a:buFont typeface="Arial" panose="020B0604020202020204" pitchFamily="34" charset="0"/>
              <a:buNone/>
              <a:tabLst>
                <a:tab pos="541338" algn="l"/>
              </a:tabLst>
            </a:pPr>
            <a:r>
              <a:rPr lang="de-DE" dirty="0" err="1">
                <a:solidFill>
                  <a:schemeClr val="tx1"/>
                </a:solidFill>
              </a:rPr>
              <a:t>phone</a:t>
            </a:r>
            <a:r>
              <a:rPr lang="de-DE" dirty="0">
                <a:solidFill>
                  <a:schemeClr val="tx1"/>
                </a:solidFill>
              </a:rPr>
              <a:t>	+49 (0) 711 685-</a:t>
            </a:r>
          </a:p>
        </p:txBody>
      </p:sp>
      <p:sp>
        <p:nvSpPr>
          <p:cNvPr id="30" name="Durchwahl">
            <a:extLst>
              <a:ext uri="{FF2B5EF4-FFF2-40B4-BE49-F238E27FC236}">
                <a16:creationId xmlns:a16="http://schemas.microsoft.com/office/drawing/2014/main" id="{51DB8C5B-BB3C-4960-B1FA-19ECA6C9B7D6}"/>
              </a:ext>
            </a:extLst>
          </p:cNvPr>
          <p:cNvSpPr>
            <a:spLocks noGrp="1"/>
          </p:cNvSpPr>
          <p:nvPr>
            <p:ph type="body" sz="quarter" idx="23" hasCustomPrompt="1"/>
          </p:nvPr>
        </p:nvSpPr>
        <p:spPr>
          <a:xfrm>
            <a:off x="3861486" y="2803119"/>
            <a:ext cx="649267" cy="245786"/>
          </a:xfrm>
        </p:spPr>
        <p:txBody>
          <a:bodyPr/>
          <a:lstStyle>
            <a:lvl1pPr marL="0" indent="0">
              <a:buNone/>
              <a:defRPr sz="12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a:t>
            </a:r>
          </a:p>
        </p:txBody>
      </p:sp>
      <p:sp>
        <p:nvSpPr>
          <p:cNvPr id="31" name="www">
            <a:extLst>
              <a:ext uri="{FF2B5EF4-FFF2-40B4-BE49-F238E27FC236}">
                <a16:creationId xmlns:a16="http://schemas.microsoft.com/office/drawing/2014/main" id="{49C9DA9F-B659-4D05-AF78-F90AE17CE3AA}"/>
              </a:ext>
            </a:extLst>
          </p:cNvPr>
          <p:cNvSpPr>
            <a:spLocks noGrp="1"/>
          </p:cNvSpPr>
          <p:nvPr>
            <p:ph type="body" sz="quarter" idx="33" hasCustomPrompt="1"/>
          </p:nvPr>
        </p:nvSpPr>
        <p:spPr>
          <a:xfrm>
            <a:off x="2174401" y="3063790"/>
            <a:ext cx="364806" cy="238329"/>
          </a:xfrm>
        </p:spPr>
        <p:txBody>
          <a:bodyPr/>
          <a:lstStyle>
            <a:lvl1pPr marL="0" indent="0">
              <a:buNone/>
              <a:defRPr sz="12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www.</a:t>
            </a:r>
          </a:p>
        </p:txBody>
      </p:sp>
      <p:sp>
        <p:nvSpPr>
          <p:cNvPr id="32" name="Webadresse">
            <a:extLst>
              <a:ext uri="{FF2B5EF4-FFF2-40B4-BE49-F238E27FC236}">
                <a16:creationId xmlns:a16="http://schemas.microsoft.com/office/drawing/2014/main" id="{0C4D8FC5-457E-4A8D-8556-21F9679D91EE}"/>
              </a:ext>
            </a:extLst>
          </p:cNvPr>
          <p:cNvSpPr>
            <a:spLocks noGrp="1"/>
          </p:cNvSpPr>
          <p:nvPr>
            <p:ph type="body" sz="quarter" idx="24" hasCustomPrompt="1"/>
          </p:nvPr>
        </p:nvSpPr>
        <p:spPr>
          <a:xfrm>
            <a:off x="2539208" y="3063790"/>
            <a:ext cx="1838323" cy="238329"/>
          </a:xfrm>
        </p:spPr>
        <p:txBody>
          <a:bodyPr/>
          <a:lstStyle>
            <a:lvl1pPr marL="0" indent="0">
              <a:buNone/>
              <a:defRPr sz="12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err="1"/>
              <a:t>enter</a:t>
            </a:r>
            <a:r>
              <a:rPr lang="de-DE" dirty="0"/>
              <a:t> </a:t>
            </a:r>
            <a:r>
              <a:rPr lang="de-DE" dirty="0" err="1"/>
              <a:t>address</a:t>
            </a:r>
            <a:endParaRPr lang="de-DE" dirty="0"/>
          </a:p>
        </p:txBody>
      </p:sp>
      <p:sp>
        <p:nvSpPr>
          <p:cNvPr id="33" name="Universität Stuttgart">
            <a:extLst>
              <a:ext uri="{FF2B5EF4-FFF2-40B4-BE49-F238E27FC236}">
                <a16:creationId xmlns:a16="http://schemas.microsoft.com/office/drawing/2014/main" id="{83E91CC7-0E6F-4BB9-B42C-DCE91142E97E}"/>
              </a:ext>
            </a:extLst>
          </p:cNvPr>
          <p:cNvSpPr>
            <a:spLocks noGrp="1"/>
          </p:cNvSpPr>
          <p:nvPr>
            <p:ph type="body" sz="quarter" idx="34" hasCustomPrompt="1"/>
          </p:nvPr>
        </p:nvSpPr>
        <p:spPr>
          <a:xfrm>
            <a:off x="2174400" y="3508234"/>
            <a:ext cx="2500012" cy="218691"/>
          </a:xfrm>
        </p:spPr>
        <p:txBody>
          <a:bodyPr/>
          <a:lstStyle>
            <a:lvl1pPr marL="0" indent="0">
              <a:buNone/>
              <a:defRPr sz="12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lgn="l" defTabSz="571454" rtl="0" eaLnBrk="1" latinLnBrk="0" hangingPunct="1">
              <a:lnSpc>
                <a:spcPct val="120000"/>
              </a:lnSpc>
              <a:spcBef>
                <a:spcPts val="625"/>
              </a:spcBef>
              <a:spcAft>
                <a:spcPts val="0"/>
              </a:spcAft>
              <a:buClr>
                <a:schemeClr val="accent1"/>
              </a:buClr>
              <a:buFont typeface="Arial" panose="020B0604020202020204" pitchFamily="34" charset="0"/>
              <a:buNone/>
              <a:tabLst>
                <a:tab pos="541338" algn="l"/>
              </a:tabLst>
            </a:pPr>
            <a:r>
              <a:rPr lang="de-DE" dirty="0"/>
              <a:t>University </a:t>
            </a:r>
            <a:r>
              <a:rPr lang="de-DE" dirty="0" err="1"/>
              <a:t>of</a:t>
            </a:r>
            <a:r>
              <a:rPr lang="de-DE" dirty="0"/>
              <a:t> Stuttgart</a:t>
            </a:r>
          </a:p>
        </p:txBody>
      </p:sp>
      <p:sp>
        <p:nvSpPr>
          <p:cNvPr id="34" name="Abteilung Institut">
            <a:extLst>
              <a:ext uri="{FF2B5EF4-FFF2-40B4-BE49-F238E27FC236}">
                <a16:creationId xmlns:a16="http://schemas.microsoft.com/office/drawing/2014/main" id="{1D7FCBA3-310D-4C4F-B627-581B3FB01F62}"/>
              </a:ext>
            </a:extLst>
          </p:cNvPr>
          <p:cNvSpPr>
            <a:spLocks noGrp="1"/>
          </p:cNvSpPr>
          <p:nvPr>
            <p:ph type="body" sz="quarter" idx="25" hasCustomPrompt="1"/>
          </p:nvPr>
        </p:nvSpPr>
        <p:spPr>
          <a:xfrm>
            <a:off x="2174400" y="3747179"/>
            <a:ext cx="3290054" cy="216000"/>
          </a:xfrm>
        </p:spPr>
        <p:txBody>
          <a:bodyPr/>
          <a:lstStyle>
            <a:lvl1pPr marL="0" indent="0">
              <a:buNone/>
              <a:defRPr sz="12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Department </a:t>
            </a:r>
            <a:r>
              <a:rPr lang="de-DE" dirty="0" err="1"/>
              <a:t>or</a:t>
            </a:r>
            <a:r>
              <a:rPr lang="de-DE" dirty="0"/>
              <a:t> </a:t>
            </a:r>
            <a:r>
              <a:rPr lang="de-DE" dirty="0" err="1"/>
              <a:t>institute</a:t>
            </a:r>
            <a:r>
              <a:rPr lang="de-DE" dirty="0"/>
              <a:t> </a:t>
            </a:r>
            <a:r>
              <a:rPr lang="de-DE" dirty="0" err="1"/>
              <a:t>name</a:t>
            </a:r>
            <a:endParaRPr lang="de-DE" dirty="0"/>
          </a:p>
        </p:txBody>
      </p:sp>
      <p:sp>
        <p:nvSpPr>
          <p:cNvPr id="35" name="Adressfeld">
            <a:extLst>
              <a:ext uri="{FF2B5EF4-FFF2-40B4-BE49-F238E27FC236}">
                <a16:creationId xmlns:a16="http://schemas.microsoft.com/office/drawing/2014/main" id="{3734D7D9-80A3-43EF-A48F-5C4CFE547D22}"/>
              </a:ext>
            </a:extLst>
          </p:cNvPr>
          <p:cNvSpPr>
            <a:spLocks noGrp="1"/>
          </p:cNvSpPr>
          <p:nvPr>
            <p:ph type="body" sz="quarter" idx="21" hasCustomPrompt="1"/>
          </p:nvPr>
        </p:nvSpPr>
        <p:spPr>
          <a:xfrm>
            <a:off x="2174400" y="3983433"/>
            <a:ext cx="3290054" cy="216000"/>
          </a:xfrm>
        </p:spPr>
        <p:txBody>
          <a:bodyPr/>
          <a:lstStyle>
            <a:lvl1pPr marL="0" indent="0">
              <a:buNone/>
              <a:defRPr sz="12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err="1"/>
              <a:t>Address</a:t>
            </a:r>
            <a:endParaRPr lang="de-DE" dirty="0"/>
          </a:p>
        </p:txBody>
      </p:sp>
    </p:spTree>
    <p:extLst>
      <p:ext uri="{BB962C8B-B14F-4D97-AF65-F5344CB8AC3E}">
        <p14:creationId xmlns:p14="http://schemas.microsoft.com/office/powerpoint/2010/main" val="29112162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Institute_Schlussfolie bla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9" name="Grafik 18">
            <a:extLst>
              <a:ext uri="{FF2B5EF4-FFF2-40B4-BE49-F238E27FC236}">
                <a16:creationId xmlns:a16="http://schemas.microsoft.com/office/drawing/2014/main" id="{E346FCD1-C77C-481D-AFE7-B381E7852474}"/>
              </a:ext>
              <a:ext uri="{C183D7F6-B498-43B3-948B-1728B52AA6E4}">
                <adec:decorative xmlns:adec="http://schemas.microsoft.com/office/drawing/2017/decorative" val="1"/>
              </a:ext>
            </a:extLst>
          </p:cNvPr>
          <p:cNvPicPr>
            <a:picLocks noChangeAspect="1"/>
          </p:cNvPicPr>
          <p:nvPr userDrawn="1"/>
        </p:nvPicPr>
        <p:blipFill>
          <a:blip r:embed="rId3">
            <a:biLevel thresh="25000"/>
            <a:extLst>
              <a:ext uri="{28A0092B-C50C-407E-A947-70E740481C1C}">
                <a14:useLocalDpi xmlns:a14="http://schemas.microsoft.com/office/drawing/2010/main" val="0"/>
              </a:ext>
            </a:extLst>
          </a:blip>
          <a:stretch>
            <a:fillRect/>
          </a:stretch>
        </p:blipFill>
        <p:spPr>
          <a:xfrm>
            <a:off x="406800" y="344529"/>
            <a:ext cx="2136071" cy="431998"/>
          </a:xfrm>
          <a:prstGeom prst="rect">
            <a:avLst/>
          </a:prstGeom>
        </p:spPr>
      </p:pic>
      <p:sp>
        <p:nvSpPr>
          <p:cNvPr id="28" name="Textplatzhalter 9">
            <a:extLst>
              <a:ext uri="{FF2B5EF4-FFF2-40B4-BE49-F238E27FC236}">
                <a16:creationId xmlns:a16="http://schemas.microsoft.com/office/drawing/2014/main" id="{F9396F62-FEBC-4F38-A2F8-B90611FD8C22}"/>
              </a:ext>
            </a:extLst>
          </p:cNvPr>
          <p:cNvSpPr>
            <a:spLocks noGrp="1"/>
          </p:cNvSpPr>
          <p:nvPr>
            <p:ph type="body" sz="quarter" idx="13" hasCustomPrompt="1"/>
          </p:nvPr>
        </p:nvSpPr>
        <p:spPr>
          <a:xfrm>
            <a:off x="954000" y="649575"/>
            <a:ext cx="3561913" cy="483423"/>
          </a:xfrm>
        </p:spPr>
        <p:txBody>
          <a:bodyPr/>
          <a:lstStyle>
            <a:lvl1pPr marL="0" indent="0">
              <a:lnSpc>
                <a:spcPct val="100000"/>
              </a:lnSpc>
              <a:buFontTx/>
              <a:buNone/>
              <a:defRPr sz="1200">
                <a:solidFill>
                  <a:schemeClr val="bg1"/>
                </a:solidFill>
              </a:defRPr>
            </a:lvl1pPr>
          </a:lstStyle>
          <a:p>
            <a:pPr lvl="0"/>
            <a:r>
              <a:rPr lang="de-DE" dirty="0"/>
              <a:t>Institutsname max. 2-zeilig, bitte hier klicken und überschreiben</a:t>
            </a:r>
          </a:p>
        </p:txBody>
      </p:sp>
      <p:sp>
        <p:nvSpPr>
          <p:cNvPr id="16" name="Textfeld 15"/>
          <p:cNvSpPr txBox="1"/>
          <p:nvPr userDrawn="1"/>
        </p:nvSpPr>
        <p:spPr>
          <a:xfrm>
            <a:off x="396000" y="1360800"/>
            <a:ext cx="2160000" cy="291600"/>
          </a:xfrm>
          <a:prstGeom prst="rect">
            <a:avLst/>
          </a:prstGeom>
        </p:spPr>
        <p:txBody>
          <a:bodyPr vert="horz" lIns="0" tIns="0" rIns="0" bIns="0" rtlCol="0">
            <a:noAutofit/>
          </a:bodyPr>
          <a:lstStyle>
            <a:lvl1pPr lvl="0" indent="0" defTabSz="685800">
              <a:lnSpc>
                <a:spcPct val="120000"/>
              </a:lnSpc>
              <a:spcBef>
                <a:spcPts val="750"/>
              </a:spcBef>
              <a:buClr>
                <a:schemeClr val="accent2"/>
              </a:buClr>
              <a:buFont typeface="Arial" panose="020B0604020202020204" pitchFamily="34" charset="0"/>
              <a:buNone/>
              <a:defRPr sz="1200" b="0">
                <a:solidFill>
                  <a:schemeClr val="tx1">
                    <a:lumMod val="75000"/>
                    <a:lumOff val="25000"/>
                  </a:schemeClr>
                </a:solidFill>
              </a:defRPr>
            </a:lvl1pPr>
            <a:lvl2pPr marL="449263" indent="-273050" defTabSz="685800">
              <a:lnSpc>
                <a:spcPct val="120000"/>
              </a:lnSpc>
              <a:spcBef>
                <a:spcPts val="375"/>
              </a:spcBef>
              <a:buFont typeface="Arial" panose="020B0604020202020204" pitchFamily="34" charset="0"/>
              <a:buChar char="–"/>
              <a:defRPr sz="1800">
                <a:solidFill>
                  <a:schemeClr val="bg1"/>
                </a:solidFill>
              </a:defRPr>
            </a:lvl2pPr>
            <a:lvl3pPr marL="715963" indent="-266700" defTabSz="685800">
              <a:lnSpc>
                <a:spcPct val="120000"/>
              </a:lnSpc>
              <a:spcBef>
                <a:spcPts val="375"/>
              </a:spcBef>
              <a:buFont typeface="Arial" panose="020B0604020202020204" pitchFamily="34" charset="0"/>
              <a:buChar char="–"/>
              <a:defRPr sz="1800">
                <a:solidFill>
                  <a:schemeClr val="bg1"/>
                </a:solidFill>
              </a:defRPr>
            </a:lvl3pPr>
            <a:lvl4pPr marL="987425" indent="-271463" defTabSz="685800">
              <a:lnSpc>
                <a:spcPct val="120000"/>
              </a:lnSpc>
              <a:spcBef>
                <a:spcPts val="375"/>
              </a:spcBef>
              <a:buFont typeface="Arial" panose="020B0604020202020204" pitchFamily="34" charset="0"/>
              <a:buChar char="–"/>
              <a:defRPr sz="1800">
                <a:solidFill>
                  <a:schemeClr val="bg1"/>
                </a:solidFill>
              </a:defRPr>
            </a:lvl4pPr>
            <a:lvl5pPr marL="1254125" indent="-266700" defTabSz="685800">
              <a:lnSpc>
                <a:spcPct val="120000"/>
              </a:lnSpc>
              <a:spcBef>
                <a:spcPts val="375"/>
              </a:spcBef>
              <a:buFont typeface="Arial" panose="020B0604020202020204" pitchFamily="34" charset="0"/>
              <a:buChar char="–"/>
              <a:defRPr sz="1800">
                <a:solidFill>
                  <a:schemeClr val="bg1"/>
                </a:solidFill>
              </a:defRPr>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lvl="0">
              <a:spcBef>
                <a:spcPts val="200"/>
              </a:spcBef>
              <a:spcAft>
                <a:spcPts val="0"/>
              </a:spcAft>
              <a:tabLst>
                <a:tab pos="541332" algn="l"/>
              </a:tabLst>
            </a:pPr>
            <a:r>
              <a:rPr lang="de-DE" sz="2000" b="1" dirty="0" err="1">
                <a:solidFill>
                  <a:schemeClr val="bg1"/>
                </a:solidFill>
              </a:rPr>
              <a:t>Thank</a:t>
            </a:r>
            <a:r>
              <a:rPr lang="de-DE" sz="2000" b="1" dirty="0">
                <a:solidFill>
                  <a:schemeClr val="bg1"/>
                </a:solidFill>
              </a:rPr>
              <a:t> </a:t>
            </a:r>
            <a:r>
              <a:rPr lang="de-DE" sz="2000" b="1" dirty="0" err="1">
                <a:solidFill>
                  <a:schemeClr val="bg1"/>
                </a:solidFill>
              </a:rPr>
              <a:t>you</a:t>
            </a:r>
            <a:r>
              <a:rPr lang="de-DE" sz="2000" b="1" dirty="0">
                <a:solidFill>
                  <a:schemeClr val="bg1"/>
                </a:solidFill>
              </a:rPr>
              <a:t>!</a:t>
            </a:r>
          </a:p>
        </p:txBody>
      </p:sp>
      <p:sp>
        <p:nvSpPr>
          <p:cNvPr id="27" name="Bildplatzhalter 7">
            <a:extLst>
              <a:ext uri="{FF2B5EF4-FFF2-40B4-BE49-F238E27FC236}">
                <a16:creationId xmlns:a16="http://schemas.microsoft.com/office/drawing/2014/main" id="{E8FAD59D-97FD-4838-AA91-B266FA5DD370}"/>
              </a:ext>
            </a:extLst>
          </p:cNvPr>
          <p:cNvSpPr>
            <a:spLocks noGrp="1"/>
          </p:cNvSpPr>
          <p:nvPr>
            <p:ph type="pic" sz="quarter" idx="14"/>
          </p:nvPr>
        </p:nvSpPr>
        <p:spPr>
          <a:xfrm>
            <a:off x="410400" y="1911600"/>
            <a:ext cx="1440000" cy="1440000"/>
          </a:xfrm>
          <a:prstGeom prst="ellipse">
            <a:avLst/>
          </a:prstGeom>
          <a:solidFill>
            <a:schemeClr val="bg1"/>
          </a:solidFill>
        </p:spPr>
        <p:txBody>
          <a:bodyPr tIns="0"/>
          <a:lstStyle>
            <a:lvl1pPr marL="0" indent="0" algn="ctr">
              <a:buNone/>
              <a:defRPr sz="1200"/>
            </a:lvl1pPr>
          </a:lstStyle>
          <a:p>
            <a:r>
              <a:rPr lang="de-DE" dirty="0"/>
              <a:t>Bild durch Klicken auf Symbol hinzufügen</a:t>
            </a:r>
            <a:endParaRPr lang="en-US" dirty="0"/>
          </a:p>
        </p:txBody>
      </p:sp>
      <p:sp>
        <p:nvSpPr>
          <p:cNvPr id="20" name="Textplatzhalter 10"/>
          <p:cNvSpPr>
            <a:spLocks noGrp="1"/>
          </p:cNvSpPr>
          <p:nvPr>
            <p:ph type="body" sz="quarter" idx="15" hasCustomPrompt="1"/>
          </p:nvPr>
        </p:nvSpPr>
        <p:spPr>
          <a:xfrm>
            <a:off x="2174400" y="2093040"/>
            <a:ext cx="3290054" cy="194400"/>
          </a:xfrm>
        </p:spPr>
        <p:txBody>
          <a:bodyPr/>
          <a:lstStyle>
            <a:lvl1pPr marL="0" indent="0">
              <a:buNone/>
              <a:defRPr sz="1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21" name="E-Mail">
            <a:extLst>
              <a:ext uri="{FF2B5EF4-FFF2-40B4-BE49-F238E27FC236}">
                <a16:creationId xmlns:a16="http://schemas.microsoft.com/office/drawing/2014/main" id="{DCA0F4E3-1440-45FD-9AD3-AC60C7275A79}"/>
              </a:ext>
            </a:extLst>
          </p:cNvPr>
          <p:cNvSpPr>
            <a:spLocks noGrp="1"/>
          </p:cNvSpPr>
          <p:nvPr>
            <p:ph type="body" sz="quarter" idx="31" hasCustomPrompt="1"/>
          </p:nvPr>
        </p:nvSpPr>
        <p:spPr>
          <a:xfrm>
            <a:off x="2174400" y="2571750"/>
            <a:ext cx="542646" cy="216482"/>
          </a:xfrm>
        </p:spPr>
        <p:txBody>
          <a:bodyPr/>
          <a:lstStyle>
            <a:lvl1pPr>
              <a:buFontTx/>
              <a:buNone/>
              <a:defRPr lang="de-DE" sz="1200" b="0" kern="1200" dirty="0" smtClean="0">
                <a:solidFill>
                  <a:schemeClr val="bg1"/>
                </a:solidFill>
                <a:latin typeface="+mn-lt"/>
                <a:ea typeface="+mn-ea"/>
                <a:cs typeface="+mn-cs"/>
              </a:defRPr>
            </a:lvl1pPr>
            <a:lvl2pPr>
              <a:defRPr lang="de-DE" sz="1200" b="0" kern="1200" dirty="0" smtClean="0">
                <a:solidFill>
                  <a:schemeClr val="tx1"/>
                </a:solidFill>
                <a:latin typeface="+mn-lt"/>
                <a:ea typeface="+mn-ea"/>
                <a:cs typeface="+mn-cs"/>
              </a:defRPr>
            </a:lvl2pPr>
            <a:lvl3pPr>
              <a:defRPr lang="de-DE" sz="1200" b="0" kern="1200" dirty="0" smtClean="0">
                <a:solidFill>
                  <a:schemeClr val="tx1"/>
                </a:solidFill>
                <a:latin typeface="+mn-lt"/>
                <a:ea typeface="+mn-ea"/>
                <a:cs typeface="+mn-cs"/>
              </a:defRPr>
            </a:lvl3pPr>
            <a:lvl4pPr>
              <a:defRPr lang="de-DE" sz="1200" b="0" kern="1200" dirty="0" smtClean="0">
                <a:solidFill>
                  <a:schemeClr val="tx1"/>
                </a:solidFill>
                <a:latin typeface="+mn-lt"/>
                <a:ea typeface="+mn-ea"/>
                <a:cs typeface="+mn-cs"/>
              </a:defRPr>
            </a:lvl4pPr>
            <a:lvl5pPr>
              <a:defRPr lang="de-DE" sz="1200" b="0" kern="1200" dirty="0">
                <a:solidFill>
                  <a:schemeClr val="tx1"/>
                </a:solidFill>
                <a:latin typeface="+mn-lt"/>
                <a:ea typeface="+mn-ea"/>
                <a:cs typeface="+mn-cs"/>
              </a:defRPr>
            </a:lvl5pPr>
          </a:lstStyle>
          <a:p>
            <a:pPr marL="0" lvl="0" indent="0" algn="l" defTabSz="571454" rtl="0" eaLnBrk="1" latinLnBrk="0" hangingPunct="1">
              <a:lnSpc>
                <a:spcPct val="120000"/>
              </a:lnSpc>
              <a:spcBef>
                <a:spcPts val="625"/>
              </a:spcBef>
              <a:buClr>
                <a:schemeClr val="accent1"/>
              </a:buClr>
              <a:buFont typeface="Arial" panose="020B0604020202020204" pitchFamily="34" charset="0"/>
              <a:buNone/>
            </a:pPr>
            <a:r>
              <a:rPr lang="de-DE" dirty="0" err="1"/>
              <a:t>e-mail</a:t>
            </a:r>
            <a:endParaRPr lang="de-DE" dirty="0"/>
          </a:p>
        </p:txBody>
      </p:sp>
      <p:sp>
        <p:nvSpPr>
          <p:cNvPr id="30" name="Email Adresse">
            <a:extLst>
              <a:ext uri="{FF2B5EF4-FFF2-40B4-BE49-F238E27FC236}">
                <a16:creationId xmlns:a16="http://schemas.microsoft.com/office/drawing/2014/main" id="{18AFB8D7-22AC-4F06-9D32-AF7F36CC699E}"/>
              </a:ext>
            </a:extLst>
          </p:cNvPr>
          <p:cNvSpPr>
            <a:spLocks noGrp="1"/>
          </p:cNvSpPr>
          <p:nvPr>
            <p:ph type="body" sz="quarter" idx="26" hasCustomPrompt="1"/>
          </p:nvPr>
        </p:nvSpPr>
        <p:spPr>
          <a:xfrm>
            <a:off x="2717046" y="2571750"/>
            <a:ext cx="2747409" cy="216000"/>
          </a:xfrm>
        </p:spPr>
        <p:txBody>
          <a:bodyPr/>
          <a:lstStyle>
            <a:lvl1pPr marL="0" indent="0">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err="1"/>
              <a:t>enter</a:t>
            </a:r>
            <a:r>
              <a:rPr lang="de-DE" dirty="0"/>
              <a:t> </a:t>
            </a:r>
            <a:r>
              <a:rPr lang="de-DE" dirty="0" err="1"/>
              <a:t>address</a:t>
            </a:r>
            <a:endParaRPr lang="de-DE" dirty="0"/>
          </a:p>
        </p:txBody>
      </p:sp>
      <p:sp>
        <p:nvSpPr>
          <p:cNvPr id="37" name="Durchwahl">
            <a:extLst>
              <a:ext uri="{FF2B5EF4-FFF2-40B4-BE49-F238E27FC236}">
                <a16:creationId xmlns:a16="http://schemas.microsoft.com/office/drawing/2014/main" id="{185017B9-74A5-4F34-B4F0-E3B0154A9FDA}"/>
              </a:ext>
            </a:extLst>
          </p:cNvPr>
          <p:cNvSpPr>
            <a:spLocks noGrp="1"/>
          </p:cNvSpPr>
          <p:nvPr>
            <p:ph type="body" sz="quarter" idx="35" hasCustomPrompt="1"/>
          </p:nvPr>
        </p:nvSpPr>
        <p:spPr>
          <a:xfrm>
            <a:off x="2174400" y="2803119"/>
            <a:ext cx="1745931" cy="245786"/>
          </a:xfrm>
        </p:spPr>
        <p:txBody>
          <a:bodyPr/>
          <a:lstStyle>
            <a:lvl1pPr marL="0" indent="0" defTabSz="538163">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Phone	+49 (0) 711 685-</a:t>
            </a:r>
          </a:p>
        </p:txBody>
      </p:sp>
      <p:sp>
        <p:nvSpPr>
          <p:cNvPr id="31" name="Durchwahl">
            <a:extLst>
              <a:ext uri="{FF2B5EF4-FFF2-40B4-BE49-F238E27FC236}">
                <a16:creationId xmlns:a16="http://schemas.microsoft.com/office/drawing/2014/main" id="{01FBFF05-552E-459B-91AE-83CAFE128CD4}"/>
              </a:ext>
            </a:extLst>
          </p:cNvPr>
          <p:cNvSpPr>
            <a:spLocks noGrp="1"/>
          </p:cNvSpPr>
          <p:nvPr>
            <p:ph type="body" sz="quarter" idx="23" hasCustomPrompt="1"/>
          </p:nvPr>
        </p:nvSpPr>
        <p:spPr>
          <a:xfrm>
            <a:off x="3861486" y="2803119"/>
            <a:ext cx="649267" cy="245786"/>
          </a:xfrm>
        </p:spPr>
        <p:txBody>
          <a:bodyPr/>
          <a:lstStyle>
            <a:lvl1pPr marL="0" indent="0">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a:t>
            </a:r>
          </a:p>
        </p:txBody>
      </p:sp>
      <p:sp>
        <p:nvSpPr>
          <p:cNvPr id="32" name="www">
            <a:extLst>
              <a:ext uri="{FF2B5EF4-FFF2-40B4-BE49-F238E27FC236}">
                <a16:creationId xmlns:a16="http://schemas.microsoft.com/office/drawing/2014/main" id="{67CA897D-892F-4CE9-B942-3B8DA0BA2496}"/>
              </a:ext>
            </a:extLst>
          </p:cNvPr>
          <p:cNvSpPr>
            <a:spLocks noGrp="1"/>
          </p:cNvSpPr>
          <p:nvPr>
            <p:ph type="body" sz="quarter" idx="33" hasCustomPrompt="1"/>
          </p:nvPr>
        </p:nvSpPr>
        <p:spPr>
          <a:xfrm>
            <a:off x="2174401" y="3063790"/>
            <a:ext cx="364806" cy="238329"/>
          </a:xfrm>
        </p:spPr>
        <p:txBody>
          <a:bodyPr/>
          <a:lstStyle>
            <a:lvl1pPr marL="0" indent="0">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www.</a:t>
            </a:r>
          </a:p>
        </p:txBody>
      </p:sp>
      <p:sp>
        <p:nvSpPr>
          <p:cNvPr id="33" name="Webadresse">
            <a:extLst>
              <a:ext uri="{FF2B5EF4-FFF2-40B4-BE49-F238E27FC236}">
                <a16:creationId xmlns:a16="http://schemas.microsoft.com/office/drawing/2014/main" id="{2BEFE346-3B3E-4B37-B098-AEC82CBD8CB3}"/>
              </a:ext>
            </a:extLst>
          </p:cNvPr>
          <p:cNvSpPr>
            <a:spLocks noGrp="1"/>
          </p:cNvSpPr>
          <p:nvPr>
            <p:ph type="body" sz="quarter" idx="24" hasCustomPrompt="1"/>
          </p:nvPr>
        </p:nvSpPr>
        <p:spPr>
          <a:xfrm>
            <a:off x="2539208" y="3063790"/>
            <a:ext cx="1838323" cy="238329"/>
          </a:xfrm>
        </p:spPr>
        <p:txBody>
          <a:bodyPr/>
          <a:lstStyle>
            <a:lvl1pPr marL="0" indent="0">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err="1"/>
              <a:t>enter</a:t>
            </a:r>
            <a:r>
              <a:rPr lang="de-DE" dirty="0"/>
              <a:t> </a:t>
            </a:r>
            <a:r>
              <a:rPr lang="de-DE" dirty="0" err="1"/>
              <a:t>address</a:t>
            </a:r>
            <a:endParaRPr lang="de-DE" dirty="0"/>
          </a:p>
        </p:txBody>
      </p:sp>
      <p:sp>
        <p:nvSpPr>
          <p:cNvPr id="34" name="Universität Stuttgart">
            <a:extLst>
              <a:ext uri="{FF2B5EF4-FFF2-40B4-BE49-F238E27FC236}">
                <a16:creationId xmlns:a16="http://schemas.microsoft.com/office/drawing/2014/main" id="{1170A3D9-2665-43AC-B8CF-228214AB4591}"/>
              </a:ext>
            </a:extLst>
          </p:cNvPr>
          <p:cNvSpPr>
            <a:spLocks noGrp="1"/>
          </p:cNvSpPr>
          <p:nvPr>
            <p:ph type="body" sz="quarter" idx="34" hasCustomPrompt="1"/>
          </p:nvPr>
        </p:nvSpPr>
        <p:spPr>
          <a:xfrm>
            <a:off x="2174400" y="3508234"/>
            <a:ext cx="2500012" cy="218691"/>
          </a:xfrm>
        </p:spPr>
        <p:txBody>
          <a:bodyPr/>
          <a:lstStyle>
            <a:lvl1pPr marL="0" indent="0">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lgn="l" defTabSz="571454" rtl="0" eaLnBrk="1" latinLnBrk="0" hangingPunct="1">
              <a:lnSpc>
                <a:spcPct val="120000"/>
              </a:lnSpc>
              <a:spcBef>
                <a:spcPts val="625"/>
              </a:spcBef>
              <a:spcAft>
                <a:spcPts val="0"/>
              </a:spcAft>
              <a:buClr>
                <a:schemeClr val="accent1"/>
              </a:buClr>
              <a:buFont typeface="Arial" panose="020B0604020202020204" pitchFamily="34" charset="0"/>
              <a:buNone/>
              <a:tabLst>
                <a:tab pos="541338" algn="l"/>
              </a:tabLst>
            </a:pPr>
            <a:r>
              <a:rPr lang="de-DE" dirty="0"/>
              <a:t>University </a:t>
            </a:r>
            <a:r>
              <a:rPr lang="de-DE" dirty="0" err="1"/>
              <a:t>of</a:t>
            </a:r>
            <a:r>
              <a:rPr lang="de-DE" dirty="0"/>
              <a:t> Stuttgart</a:t>
            </a:r>
          </a:p>
        </p:txBody>
      </p:sp>
      <p:sp>
        <p:nvSpPr>
          <p:cNvPr id="35" name="Abteilung Institut">
            <a:extLst>
              <a:ext uri="{FF2B5EF4-FFF2-40B4-BE49-F238E27FC236}">
                <a16:creationId xmlns:a16="http://schemas.microsoft.com/office/drawing/2014/main" id="{E7568E75-9942-41F4-B0BF-B47296C8126E}"/>
              </a:ext>
            </a:extLst>
          </p:cNvPr>
          <p:cNvSpPr>
            <a:spLocks noGrp="1"/>
          </p:cNvSpPr>
          <p:nvPr>
            <p:ph type="body" sz="quarter" idx="25" hasCustomPrompt="1"/>
          </p:nvPr>
        </p:nvSpPr>
        <p:spPr>
          <a:xfrm>
            <a:off x="2174400" y="3747179"/>
            <a:ext cx="3290054" cy="216000"/>
          </a:xfrm>
        </p:spPr>
        <p:txBody>
          <a:bodyPr/>
          <a:lstStyle>
            <a:lvl1pPr marL="0" indent="0">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Department </a:t>
            </a:r>
            <a:r>
              <a:rPr lang="de-DE" dirty="0" err="1"/>
              <a:t>or</a:t>
            </a:r>
            <a:r>
              <a:rPr lang="de-DE" dirty="0"/>
              <a:t> </a:t>
            </a:r>
            <a:r>
              <a:rPr lang="de-DE" dirty="0" err="1"/>
              <a:t>institute</a:t>
            </a:r>
            <a:r>
              <a:rPr lang="de-DE" dirty="0"/>
              <a:t> </a:t>
            </a:r>
            <a:r>
              <a:rPr lang="de-DE" dirty="0" err="1"/>
              <a:t>name</a:t>
            </a:r>
            <a:endParaRPr lang="de-DE" dirty="0"/>
          </a:p>
        </p:txBody>
      </p:sp>
      <p:sp>
        <p:nvSpPr>
          <p:cNvPr id="36" name="Adressfeld">
            <a:extLst>
              <a:ext uri="{FF2B5EF4-FFF2-40B4-BE49-F238E27FC236}">
                <a16:creationId xmlns:a16="http://schemas.microsoft.com/office/drawing/2014/main" id="{4CC9AD5A-92CF-494C-BE6A-00BD7C60B579}"/>
              </a:ext>
            </a:extLst>
          </p:cNvPr>
          <p:cNvSpPr>
            <a:spLocks noGrp="1"/>
          </p:cNvSpPr>
          <p:nvPr>
            <p:ph type="body" sz="quarter" idx="21" hasCustomPrompt="1"/>
          </p:nvPr>
        </p:nvSpPr>
        <p:spPr>
          <a:xfrm>
            <a:off x="2174400" y="3983433"/>
            <a:ext cx="3290054" cy="216000"/>
          </a:xfrm>
        </p:spPr>
        <p:txBody>
          <a:bodyPr/>
          <a:lstStyle>
            <a:lvl1pPr marL="0" indent="0">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err="1"/>
              <a:t>Address</a:t>
            </a:r>
            <a:endParaRPr lang="de-DE" dirty="0"/>
          </a:p>
        </p:txBody>
      </p:sp>
    </p:spTree>
    <p:extLst>
      <p:ext uri="{BB962C8B-B14F-4D97-AF65-F5344CB8AC3E}">
        <p14:creationId xmlns:p14="http://schemas.microsoft.com/office/powerpoint/2010/main" val="283637311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Titelplatzhalter 6"/>
          <p:cNvSpPr>
            <a:spLocks noGrp="1"/>
          </p:cNvSpPr>
          <p:nvPr>
            <p:ph type="title"/>
          </p:nvPr>
        </p:nvSpPr>
        <p:spPr>
          <a:xfrm>
            <a:off x="466727" y="324000"/>
            <a:ext cx="8245475" cy="252000"/>
          </a:xfrm>
          <a:prstGeom prst="rect">
            <a:avLst/>
          </a:prstGeom>
        </p:spPr>
        <p:txBody>
          <a:bodyPr vert="horz" lIns="0" tIns="0" rIns="0" bIns="0" rtlCol="0" anchor="t">
            <a:noAutofit/>
          </a:bodyPr>
          <a:lstStyle/>
          <a:p>
            <a:r>
              <a:rPr lang="de-DE" dirty="0"/>
              <a:t>Titelmasterformat durch Klicken bearbeiten</a:t>
            </a:r>
          </a:p>
        </p:txBody>
      </p:sp>
      <p:sp>
        <p:nvSpPr>
          <p:cNvPr id="3" name="Text Placeholder 2"/>
          <p:cNvSpPr>
            <a:spLocks noGrp="1"/>
          </p:cNvSpPr>
          <p:nvPr>
            <p:ph type="body" idx="1"/>
          </p:nvPr>
        </p:nvSpPr>
        <p:spPr>
          <a:xfrm>
            <a:off x="468316" y="1008000"/>
            <a:ext cx="8243887" cy="3706384"/>
          </a:xfrm>
          <a:prstGeom prst="rect">
            <a:avLst/>
          </a:prstGeom>
        </p:spPr>
        <p:txBody>
          <a:bodyPr vert="horz" lIns="0" tIns="0" rIns="0" bIns="0" rtlCol="0">
            <a:noAutofit/>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5" name="Footer Placeholder 4">
            <a:extLst>
              <a:ext uri="{C183D7F6-B498-43B3-948B-1728B52AA6E4}">
                <adec:decorative xmlns:adec="http://schemas.microsoft.com/office/drawing/2017/decorative" val="1"/>
              </a:ext>
            </a:extLst>
          </p:cNvPr>
          <p:cNvSpPr>
            <a:spLocks noGrp="1"/>
          </p:cNvSpPr>
          <p:nvPr>
            <p:ph type="ftr" sz="quarter" idx="3"/>
          </p:nvPr>
        </p:nvSpPr>
        <p:spPr>
          <a:xfrm>
            <a:off x="466725" y="4876200"/>
            <a:ext cx="6063501" cy="123111"/>
          </a:xfrm>
          <a:prstGeom prst="rect">
            <a:avLst/>
          </a:prstGeom>
        </p:spPr>
        <p:txBody>
          <a:bodyPr vert="horz" wrap="square" lIns="0" tIns="0" rIns="0" bIns="0" rtlCol="0" anchor="t" anchorCtr="0">
            <a:spAutoFit/>
          </a:bodyPr>
          <a:lstStyle>
            <a:lvl1pPr algn="l">
              <a:defRPr sz="800">
                <a:solidFill>
                  <a:schemeClr val="tx1"/>
                </a:solidFill>
              </a:defRPr>
            </a:lvl1pPr>
          </a:lstStyle>
          <a:p>
            <a:r>
              <a:rPr lang="en-US" dirty="0"/>
              <a:t>University of Stuttgart</a:t>
            </a:r>
          </a:p>
        </p:txBody>
      </p:sp>
      <p:sp>
        <p:nvSpPr>
          <p:cNvPr id="4" name="Date Placeholder 3">
            <a:extLst>
              <a:ext uri="{C183D7F6-B498-43B3-948B-1728B52AA6E4}">
                <adec:decorative xmlns:adec="http://schemas.microsoft.com/office/drawing/2017/decorative" val="1"/>
              </a:ext>
            </a:extLst>
          </p:cNvPr>
          <p:cNvSpPr>
            <a:spLocks noGrp="1"/>
          </p:cNvSpPr>
          <p:nvPr>
            <p:ph type="dt" sz="half" idx="2"/>
          </p:nvPr>
        </p:nvSpPr>
        <p:spPr>
          <a:xfrm>
            <a:off x="7754400" y="4876200"/>
            <a:ext cx="532800" cy="123111"/>
          </a:xfrm>
          <a:prstGeom prst="rect">
            <a:avLst/>
          </a:prstGeom>
        </p:spPr>
        <p:txBody>
          <a:bodyPr vert="horz" lIns="0" tIns="0" rIns="0" bIns="0" rtlCol="0" anchor="t" anchorCtr="0">
            <a:spAutoFit/>
          </a:bodyPr>
          <a:lstStyle>
            <a:lvl1pPr>
              <a:defRPr lang="en-US" sz="800" smtClean="0"/>
            </a:lvl1pPr>
          </a:lstStyle>
          <a:p>
            <a:r>
              <a:rPr lang="de-DE"/>
              <a:t>08/20/2020</a:t>
            </a:r>
            <a:endParaRPr lang="en-US" dirty="0"/>
          </a:p>
        </p:txBody>
      </p:sp>
      <p:sp>
        <p:nvSpPr>
          <p:cNvPr id="6" name="Slide Number Placeholder 5">
            <a:extLst>
              <a:ext uri="{C183D7F6-B498-43B3-948B-1728B52AA6E4}">
                <adec:decorative xmlns:adec="http://schemas.microsoft.com/office/drawing/2017/decorative" val="1"/>
              </a:ext>
            </a:extLst>
          </p:cNvPr>
          <p:cNvSpPr>
            <a:spLocks noGrp="1"/>
          </p:cNvSpPr>
          <p:nvPr>
            <p:ph type="sldNum" sz="quarter" idx="4"/>
          </p:nvPr>
        </p:nvSpPr>
        <p:spPr>
          <a:xfrm>
            <a:off x="8489000" y="4876200"/>
            <a:ext cx="223200" cy="123111"/>
          </a:xfrm>
          <a:prstGeom prst="rect">
            <a:avLst/>
          </a:prstGeom>
        </p:spPr>
        <p:txBody>
          <a:bodyPr vert="horz" lIns="0" tIns="0" rIns="0" bIns="0" rtlCol="0" anchor="t" anchorCtr="0">
            <a:spAutoFit/>
          </a:bodyPr>
          <a:lstStyle>
            <a:lvl1pPr algn="r">
              <a:defRPr sz="800">
                <a:solidFill>
                  <a:schemeClr val="tx1"/>
                </a:solidFill>
              </a:defRPr>
            </a:lvl1pPr>
          </a:lstStyle>
          <a:p>
            <a:fld id="{9E82CC3C-1DC0-4FDA-9590-6CC506AB67F8}" type="slidenum">
              <a:rPr lang="en-US" smtClean="0"/>
              <a:pPr/>
              <a:t>‹Nr.›</a:t>
            </a:fld>
            <a:endParaRPr lang="en-US" dirty="0"/>
          </a:p>
        </p:txBody>
      </p:sp>
    </p:spTree>
    <p:extLst>
      <p:ext uri="{BB962C8B-B14F-4D97-AF65-F5344CB8AC3E}">
        <p14:creationId xmlns:p14="http://schemas.microsoft.com/office/powerpoint/2010/main" val="1297630091"/>
      </p:ext>
    </p:extLst>
  </p:cSld>
  <p:clrMap bg1="lt1" tx1="dk1" bg2="lt2" tx2="dk2" accent1="accent1" accent2="accent2" accent3="accent3" accent4="accent4" accent5="accent5" accent6="accent6" hlink="hlink" folHlink="folHlink"/>
  <p:sldLayoutIdLst>
    <p:sldLayoutId id="2147483697" r:id="rId1"/>
    <p:sldLayoutId id="2147483701" r:id="rId2"/>
    <p:sldLayoutId id="2147483702" r:id="rId3"/>
    <p:sldLayoutId id="2147483698" r:id="rId4"/>
    <p:sldLayoutId id="2147483688" r:id="rId5"/>
    <p:sldLayoutId id="2147483662" r:id="rId6"/>
    <p:sldLayoutId id="2147483692" r:id="rId7"/>
    <p:sldLayoutId id="2147483663" r:id="rId8"/>
    <p:sldLayoutId id="2147483676" r:id="rId9"/>
    <p:sldLayoutId id="2147483680" r:id="rId10"/>
    <p:sldLayoutId id="2147483664" r:id="rId11"/>
    <p:sldLayoutId id="2147483665" r:id="rId12"/>
    <p:sldLayoutId id="2147483677" r:id="rId13"/>
    <p:sldLayoutId id="2147483678" r:id="rId14"/>
    <p:sldLayoutId id="2147483679" r:id="rId15"/>
    <p:sldLayoutId id="2147483684" r:id="rId16"/>
    <p:sldLayoutId id="2147483685" r:id="rId17"/>
    <p:sldLayoutId id="2147483682" r:id="rId18"/>
    <p:sldLayoutId id="2147483681" r:id="rId19"/>
    <p:sldLayoutId id="2147483683" r:id="rId20"/>
    <p:sldLayoutId id="2147483666" r:id="rId21"/>
    <p:sldLayoutId id="2147483667" r:id="rId22"/>
    <p:sldLayoutId id="2147483689" r:id="rId23"/>
    <p:sldLayoutId id="2147483690" r:id="rId24"/>
    <p:sldLayoutId id="2147483699" r:id="rId25"/>
    <p:sldLayoutId id="2147483700" r:id="rId26"/>
  </p:sldLayoutIdLst>
  <p:hf hdr="0"/>
  <p:txStyles>
    <p:titleStyle>
      <a:lvl1pPr algn="l" defTabSz="685793" rtl="0" eaLnBrk="1" latinLnBrk="0" hangingPunct="1">
        <a:lnSpc>
          <a:spcPct val="90000"/>
        </a:lnSpc>
        <a:spcBef>
          <a:spcPct val="0"/>
        </a:spcBef>
        <a:buNone/>
        <a:defRPr sz="1800" b="1" kern="1200">
          <a:solidFill>
            <a:schemeClr val="tx1"/>
          </a:solidFill>
          <a:latin typeface="+mj-lt"/>
          <a:ea typeface="+mj-ea"/>
          <a:cs typeface="+mj-cs"/>
        </a:defRPr>
      </a:lvl1pPr>
    </p:titleStyle>
    <p:bodyStyle>
      <a:lvl1pPr marL="171448" indent="-171448" algn="l" defTabSz="685793" rtl="0" eaLnBrk="1" latinLnBrk="0" hangingPunct="1">
        <a:lnSpc>
          <a:spcPct val="120000"/>
        </a:lnSpc>
        <a:spcBef>
          <a:spcPts val="750"/>
        </a:spcBef>
        <a:buClr>
          <a:schemeClr val="accent1"/>
        </a:buClr>
        <a:buFont typeface="Arial" panose="020B0604020202020204" pitchFamily="34" charset="0"/>
        <a:buChar char="•"/>
        <a:defRPr sz="1600" kern="1200">
          <a:solidFill>
            <a:schemeClr val="tx1"/>
          </a:solidFill>
          <a:latin typeface="+mn-lt"/>
          <a:ea typeface="+mn-ea"/>
          <a:cs typeface="+mn-cs"/>
        </a:defRPr>
      </a:lvl1pPr>
      <a:lvl2pPr marL="360360" indent="-184148" algn="l" defTabSz="685793" rtl="0" eaLnBrk="1" latinLnBrk="0" hangingPunct="1">
        <a:lnSpc>
          <a:spcPct val="120000"/>
        </a:lnSpc>
        <a:spcBef>
          <a:spcPts val="376"/>
        </a:spcBef>
        <a:buClr>
          <a:schemeClr val="tx1"/>
        </a:buClr>
        <a:buFont typeface="Arial" panose="020B0604020202020204" pitchFamily="34" charset="0"/>
        <a:buChar char="•"/>
        <a:defRPr sz="1600" kern="1200">
          <a:solidFill>
            <a:schemeClr val="tx1"/>
          </a:solidFill>
          <a:latin typeface="+mn-lt"/>
          <a:ea typeface="+mn-ea"/>
          <a:cs typeface="+mn-cs"/>
        </a:defRPr>
      </a:lvl2pPr>
      <a:lvl3pPr marL="536570" indent="-176212" algn="l" defTabSz="685793" rtl="0" eaLnBrk="1" latinLnBrk="0" hangingPunct="1">
        <a:lnSpc>
          <a:spcPct val="120000"/>
        </a:lnSpc>
        <a:spcBef>
          <a:spcPts val="376"/>
        </a:spcBef>
        <a:buClr>
          <a:schemeClr val="tx1"/>
        </a:buClr>
        <a:buFont typeface="Arial" panose="020B0604020202020204" pitchFamily="34" charset="0"/>
        <a:buChar char="•"/>
        <a:defRPr sz="1400" kern="1200">
          <a:solidFill>
            <a:schemeClr val="tx1"/>
          </a:solidFill>
          <a:latin typeface="+mn-lt"/>
          <a:ea typeface="+mn-ea"/>
          <a:cs typeface="+mn-cs"/>
        </a:defRPr>
      </a:lvl3pPr>
      <a:lvl4pPr marL="720718" indent="-184148" algn="l" defTabSz="685793" rtl="0" eaLnBrk="1" latinLnBrk="0" hangingPunct="1">
        <a:lnSpc>
          <a:spcPct val="120000"/>
        </a:lnSpc>
        <a:spcBef>
          <a:spcPts val="376"/>
        </a:spcBef>
        <a:buClr>
          <a:schemeClr val="tx1"/>
        </a:buClr>
        <a:buFont typeface="Arial" panose="020B0604020202020204" pitchFamily="34" charset="0"/>
        <a:buChar char="•"/>
        <a:defRPr sz="1400" kern="1200">
          <a:solidFill>
            <a:schemeClr val="tx1"/>
          </a:solidFill>
          <a:latin typeface="+mn-lt"/>
          <a:ea typeface="+mn-ea"/>
          <a:cs typeface="+mn-cs"/>
        </a:defRPr>
      </a:lvl4pPr>
      <a:lvl5pPr marL="896929" indent="-176212" algn="l" defTabSz="685793" rtl="0" eaLnBrk="1" latinLnBrk="0" hangingPunct="1">
        <a:lnSpc>
          <a:spcPct val="120000"/>
        </a:lnSpc>
        <a:spcBef>
          <a:spcPts val="376"/>
        </a:spcBef>
        <a:buClr>
          <a:schemeClr val="tx1"/>
        </a:buClr>
        <a:buFont typeface="Arial" panose="020B0604020202020204" pitchFamily="34" charset="0"/>
        <a:buChar char="•"/>
        <a:defRPr sz="1400" kern="1200">
          <a:solidFill>
            <a:schemeClr val="tx1"/>
          </a:solidFill>
          <a:latin typeface="+mn-lt"/>
          <a:ea typeface="+mn-ea"/>
          <a:cs typeface="+mn-cs"/>
        </a:defRPr>
      </a:lvl5pPr>
      <a:lvl6pPr marL="1885931" indent="-171448" algn="l" defTabSz="685793" rtl="0" eaLnBrk="1" latinLnBrk="0" hangingPunct="1">
        <a:lnSpc>
          <a:spcPct val="90000"/>
        </a:lnSpc>
        <a:spcBef>
          <a:spcPts val="376"/>
        </a:spcBef>
        <a:buFont typeface="Arial" panose="020B0604020202020204" pitchFamily="34" charset="0"/>
        <a:buChar char="•"/>
        <a:defRPr sz="1350" kern="1200">
          <a:solidFill>
            <a:schemeClr val="tx1"/>
          </a:solidFill>
          <a:latin typeface="+mn-lt"/>
          <a:ea typeface="+mn-ea"/>
          <a:cs typeface="+mn-cs"/>
        </a:defRPr>
      </a:lvl6pPr>
      <a:lvl7pPr marL="2228828" indent="-171448" algn="l" defTabSz="685793" rtl="0" eaLnBrk="1" latinLnBrk="0" hangingPunct="1">
        <a:lnSpc>
          <a:spcPct val="90000"/>
        </a:lnSpc>
        <a:spcBef>
          <a:spcPts val="376"/>
        </a:spcBef>
        <a:buFont typeface="Arial" panose="020B0604020202020204" pitchFamily="34" charset="0"/>
        <a:buChar char="•"/>
        <a:defRPr sz="1350" kern="1200">
          <a:solidFill>
            <a:schemeClr val="tx1"/>
          </a:solidFill>
          <a:latin typeface="+mn-lt"/>
          <a:ea typeface="+mn-ea"/>
          <a:cs typeface="+mn-cs"/>
        </a:defRPr>
      </a:lvl7pPr>
      <a:lvl8pPr marL="2571724" indent="-171448" algn="l" defTabSz="685793" rtl="0" eaLnBrk="1" latinLnBrk="0" hangingPunct="1">
        <a:lnSpc>
          <a:spcPct val="90000"/>
        </a:lnSpc>
        <a:spcBef>
          <a:spcPts val="376"/>
        </a:spcBef>
        <a:buFont typeface="Arial" panose="020B0604020202020204" pitchFamily="34" charset="0"/>
        <a:buChar char="•"/>
        <a:defRPr sz="1350" kern="1200">
          <a:solidFill>
            <a:schemeClr val="tx1"/>
          </a:solidFill>
          <a:latin typeface="+mn-lt"/>
          <a:ea typeface="+mn-ea"/>
          <a:cs typeface="+mn-cs"/>
        </a:defRPr>
      </a:lvl8pPr>
      <a:lvl9pPr marL="2914621" indent="-171448" algn="l" defTabSz="685793" rtl="0" eaLnBrk="1" latinLnBrk="0" hangingPunct="1">
        <a:lnSpc>
          <a:spcPct val="90000"/>
        </a:lnSpc>
        <a:spcBef>
          <a:spcPts val="376"/>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793" rtl="0" eaLnBrk="1" latinLnBrk="0" hangingPunct="1">
        <a:defRPr sz="1350" kern="1200">
          <a:solidFill>
            <a:schemeClr val="tx1"/>
          </a:solidFill>
          <a:latin typeface="+mn-lt"/>
          <a:ea typeface="+mn-ea"/>
          <a:cs typeface="+mn-cs"/>
        </a:defRPr>
      </a:lvl1pPr>
      <a:lvl2pPr marL="342897" algn="l" defTabSz="685793" rtl="0" eaLnBrk="1" latinLnBrk="0" hangingPunct="1">
        <a:defRPr sz="1350" kern="1200">
          <a:solidFill>
            <a:schemeClr val="tx1"/>
          </a:solidFill>
          <a:latin typeface="+mn-lt"/>
          <a:ea typeface="+mn-ea"/>
          <a:cs typeface="+mn-cs"/>
        </a:defRPr>
      </a:lvl2pPr>
      <a:lvl3pPr marL="685793" algn="l" defTabSz="685793" rtl="0" eaLnBrk="1" latinLnBrk="0" hangingPunct="1">
        <a:defRPr sz="1350" kern="1200">
          <a:solidFill>
            <a:schemeClr val="tx1"/>
          </a:solidFill>
          <a:latin typeface="+mn-lt"/>
          <a:ea typeface="+mn-ea"/>
          <a:cs typeface="+mn-cs"/>
        </a:defRPr>
      </a:lvl3pPr>
      <a:lvl4pPr marL="1028690" algn="l" defTabSz="685793" rtl="0" eaLnBrk="1" latinLnBrk="0" hangingPunct="1">
        <a:defRPr sz="1350" kern="1200">
          <a:solidFill>
            <a:schemeClr val="tx1"/>
          </a:solidFill>
          <a:latin typeface="+mn-lt"/>
          <a:ea typeface="+mn-ea"/>
          <a:cs typeface="+mn-cs"/>
        </a:defRPr>
      </a:lvl4pPr>
      <a:lvl5pPr marL="1371586" algn="l" defTabSz="685793" rtl="0" eaLnBrk="1" latinLnBrk="0" hangingPunct="1">
        <a:defRPr sz="1350" kern="1200">
          <a:solidFill>
            <a:schemeClr val="tx1"/>
          </a:solidFill>
          <a:latin typeface="+mn-lt"/>
          <a:ea typeface="+mn-ea"/>
          <a:cs typeface="+mn-cs"/>
        </a:defRPr>
      </a:lvl5pPr>
      <a:lvl6pPr marL="1714483" algn="l" defTabSz="685793" rtl="0" eaLnBrk="1" latinLnBrk="0" hangingPunct="1">
        <a:defRPr sz="1350" kern="1200">
          <a:solidFill>
            <a:schemeClr val="tx1"/>
          </a:solidFill>
          <a:latin typeface="+mn-lt"/>
          <a:ea typeface="+mn-ea"/>
          <a:cs typeface="+mn-cs"/>
        </a:defRPr>
      </a:lvl6pPr>
      <a:lvl7pPr marL="2057379" algn="l" defTabSz="685793" rtl="0" eaLnBrk="1" latinLnBrk="0" hangingPunct="1">
        <a:defRPr sz="1350" kern="1200">
          <a:solidFill>
            <a:schemeClr val="tx1"/>
          </a:solidFill>
          <a:latin typeface="+mn-lt"/>
          <a:ea typeface="+mn-ea"/>
          <a:cs typeface="+mn-cs"/>
        </a:defRPr>
      </a:lvl7pPr>
      <a:lvl8pPr marL="2400276" algn="l" defTabSz="685793" rtl="0" eaLnBrk="1" latinLnBrk="0" hangingPunct="1">
        <a:defRPr sz="1350" kern="1200">
          <a:solidFill>
            <a:schemeClr val="tx1"/>
          </a:solidFill>
          <a:latin typeface="+mn-lt"/>
          <a:ea typeface="+mn-ea"/>
          <a:cs typeface="+mn-cs"/>
        </a:defRPr>
      </a:lvl8pPr>
      <a:lvl9pPr marL="2743173" algn="l" defTabSz="685793"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99" userDrawn="1">
          <p15:clr>
            <a:srgbClr val="F26B43"/>
          </p15:clr>
        </p15:guide>
        <p15:guide id="2" pos="295" userDrawn="1">
          <p15:clr>
            <a:srgbClr val="F26B43"/>
          </p15:clr>
        </p15:guide>
        <p15:guide id="3" orient="horz" pos="2967" userDrawn="1">
          <p15:clr>
            <a:srgbClr val="F26B43"/>
          </p15:clr>
        </p15:guide>
        <p15:guide id="4" pos="548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0" sz="quarter"/>
          </p:nvPr>
        </p:nvSpPr>
        <p:spPr/>
      </p:sp>
      <p:sp>
        <p:nvSpPr>
          <p:cNvPr id="3" name="Title 2"/>
          <p:cNvSpPr>
            <a:spLocks noGrp="1"/>
          </p:cNvSpPr>
          <p:nvPr>
            <p:ph type="title"/>
          </p:nvPr>
        </p:nvSpPr>
        <p:spPr/>
        <p:txBody>
          <a:bodyPr wrap="square"/>
          <a:lstStyle/>
          <a:p>
            <a:pPr algn="l">
              <a:spcAft>
                <a:spcPts val="400"/>
              </a:spcAft>
            </a:pPr>
            <a:r>
              <a:rPr sz="2400" b="1">
                <a:solidFill>
                  <a:srgbClr val="FFFFFF"/>
                </a:solidFill>
                <a:latin typeface="Arial"/>
              </a:rPr>
              <a:t>How we reached a public R² of 0.87652</a:t>
            </a:r>
          </a:p>
        </p:txBody>
      </p:sp>
      <p:sp>
        <p:nvSpPr>
          <p:cNvPr id="5" name="Text Placeholder 4"/>
          <p:cNvSpPr>
            <a:spLocks noGrp="1"/>
          </p:cNvSpPr>
          <p:nvPr>
            <p:ph type="body" idx="11" sz="quarter"/>
          </p:nvPr>
        </p:nvSpPr>
        <p:spPr/>
        <p:txBody>
          <a:bodyPr wrap="square" anchor="ctr"/>
          <a:lstStyle/>
          <a:p>
            <a:pPr algn="ctr">
              <a:spcAft>
                <a:spcPts val="0"/>
              </a:spcAft>
            </a:pPr>
            <a:r>
              <a:rPr sz="1200" b="1">
                <a:solidFill>
                  <a:srgbClr val="3E444C"/>
                </a:solidFill>
                <a:latin typeface="Arial"/>
              </a:rPr>
              <a:t>Joest Homann</a:t>
            </a:r>
          </a:p>
        </p:txBody>
      </p:sp>
      <p:sp>
        <p:nvSpPr>
          <p:cNvPr id="6" name="TextBox 5"/>
          <p:cNvSpPr txBox="1"/>
          <p:nvPr/>
        </p:nvSpPr>
        <p:spPr>
          <a:xfrm>
            <a:off x="274320" y="1463040"/>
            <a:ext cx="4315968" cy="493776"/>
          </a:xfrm>
          <a:prstGeom prst="rect">
            <a:avLst/>
          </a:prstGeom>
          <a:noFill/>
        </p:spPr>
        <p:txBody>
          <a:bodyPr wrap="square">
            <a:spAutoFit/>
          </a:bodyPr>
          <a:lstStyle/>
          <a:p>
            <a:pPr algn="l">
              <a:spcAft>
                <a:spcPts val="400"/>
              </a:spcAft>
            </a:pPr>
            <a:r>
              <a:rPr sz="1300" b="1">
                <a:solidFill>
                  <a:srgbClr val="00519E"/>
                </a:solidFill>
                <a:latin typeface="Arial"/>
              </a:rPr>
              <a:t>Estimating remaining useful life from a partial UAV telemetry history</a:t>
            </a:r>
          </a:p>
        </p:txBody>
      </p:sp>
      <p:pic>
        <p:nvPicPr>
          <p:cNvPr id="7" name="Picture 6" descr="prediction_timeline.png"/>
          <p:cNvPicPr>
            <a:picLocks noChangeAspect="1"/>
          </p:cNvPicPr>
          <p:nvPr/>
        </p:nvPicPr>
        <p:blipFill>
          <a:blip r:embed="rId3"/>
          <a:stretch>
            <a:fillRect/>
          </a:stretch>
        </p:blipFill>
        <p:spPr>
          <a:xfrm>
            <a:off x="201168" y="2356104"/>
            <a:ext cx="4462272" cy="1487424"/>
          </a:xfrm>
          <a:prstGeom prst="rect">
            <a:avLst/>
          </a:prstGeom>
        </p:spPr>
      </p:pic>
      <p:sp>
        <p:nvSpPr>
          <p:cNvPr id="8" name="TextBox 7"/>
          <p:cNvSpPr txBox="1"/>
          <p:nvPr/>
        </p:nvSpPr>
        <p:spPr>
          <a:xfrm>
            <a:off x="274320" y="4261104"/>
            <a:ext cx="4315968" cy="219456"/>
          </a:xfrm>
          <a:prstGeom prst="rect">
            <a:avLst/>
          </a:prstGeom>
          <a:noFill/>
        </p:spPr>
        <p:txBody>
          <a:bodyPr wrap="square">
            <a:spAutoFit/>
          </a:bodyPr>
          <a:lstStyle/>
          <a:p>
            <a:pPr algn="l">
              <a:spcAft>
                <a:spcPts val="400"/>
              </a:spcAft>
            </a:pPr>
            <a:r>
              <a:rPr sz="1000" b="0">
                <a:solidFill>
                  <a:srgbClr val="9F9998"/>
                </a:solidFill>
                <a:latin typeface="Arial"/>
              </a:rPr>
              <a:t>University of Stuttgart · 9 September 2026</a:t>
            </a:r>
          </a:p>
        </p:txBody>
      </p:sp>
      <p:sp>
        <p:nvSpPr>
          <p:cNvPr id="9" name="TextBox 8"/>
          <p:cNvSpPr txBox="1"/>
          <p:nvPr/>
        </p:nvSpPr>
        <p:spPr>
          <a:xfrm>
            <a:off x="274320" y="4498848"/>
            <a:ext cx="4315968" cy="182880"/>
          </a:xfrm>
          <a:prstGeom prst="rect">
            <a:avLst/>
          </a:prstGeom>
          <a:noFill/>
        </p:spPr>
        <p:txBody>
          <a:bodyPr wrap="square">
            <a:spAutoFit/>
          </a:bodyPr>
          <a:lstStyle/>
          <a:p>
            <a:pPr algn="l">
              <a:spcAft>
                <a:spcPts val="400"/>
              </a:spcAft>
            </a:pPr>
            <a:r>
              <a:rPr sz="800" b="0">
                <a:solidFill>
                  <a:srgbClr val="9F9998"/>
                </a:solidFill>
                <a:latin typeface="Arial"/>
              </a:rPr>
              <a:t>Figure: generated for this talk from data/train.csv · claims C01-C04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a:spcAft>
                <a:spcPts val="400"/>
              </a:spcAft>
            </a:pPr>
            <a:r>
              <a:rPr sz="1800" b="1">
                <a:solidFill>
                  <a:srgbClr val="3E444C"/>
                </a:solidFill>
                <a:latin typeface="Arial"/>
              </a:rPr>
              <a:t>Five submissions, five decisions</a:t>
            </a:r>
          </a:p>
        </p:txBody>
      </p:sp>
      <p:sp>
        <p:nvSpPr>
          <p:cNvPr id="3" name="Text Placeholder 2"/>
          <p:cNvSpPr>
            <a:spLocks noGrp="1"/>
          </p:cNvSpPr>
          <p:nvPr>
            <p:ph type="body" idx="13" sz="quarter"/>
          </p:nvPr>
        </p:nvSpPr>
        <p:spPr/>
        <p:txBody>
          <a:bodyPr wrap="square"/>
          <a:lstStyle/>
          <a:p>
            <a:pPr algn="l">
              <a:spcAft>
                <a:spcPts val="400"/>
              </a:spcAft>
            </a:pPr>
            <a:r>
              <a:rPr sz="1400" b="0">
                <a:solidFill>
                  <a:srgbClr val="9F9998"/>
                </a:solidFill>
                <a:latin typeface="Arial"/>
              </a:rPr>
              <a:t>Each point is a submitted model; the label names the decision that run introduced</a:t>
            </a:r>
          </a:p>
        </p:txBody>
      </p:sp>
      <p:sp>
        <p:nvSpPr>
          <p:cNvPr id="7" name="Datumsplatzhalter 6">
            <a:extLst>
              <a:ext uri="{FF2B5EF4-FFF2-40B4-BE49-F238E27FC236}">
                <a16:creationId xmlns:a16="http://schemas.microsoft.com/office/drawing/2014/main" id="{124A6A03-5D2E-417E-9A62-737D1DBC92ED}"/>
              </a:ext>
              <a:ext uri="{C183D7F6-B498-43B3-948B-1728B52AA6E4}">
                <adec:decorative xmlns:adec="http://schemas.microsoft.com/office/drawing/2017/decorative" val="1"/>
              </a:ext>
            </a:extLst>
          </p:cNvPr>
          <p:cNvSpPr>
            <a:spLocks noGrp="1"/>
          </p:cNvSpPr>
          <p:nvPr>
            <p:ph type="dt" sz="half" idx="14"/>
          </p:nvPr>
        </p:nvSpPr>
        <p:spPr>
          <a:xfrm>
            <a:off x="6492240" y="4873752"/>
            <a:ext cx="1737360" cy="146304"/>
          </a:xfrm>
        </p:spPr>
        <p:txBody>
          <a:bodyPr/>
          <a:lstStyle/>
          <a:p>
            <a:pPr algn="r"/>
            <a:r>
              <a:rPr lang="de-DE"/>
              <a:t>9 September 2026</a:t>
            </a:r>
            <a:endParaRPr lang="en-US" dirty="0"/>
          </a:p>
        </p:txBody>
      </p:sp>
      <p:sp>
        <p:nvSpPr>
          <p:cNvPr id="8" name="Fußzeilenplatzhalter 7">
            <a:extLst>
              <a:ext uri="{FF2B5EF4-FFF2-40B4-BE49-F238E27FC236}">
                <a16:creationId xmlns:a16="http://schemas.microsoft.com/office/drawing/2014/main" id="{90427F68-7D65-4111-9D28-F407D044A73B}"/>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UAV remaining useful life estimation</a:t>
            </a:r>
            <a:endParaRPr lang="en-US" dirty="0"/>
          </a:p>
        </p:txBody>
      </p:sp>
      <p:sp>
        <p:nvSpPr>
          <p:cNvPr id="10" name="Foliennummernplatzhalter 9">
            <a:extLst>
              <a:ext uri="{FF2B5EF4-FFF2-40B4-BE49-F238E27FC236}">
                <a16:creationId xmlns:a16="http://schemas.microsoft.com/office/drawing/2014/main" id="{BC2B8577-8AB8-42B5-8BA8-1751A412246A}"/>
              </a:ext>
              <a:ext uri="{C183D7F6-B498-43B3-948B-1728B52AA6E4}">
                <adec:decorative xmlns:adec="http://schemas.microsoft.com/office/drawing/2017/decorative" val="1"/>
              </a:ext>
            </a:extLst>
          </p:cNvPr>
          <p:cNvSpPr>
            <a:spLocks noGrp="1"/>
          </p:cNvSpPr>
          <p:nvPr>
            <p:ph type="sldNum" sz="quarter" idx="16"/>
          </p:nvPr>
        </p:nvSpPr>
        <p:spPr/>
        <p:txBody>
          <a:bodyPr/>
          <a:lstStyle/>
          <a:p>
            <a:fld id="{9E82CC3C-1DC0-4FDA-9590-6CC506AB67F8}" type="slidenum">
              <a:rPr lang="en-US" smtClean="0"/>
              <a:pPr/>
              <a:t>‹Nr.›</a:t>
            </a:fld>
            <a:endParaRPr lang="en-US" dirty="0"/>
          </a:p>
        </p:txBody>
      </p:sp>
      <p:pic>
        <p:nvPicPr>
          <p:cNvPr id="11" name="Picture 10" descr="public_score_chain.png"/>
          <p:cNvPicPr>
            <a:picLocks noChangeAspect="1"/>
          </p:cNvPicPr>
          <p:nvPr/>
        </p:nvPicPr>
        <p:blipFill>
          <a:blip r:embed="rId3"/>
          <a:stretch>
            <a:fillRect/>
          </a:stretch>
        </p:blipFill>
        <p:spPr>
          <a:xfrm>
            <a:off x="466344" y="1047251"/>
            <a:ext cx="8247888" cy="3410184"/>
          </a:xfrm>
          <a:prstGeom prst="rect">
            <a:avLst/>
          </a:prstGeom>
        </p:spPr>
      </p:pic>
      <p:sp>
        <p:nvSpPr>
          <p:cNvPr id="12" name="TextBox 11"/>
          <p:cNvSpPr txBox="1"/>
          <p:nvPr/>
        </p:nvSpPr>
        <p:spPr>
          <a:xfrm>
            <a:off x="466344" y="4572000"/>
            <a:ext cx="8247888" cy="164592"/>
          </a:xfrm>
          <a:prstGeom prst="rect">
            <a:avLst/>
          </a:prstGeom>
          <a:noFill/>
        </p:spPr>
        <p:txBody>
          <a:bodyPr wrap="square">
            <a:spAutoFit/>
          </a:bodyPr>
          <a:lstStyle/>
          <a:p>
            <a:pPr algn="l">
              <a:spcAft>
                <a:spcPts val="400"/>
              </a:spcAft>
            </a:pPr>
            <a:r>
              <a:rPr sz="900" b="0">
                <a:solidFill>
                  <a:srgbClr val="9F9998"/>
                </a:solidFill>
                <a:latin typeface="Arial"/>
              </a:rPr>
              <a:t>Figure: generated from kaggle_scores.csv and pipeline_experiments.md · claims C05-C12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a:spcAft>
                <a:spcPts val="400"/>
              </a:spcAft>
            </a:pPr>
            <a:r>
              <a:rPr sz="1800" b="1">
                <a:solidFill>
                  <a:srgbClr val="3E444C"/>
                </a:solidFill>
                <a:latin typeface="Arial"/>
              </a:rPr>
              <a:t>Six of twenty-eight channels carry no information</a:t>
            </a:r>
          </a:p>
        </p:txBody>
      </p:sp>
      <p:sp>
        <p:nvSpPr>
          <p:cNvPr id="3" name="Text Placeholder 2"/>
          <p:cNvSpPr>
            <a:spLocks noGrp="1"/>
          </p:cNvSpPr>
          <p:nvPr>
            <p:ph type="body" idx="13" sz="quarter"/>
          </p:nvPr>
        </p:nvSpPr>
        <p:spPr/>
        <p:txBody>
          <a:bodyPr wrap="square"/>
          <a:lstStyle/>
          <a:p>
            <a:pPr algn="l">
              <a:spcAft>
                <a:spcPts val="400"/>
              </a:spcAft>
            </a:pPr>
            <a:r>
              <a:rPr sz="1400" b="0">
                <a:solidFill>
                  <a:srgbClr val="9F9998"/>
                </a:solidFill>
                <a:latin typeface="Arial"/>
              </a:rPr>
              <a:t>Red: unique-value count and numeric range at the effectively-constant threshold</a:t>
            </a:r>
          </a:p>
        </p:txBody>
      </p:sp>
      <p:sp>
        <p:nvSpPr>
          <p:cNvPr id="7" name="Datumsplatzhalter 6">
            <a:extLst>
              <a:ext uri="{FF2B5EF4-FFF2-40B4-BE49-F238E27FC236}">
                <a16:creationId xmlns:a16="http://schemas.microsoft.com/office/drawing/2014/main" id="{124A6A03-5D2E-417E-9A62-737D1DBC92ED}"/>
              </a:ext>
              <a:ext uri="{C183D7F6-B498-43B3-948B-1728B52AA6E4}">
                <adec:decorative xmlns:adec="http://schemas.microsoft.com/office/drawing/2017/decorative" val="1"/>
              </a:ext>
            </a:extLst>
          </p:cNvPr>
          <p:cNvSpPr>
            <a:spLocks noGrp="1"/>
          </p:cNvSpPr>
          <p:nvPr>
            <p:ph type="dt" sz="half" idx="14"/>
          </p:nvPr>
        </p:nvSpPr>
        <p:spPr>
          <a:xfrm>
            <a:off x="6492240" y="4873752"/>
            <a:ext cx="1737360" cy="146304"/>
          </a:xfrm>
        </p:spPr>
        <p:txBody>
          <a:bodyPr/>
          <a:lstStyle/>
          <a:p>
            <a:pPr algn="r"/>
            <a:r>
              <a:rPr lang="de-DE"/>
              <a:t>9 September 2026</a:t>
            </a:r>
            <a:endParaRPr lang="en-US" dirty="0"/>
          </a:p>
        </p:txBody>
      </p:sp>
      <p:sp>
        <p:nvSpPr>
          <p:cNvPr id="8" name="Fußzeilenplatzhalter 7">
            <a:extLst>
              <a:ext uri="{FF2B5EF4-FFF2-40B4-BE49-F238E27FC236}">
                <a16:creationId xmlns:a16="http://schemas.microsoft.com/office/drawing/2014/main" id="{90427F68-7D65-4111-9D28-F407D044A73B}"/>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UAV remaining useful life estimation</a:t>
            </a:r>
            <a:endParaRPr lang="en-US" dirty="0"/>
          </a:p>
        </p:txBody>
      </p:sp>
      <p:sp>
        <p:nvSpPr>
          <p:cNvPr id="10" name="Foliennummernplatzhalter 9">
            <a:extLst>
              <a:ext uri="{FF2B5EF4-FFF2-40B4-BE49-F238E27FC236}">
                <a16:creationId xmlns:a16="http://schemas.microsoft.com/office/drawing/2014/main" id="{BC2B8577-8AB8-42B5-8BA8-1751A412246A}"/>
              </a:ext>
              <a:ext uri="{C183D7F6-B498-43B3-948B-1728B52AA6E4}">
                <adec:decorative xmlns:adec="http://schemas.microsoft.com/office/drawing/2017/decorative" val="1"/>
              </a:ext>
            </a:extLst>
          </p:cNvPr>
          <p:cNvSpPr>
            <a:spLocks noGrp="1"/>
          </p:cNvSpPr>
          <p:nvPr>
            <p:ph type="sldNum" sz="quarter" idx="16"/>
          </p:nvPr>
        </p:nvSpPr>
        <p:spPr/>
        <p:txBody>
          <a:bodyPr/>
          <a:lstStyle/>
          <a:p>
            <a:fld id="{9E82CC3C-1DC0-4FDA-9590-6CC506AB67F8}" type="slidenum">
              <a:rPr lang="en-US" smtClean="0"/>
              <a:pPr/>
              <a:t>‹Nr.›</a:t>
            </a:fld>
            <a:endParaRPr lang="en-US" dirty="0"/>
          </a:p>
        </p:txBody>
      </p:sp>
      <p:pic>
        <p:nvPicPr>
          <p:cNvPr id="11" name="Picture 10" descr="constant_features.png"/>
          <p:cNvPicPr>
            <a:picLocks noChangeAspect="1"/>
          </p:cNvPicPr>
          <p:nvPr/>
        </p:nvPicPr>
        <p:blipFill>
          <a:blip r:embed="rId3"/>
          <a:stretch>
            <a:fillRect/>
          </a:stretch>
        </p:blipFill>
        <p:spPr>
          <a:xfrm>
            <a:off x="724042" y="987552"/>
            <a:ext cx="7732490" cy="3529584"/>
          </a:xfrm>
          <a:prstGeom prst="rect">
            <a:avLst/>
          </a:prstGeom>
        </p:spPr>
      </p:pic>
      <p:sp>
        <p:nvSpPr>
          <p:cNvPr id="12" name="TextBox 11"/>
          <p:cNvSpPr txBox="1"/>
          <p:nvPr/>
        </p:nvSpPr>
        <p:spPr>
          <a:xfrm>
            <a:off x="466344" y="4572000"/>
            <a:ext cx="8247888" cy="164592"/>
          </a:xfrm>
          <a:prstGeom prst="rect">
            <a:avLst/>
          </a:prstGeom>
          <a:noFill/>
        </p:spPr>
        <p:txBody>
          <a:bodyPr wrap="square">
            <a:spAutoFit/>
          </a:bodyPr>
          <a:lstStyle/>
          <a:p>
            <a:pPr algn="l">
              <a:spcAft>
                <a:spcPts val="400"/>
              </a:spcAft>
            </a:pPr>
            <a:r>
              <a:rPr sz="900" b="0">
                <a:solidFill>
                  <a:srgbClr val="9F9998"/>
                </a:solidFill>
                <a:latin typeface="Arial"/>
              </a:rPr>
              <a:t>Figure: repository script re-run at slide size · 0_data_analysis/broad_data_review/plot_constant_features.py · claims C13-C18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a:spcAft>
                <a:spcPts val="400"/>
              </a:spcAft>
            </a:pPr>
            <a:r>
              <a:rPr sz="1800" b="1">
                <a:solidFill>
                  <a:srgbClr val="3E444C"/>
                </a:solidFill>
                <a:latin typeface="Arial"/>
              </a:rPr>
              <a:t>Ten channels move with age inside every UAV</a:t>
            </a:r>
          </a:p>
        </p:txBody>
      </p:sp>
      <p:sp>
        <p:nvSpPr>
          <p:cNvPr id="3" name="Text Placeholder 2"/>
          <p:cNvSpPr>
            <a:spLocks noGrp="1"/>
          </p:cNvSpPr>
          <p:nvPr>
            <p:ph type="body" idx="13" sz="quarter"/>
          </p:nvPr>
        </p:nvSpPr>
        <p:spPr/>
        <p:txBody>
          <a:bodyPr wrap="square"/>
          <a:lstStyle/>
          <a:p>
            <a:pPr algn="l">
              <a:spcAft>
                <a:spcPts val="400"/>
              </a:spcAft>
            </a:pPr>
            <a:r>
              <a:rPr sz="1400" b="0">
                <a:solidFill>
                  <a:srgbClr val="9F9998"/>
                </a:solidFill>
                <a:latin typeface="Arial"/>
              </a:rPr>
              <a:t>Twelve of the twenty-two channels: the ten degradation candidates, plus telemetry_18 and 26</a:t>
            </a:r>
          </a:p>
        </p:txBody>
      </p:sp>
      <p:sp>
        <p:nvSpPr>
          <p:cNvPr id="7" name="Datumsplatzhalter 6">
            <a:extLst>
              <a:ext uri="{FF2B5EF4-FFF2-40B4-BE49-F238E27FC236}">
                <a16:creationId xmlns:a16="http://schemas.microsoft.com/office/drawing/2014/main" id="{124A6A03-5D2E-417E-9A62-737D1DBC92ED}"/>
              </a:ext>
              <a:ext uri="{C183D7F6-B498-43B3-948B-1728B52AA6E4}">
                <adec:decorative xmlns:adec="http://schemas.microsoft.com/office/drawing/2017/decorative" val="1"/>
              </a:ext>
            </a:extLst>
          </p:cNvPr>
          <p:cNvSpPr>
            <a:spLocks noGrp="1"/>
          </p:cNvSpPr>
          <p:nvPr>
            <p:ph type="dt" sz="half" idx="14"/>
          </p:nvPr>
        </p:nvSpPr>
        <p:spPr>
          <a:xfrm>
            <a:off x="6492240" y="4873752"/>
            <a:ext cx="1737360" cy="146304"/>
          </a:xfrm>
        </p:spPr>
        <p:txBody>
          <a:bodyPr/>
          <a:lstStyle/>
          <a:p>
            <a:pPr algn="r"/>
            <a:r>
              <a:rPr lang="de-DE"/>
              <a:t>9 September 2026</a:t>
            </a:r>
            <a:endParaRPr lang="en-US" dirty="0"/>
          </a:p>
        </p:txBody>
      </p:sp>
      <p:sp>
        <p:nvSpPr>
          <p:cNvPr id="8" name="Fußzeilenplatzhalter 7">
            <a:extLst>
              <a:ext uri="{FF2B5EF4-FFF2-40B4-BE49-F238E27FC236}">
                <a16:creationId xmlns:a16="http://schemas.microsoft.com/office/drawing/2014/main" id="{90427F68-7D65-4111-9D28-F407D044A73B}"/>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UAV remaining useful life estimation</a:t>
            </a:r>
            <a:endParaRPr lang="en-US" dirty="0"/>
          </a:p>
        </p:txBody>
      </p:sp>
      <p:sp>
        <p:nvSpPr>
          <p:cNvPr id="10" name="Foliennummernplatzhalter 9">
            <a:extLst>
              <a:ext uri="{FF2B5EF4-FFF2-40B4-BE49-F238E27FC236}">
                <a16:creationId xmlns:a16="http://schemas.microsoft.com/office/drawing/2014/main" id="{BC2B8577-8AB8-42B5-8BA8-1751A412246A}"/>
              </a:ext>
              <a:ext uri="{C183D7F6-B498-43B3-948B-1728B52AA6E4}">
                <adec:decorative xmlns:adec="http://schemas.microsoft.com/office/drawing/2017/decorative" val="1"/>
              </a:ext>
            </a:extLst>
          </p:cNvPr>
          <p:cNvSpPr>
            <a:spLocks noGrp="1"/>
          </p:cNvSpPr>
          <p:nvPr>
            <p:ph type="sldNum" sz="quarter" idx="16"/>
          </p:nvPr>
        </p:nvSpPr>
        <p:spPr/>
        <p:txBody>
          <a:bodyPr/>
          <a:lstStyle/>
          <a:p>
            <a:fld id="{9E82CC3C-1DC0-4FDA-9590-6CC506AB67F8}" type="slidenum">
              <a:rPr lang="en-US" smtClean="0"/>
              <a:pPr/>
              <a:t>‹Nr.›</a:t>
            </a:fld>
            <a:endParaRPr lang="en-US" dirty="0"/>
          </a:p>
        </p:txBody>
      </p:sp>
      <p:pic>
        <p:nvPicPr>
          <p:cNvPr id="11" name="Picture 10" descr="temporal_rul_summary_subset.png"/>
          <p:cNvPicPr>
            <a:picLocks noChangeAspect="1"/>
          </p:cNvPicPr>
          <p:nvPr/>
        </p:nvPicPr>
        <p:blipFill>
          <a:blip r:embed="rId3"/>
          <a:stretch>
            <a:fillRect/>
          </a:stretch>
        </p:blipFill>
        <p:spPr>
          <a:xfrm>
            <a:off x="466344" y="987690"/>
            <a:ext cx="8247888" cy="3529306"/>
          </a:xfrm>
          <a:prstGeom prst="rect">
            <a:avLst/>
          </a:prstGeom>
        </p:spPr>
      </p:pic>
      <p:sp>
        <p:nvSpPr>
          <p:cNvPr id="12" name="TextBox 11"/>
          <p:cNvSpPr txBox="1"/>
          <p:nvPr/>
        </p:nvSpPr>
        <p:spPr>
          <a:xfrm>
            <a:off x="466344" y="4572000"/>
            <a:ext cx="8247888" cy="164592"/>
          </a:xfrm>
          <a:prstGeom prst="rect">
            <a:avLst/>
          </a:prstGeom>
          <a:noFill/>
        </p:spPr>
        <p:txBody>
          <a:bodyPr wrap="square">
            <a:spAutoFit/>
          </a:bodyPr>
          <a:lstStyle/>
          <a:p>
            <a:pPr algn="l">
              <a:spcAft>
                <a:spcPts val="400"/>
              </a:spcAft>
            </a:pPr>
            <a:r>
              <a:rPr sz="900" b="0">
                <a:solidFill>
                  <a:srgbClr val="9F9998"/>
                </a:solidFill>
                <a:latin typeface="Arial"/>
              </a:rPr>
              <a:t>Figure: repository script re-run on a channel subset · 0_data_analysis/core_data_analysis/temporal_rul_analysis.py · claims C19-C27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a:spcAft>
                <a:spcPts val="400"/>
              </a:spcAft>
            </a:pPr>
            <a:r>
              <a:rPr sz="1800" b="1">
                <a:solidFill>
                  <a:srgbClr val="3E444C"/>
                </a:solidFill>
                <a:latin typeface="Arial"/>
              </a:rPr>
              <a:t>Variance decomposition assigns each channel its role</a:t>
            </a:r>
          </a:p>
        </p:txBody>
      </p:sp>
      <p:sp>
        <p:nvSpPr>
          <p:cNvPr id="3" name="Text Placeholder 2"/>
          <p:cNvSpPr>
            <a:spLocks noGrp="1"/>
          </p:cNvSpPr>
          <p:nvPr>
            <p:ph type="body" idx="13" sz="quarter"/>
          </p:nvPr>
        </p:nvSpPr>
        <p:spPr/>
        <p:txBody>
          <a:bodyPr wrap="square"/>
          <a:lstStyle/>
          <a:p>
            <a:pPr algn="l">
              <a:spcAft>
                <a:spcPts val="400"/>
              </a:spcAft>
            </a:pPr>
            <a:r>
              <a:rPr sz="1400" b="0">
                <a:solidFill>
                  <a:srgbClr val="9F9998"/>
                </a:solidFill>
                <a:latin typeface="Arial"/>
              </a:rPr>
              <a:t>Dark: variation inside one UAV over time. Light: persistent differences between UAVs.</a:t>
            </a:r>
          </a:p>
        </p:txBody>
      </p:sp>
      <p:sp>
        <p:nvSpPr>
          <p:cNvPr id="7" name="Datumsplatzhalter 6">
            <a:extLst>
              <a:ext uri="{FF2B5EF4-FFF2-40B4-BE49-F238E27FC236}">
                <a16:creationId xmlns:a16="http://schemas.microsoft.com/office/drawing/2014/main" id="{124A6A03-5D2E-417E-9A62-737D1DBC92ED}"/>
              </a:ext>
              <a:ext uri="{C183D7F6-B498-43B3-948B-1728B52AA6E4}">
                <adec:decorative xmlns:adec="http://schemas.microsoft.com/office/drawing/2017/decorative" val="1"/>
              </a:ext>
            </a:extLst>
          </p:cNvPr>
          <p:cNvSpPr>
            <a:spLocks noGrp="1"/>
          </p:cNvSpPr>
          <p:nvPr>
            <p:ph type="dt" sz="half" idx="14"/>
          </p:nvPr>
        </p:nvSpPr>
        <p:spPr>
          <a:xfrm>
            <a:off x="6492240" y="4873752"/>
            <a:ext cx="1737360" cy="146304"/>
          </a:xfrm>
        </p:spPr>
        <p:txBody>
          <a:bodyPr/>
          <a:lstStyle/>
          <a:p>
            <a:pPr algn="r"/>
            <a:r>
              <a:rPr lang="de-DE"/>
              <a:t>9 September 2026</a:t>
            </a:r>
            <a:endParaRPr lang="en-US" dirty="0"/>
          </a:p>
        </p:txBody>
      </p:sp>
      <p:sp>
        <p:nvSpPr>
          <p:cNvPr id="8" name="Fußzeilenplatzhalter 7">
            <a:extLst>
              <a:ext uri="{FF2B5EF4-FFF2-40B4-BE49-F238E27FC236}">
                <a16:creationId xmlns:a16="http://schemas.microsoft.com/office/drawing/2014/main" id="{90427F68-7D65-4111-9D28-F407D044A73B}"/>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UAV remaining useful life estimation</a:t>
            </a:r>
            <a:endParaRPr lang="en-US" dirty="0"/>
          </a:p>
        </p:txBody>
      </p:sp>
      <p:sp>
        <p:nvSpPr>
          <p:cNvPr id="10" name="Foliennummernplatzhalter 9">
            <a:extLst>
              <a:ext uri="{FF2B5EF4-FFF2-40B4-BE49-F238E27FC236}">
                <a16:creationId xmlns:a16="http://schemas.microsoft.com/office/drawing/2014/main" id="{BC2B8577-8AB8-42B5-8BA8-1751A412246A}"/>
              </a:ext>
              <a:ext uri="{C183D7F6-B498-43B3-948B-1728B52AA6E4}">
                <adec:decorative xmlns:adec="http://schemas.microsoft.com/office/drawing/2017/decorative" val="1"/>
              </a:ext>
            </a:extLst>
          </p:cNvPr>
          <p:cNvSpPr>
            <a:spLocks noGrp="1"/>
          </p:cNvSpPr>
          <p:nvPr>
            <p:ph type="sldNum" sz="quarter" idx="16"/>
          </p:nvPr>
        </p:nvSpPr>
        <p:spPr/>
        <p:txBody>
          <a:bodyPr/>
          <a:lstStyle/>
          <a:p>
            <a:fld id="{9E82CC3C-1DC0-4FDA-9590-6CC506AB67F8}" type="slidenum">
              <a:rPr lang="en-US" smtClean="0"/>
              <a:pPr/>
              <a:t>‹Nr.›</a:t>
            </a:fld>
            <a:endParaRPr lang="en-US" dirty="0"/>
          </a:p>
        </p:txBody>
      </p:sp>
      <p:pic>
        <p:nvPicPr>
          <p:cNvPr id="11" name="Picture 10" descr="within_between_variance.png"/>
          <p:cNvPicPr>
            <a:picLocks noChangeAspect="1"/>
          </p:cNvPicPr>
          <p:nvPr/>
        </p:nvPicPr>
        <p:blipFill>
          <a:blip r:embed="rId3"/>
          <a:stretch>
            <a:fillRect/>
          </a:stretch>
        </p:blipFill>
        <p:spPr>
          <a:xfrm>
            <a:off x="614340" y="987552"/>
            <a:ext cx="4660055" cy="3529584"/>
          </a:xfrm>
          <a:prstGeom prst="rect">
            <a:avLst/>
          </a:prstGeom>
        </p:spPr>
      </p:pic>
      <p:sp>
        <p:nvSpPr>
          <p:cNvPr id="12" name="Rounded Rectangle 11"/>
          <p:cNvSpPr/>
          <p:nvPr/>
        </p:nvSpPr>
        <p:spPr>
          <a:xfrm>
            <a:off x="5623559" y="987552"/>
            <a:ext cx="3090672" cy="1078992"/>
          </a:xfrm>
          <a:prstGeom prst="roundRect">
            <a:avLst/>
          </a:prstGeom>
          <a:solidFill>
            <a:srgbClr val="FFFFFF"/>
          </a:solidFill>
          <a:ln w="12700">
            <a:solidFill>
              <a:srgbClr val="9F99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spcAft>
                <a:spcPts val="200"/>
              </a:spcAft>
            </a:pPr>
            <a:r>
              <a:rPr sz="950" b="1">
                <a:solidFill>
                  <a:srgbClr val="00519E"/>
                </a:solidFill>
                <a:latin typeface="Arial"/>
              </a:rPr>
              <a:t>Within-UAV dominated → sequence features</a:t>
            </a:r>
          </a:p>
          <a:p>
            <a:pPr algn="l">
              <a:spcAft>
                <a:spcPts val="200"/>
              </a:spcAft>
            </a:pPr>
            <a:r>
              <a:rPr sz="950" b="0">
                <a:solidFill>
                  <a:srgbClr val="3E444C"/>
                </a:solidFill>
                <a:latin typeface="Arial"/>
              </a:rPr>
              <a:t>· Seventeen channels, including all ten degradation candidates (74-87% within).</a:t>
            </a:r>
          </a:p>
          <a:p>
            <a:pPr algn="l">
              <a:spcAft>
                <a:spcPts val="200"/>
              </a:spcAft>
            </a:pPr>
            <a:r>
              <a:rPr sz="950" b="0">
                <a:solidFill>
                  <a:srgbClr val="3E444C"/>
                </a:solidFill>
                <a:latin typeface="Arial"/>
              </a:rPr>
              <a:t>· Get slope, rolling statistics, recent change and deviation from the UAV's own early-life baseline.</a:t>
            </a:r>
          </a:p>
        </p:txBody>
      </p:sp>
      <p:sp>
        <p:nvSpPr>
          <p:cNvPr id="13" name="Rounded Rectangle 12"/>
          <p:cNvSpPr/>
          <p:nvPr/>
        </p:nvSpPr>
        <p:spPr>
          <a:xfrm>
            <a:off x="5623559" y="2148840"/>
            <a:ext cx="3090672" cy="1078992"/>
          </a:xfrm>
          <a:prstGeom prst="roundRect">
            <a:avLst/>
          </a:prstGeom>
          <a:solidFill>
            <a:srgbClr val="FFFFFF"/>
          </a:solidFill>
          <a:ln w="12700">
            <a:solidFill>
              <a:srgbClr val="9F99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spcAft>
                <a:spcPts val="200"/>
              </a:spcAft>
            </a:pPr>
            <a:r>
              <a:rPr sz="950" b="1">
                <a:solidFill>
                  <a:srgbClr val="00519E"/>
                </a:solidFill>
                <a:latin typeface="Arial"/>
              </a:rPr>
              <a:t>Between-UAV dominated → context features</a:t>
            </a:r>
          </a:p>
          <a:p>
            <a:pPr algn="l">
              <a:spcAft>
                <a:spcPts val="200"/>
              </a:spcAft>
            </a:pPr>
            <a:r>
              <a:rPr sz="950" b="0">
                <a:solidFill>
                  <a:srgbClr val="3E444C"/>
                </a:solidFill>
                <a:latin typeface="Arial"/>
              </a:rPr>
              <a:t>· telemetry_18 (95.7% between), 26 (85.3%), 01 (79.8%), 06 (50.2%).</a:t>
            </a:r>
          </a:p>
          <a:p>
            <a:pPr algn="l">
              <a:spcAft>
                <a:spcPts val="200"/>
              </a:spcAft>
            </a:pPr>
            <a:r>
              <a:rPr sz="950" b="0">
                <a:solidFill>
                  <a:srgbClr val="3E444C"/>
                </a:solidFill>
                <a:latin typeface="Arial"/>
              </a:rPr>
              <a:t>· Kept as level and baseline descriptions only. Their relationship must be shown to generalise to unseen UAVs.</a:t>
            </a:r>
          </a:p>
        </p:txBody>
      </p:sp>
      <p:sp>
        <p:nvSpPr>
          <p:cNvPr id="14" name="Rounded Rectangle 13"/>
          <p:cNvSpPr/>
          <p:nvPr/>
        </p:nvSpPr>
        <p:spPr>
          <a:xfrm>
            <a:off x="5623559" y="3310128"/>
            <a:ext cx="3090672" cy="1078992"/>
          </a:xfrm>
          <a:prstGeom prst="roundRect">
            <a:avLst/>
          </a:prstGeom>
          <a:solidFill>
            <a:srgbClr val="FFFFFF"/>
          </a:solidFill>
          <a:ln w="12700">
            <a:solidFill>
              <a:srgbClr val="9F99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spcAft>
                <a:spcPts val="200"/>
              </a:spcAft>
            </a:pPr>
            <a:r>
              <a:rPr sz="950" b="1">
                <a:solidFill>
                  <a:srgbClr val="00519E"/>
                </a:solidFill>
                <a:latin typeface="Arial"/>
              </a:rPr>
              <a:t>What the plot does not settle</a:t>
            </a:r>
          </a:p>
          <a:p>
            <a:pPr algn="l">
              <a:spcAft>
                <a:spcPts val="200"/>
              </a:spcAft>
            </a:pPr>
            <a:r>
              <a:rPr sz="950" b="0">
                <a:solidFill>
                  <a:srgbClr val="3E444C"/>
                </a:solidFill>
                <a:latin typeface="Arial"/>
              </a:rPr>
              <a:t>· Within-UAV variation may be degradation, operating state or noise; between-UAV variation may be useful context or UAV identity. Only grouped validation separates them.</a:t>
            </a:r>
          </a:p>
        </p:txBody>
      </p:sp>
      <p:sp>
        <p:nvSpPr>
          <p:cNvPr id="15" name="TextBox 14"/>
          <p:cNvSpPr txBox="1"/>
          <p:nvPr/>
        </p:nvSpPr>
        <p:spPr>
          <a:xfrm>
            <a:off x="466344" y="4572000"/>
            <a:ext cx="8247888" cy="164592"/>
          </a:xfrm>
          <a:prstGeom prst="rect">
            <a:avLst/>
          </a:prstGeom>
          <a:noFill/>
        </p:spPr>
        <p:txBody>
          <a:bodyPr wrap="square">
            <a:spAutoFit/>
          </a:bodyPr>
          <a:lstStyle/>
          <a:p>
            <a:pPr algn="l">
              <a:spcAft>
                <a:spcPts val="400"/>
              </a:spcAft>
            </a:pPr>
            <a:r>
              <a:rPr sz="900" b="0">
                <a:solidFill>
                  <a:srgbClr val="9F9998"/>
                </a:solidFill>
                <a:latin typeface="Arial"/>
              </a:rPr>
              <a:t>Figure: repository script re-run at slide size · 0_data_analysis/broad_data_review/plot_within_between_variance.py · claims C28-C34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a:spcAft>
                <a:spcPts val="400"/>
              </a:spcAft>
            </a:pPr>
            <a:r>
              <a:rPr sz="1800" b="1">
                <a:solidFill>
                  <a:srgbClr val="3E444C"/>
                </a:solidFill>
                <a:latin typeface="Arial"/>
              </a:rPr>
              <a:t>Train and test differ in age, not in distribution</a:t>
            </a:r>
          </a:p>
        </p:txBody>
      </p:sp>
      <p:sp>
        <p:nvSpPr>
          <p:cNvPr id="3" name="Text Placeholder 2"/>
          <p:cNvSpPr>
            <a:spLocks noGrp="1"/>
          </p:cNvSpPr>
          <p:nvPr>
            <p:ph type="body" idx="13" sz="quarter"/>
          </p:nvPr>
        </p:nvSpPr>
        <p:spPr/>
        <p:txBody>
          <a:bodyPr wrap="square"/>
          <a:lstStyle/>
          <a:p>
            <a:pPr algn="l">
              <a:spcAft>
                <a:spcPts val="400"/>
              </a:spcAft>
            </a:pPr>
            <a:r>
              <a:rPr sz="1400" b="0">
                <a:solidFill>
                  <a:srgbClr val="9F9998"/>
                </a:solidFill>
                <a:latin typeface="Arial"/>
              </a:rPr>
              <a:t>Left two panels: raw shift. Right two: the same comparison at matched flight cycle.</a:t>
            </a:r>
          </a:p>
        </p:txBody>
      </p:sp>
      <p:sp>
        <p:nvSpPr>
          <p:cNvPr id="7" name="Datumsplatzhalter 6">
            <a:extLst>
              <a:ext uri="{FF2B5EF4-FFF2-40B4-BE49-F238E27FC236}">
                <a16:creationId xmlns:a16="http://schemas.microsoft.com/office/drawing/2014/main" id="{124A6A03-5D2E-417E-9A62-737D1DBC92ED}"/>
              </a:ext>
              <a:ext uri="{C183D7F6-B498-43B3-948B-1728B52AA6E4}">
                <adec:decorative xmlns:adec="http://schemas.microsoft.com/office/drawing/2017/decorative" val="1"/>
              </a:ext>
            </a:extLst>
          </p:cNvPr>
          <p:cNvSpPr>
            <a:spLocks noGrp="1"/>
          </p:cNvSpPr>
          <p:nvPr>
            <p:ph type="dt" sz="half" idx="14"/>
          </p:nvPr>
        </p:nvSpPr>
        <p:spPr>
          <a:xfrm>
            <a:off x="6492240" y="4873752"/>
            <a:ext cx="1737360" cy="146304"/>
          </a:xfrm>
        </p:spPr>
        <p:txBody>
          <a:bodyPr/>
          <a:lstStyle/>
          <a:p>
            <a:pPr algn="r"/>
            <a:r>
              <a:rPr lang="de-DE"/>
              <a:t>9 September 2026</a:t>
            </a:r>
            <a:endParaRPr lang="en-US" dirty="0"/>
          </a:p>
        </p:txBody>
      </p:sp>
      <p:sp>
        <p:nvSpPr>
          <p:cNvPr id="8" name="Fußzeilenplatzhalter 7">
            <a:extLst>
              <a:ext uri="{FF2B5EF4-FFF2-40B4-BE49-F238E27FC236}">
                <a16:creationId xmlns:a16="http://schemas.microsoft.com/office/drawing/2014/main" id="{90427F68-7D65-4111-9D28-F407D044A73B}"/>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UAV remaining useful life estimation</a:t>
            </a:r>
            <a:endParaRPr lang="en-US" dirty="0"/>
          </a:p>
        </p:txBody>
      </p:sp>
      <p:sp>
        <p:nvSpPr>
          <p:cNvPr id="10" name="Foliennummernplatzhalter 9">
            <a:extLst>
              <a:ext uri="{FF2B5EF4-FFF2-40B4-BE49-F238E27FC236}">
                <a16:creationId xmlns:a16="http://schemas.microsoft.com/office/drawing/2014/main" id="{BC2B8577-8AB8-42B5-8BA8-1751A412246A}"/>
              </a:ext>
              <a:ext uri="{C183D7F6-B498-43B3-948B-1728B52AA6E4}">
                <adec:decorative xmlns:adec="http://schemas.microsoft.com/office/drawing/2017/decorative" val="1"/>
              </a:ext>
            </a:extLst>
          </p:cNvPr>
          <p:cNvSpPr>
            <a:spLocks noGrp="1"/>
          </p:cNvSpPr>
          <p:nvPr>
            <p:ph type="sldNum" sz="quarter" idx="16"/>
          </p:nvPr>
        </p:nvSpPr>
        <p:spPr/>
        <p:txBody>
          <a:bodyPr/>
          <a:lstStyle/>
          <a:p>
            <a:fld id="{9E82CC3C-1DC0-4FDA-9590-6CC506AB67F8}" type="slidenum">
              <a:rPr lang="en-US" smtClean="0"/>
              <a:pPr/>
              <a:t>‹Nr.›</a:t>
            </a:fld>
            <a:endParaRPr lang="en-US" dirty="0"/>
          </a:p>
        </p:txBody>
      </p:sp>
      <p:pic>
        <p:nvPicPr>
          <p:cNvPr id="11" name="Picture 10" descr="train_test_drift.png"/>
          <p:cNvPicPr>
            <a:picLocks noChangeAspect="1"/>
          </p:cNvPicPr>
          <p:nvPr/>
        </p:nvPicPr>
        <p:blipFill>
          <a:blip r:embed="rId3"/>
          <a:stretch>
            <a:fillRect/>
          </a:stretch>
        </p:blipFill>
        <p:spPr>
          <a:xfrm>
            <a:off x="633072" y="987552"/>
            <a:ext cx="7914430" cy="3529584"/>
          </a:xfrm>
          <a:prstGeom prst="rect">
            <a:avLst/>
          </a:prstGeom>
        </p:spPr>
      </p:pic>
      <p:sp>
        <p:nvSpPr>
          <p:cNvPr id="12" name="TextBox 11"/>
          <p:cNvSpPr txBox="1"/>
          <p:nvPr/>
        </p:nvSpPr>
        <p:spPr>
          <a:xfrm>
            <a:off x="466344" y="4572000"/>
            <a:ext cx="8247888" cy="164592"/>
          </a:xfrm>
          <a:prstGeom prst="rect">
            <a:avLst/>
          </a:prstGeom>
          <a:noFill/>
        </p:spPr>
        <p:txBody>
          <a:bodyPr wrap="square">
            <a:spAutoFit/>
          </a:bodyPr>
          <a:lstStyle/>
          <a:p>
            <a:pPr algn="l">
              <a:spcAft>
                <a:spcPts val="400"/>
              </a:spcAft>
            </a:pPr>
            <a:r>
              <a:rPr sz="900" b="0">
                <a:solidFill>
                  <a:srgbClr val="9F9998"/>
                </a:solidFill>
                <a:latin typeface="Arial"/>
              </a:rPr>
              <a:t>Figure: repository script re-run at slide size · 0_data_analysis/core_data_analysis/train_test_drift.py · claims C35-C41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a:spcAft>
                <a:spcPts val="400"/>
              </a:spcAft>
            </a:pPr>
            <a:r>
              <a:rPr sz="1800" b="1">
                <a:solidFill>
                  <a:srgbClr val="3E444C"/>
                </a:solidFill>
                <a:latin typeface="Arial"/>
              </a:rPr>
              <a:t>The screening matrix that Phase 1 inherited</a:t>
            </a:r>
          </a:p>
        </p:txBody>
      </p:sp>
      <p:sp>
        <p:nvSpPr>
          <p:cNvPr id="3" name="Text Placeholder 2"/>
          <p:cNvSpPr>
            <a:spLocks noGrp="1"/>
          </p:cNvSpPr>
          <p:nvPr>
            <p:ph type="body" idx="13" sz="quarter"/>
          </p:nvPr>
        </p:nvSpPr>
        <p:spPr/>
        <p:txBody>
          <a:bodyPr wrap="square"/>
          <a:lstStyle/>
          <a:p>
            <a:pPr algn="l">
              <a:spcAft>
                <a:spcPts val="400"/>
              </a:spcAft>
            </a:pPr>
            <a:r>
              <a:rPr sz="1400" b="0">
                <a:solidFill>
                  <a:srgbClr val="9F9998"/>
                </a:solidFill>
                <a:latin typeface="Arial"/>
              </a:rPr>
              <a:t>A blue cell means the channel meets that documented threshold. Roles are not exclusive.</a:t>
            </a:r>
          </a:p>
        </p:txBody>
      </p:sp>
      <p:sp>
        <p:nvSpPr>
          <p:cNvPr id="7" name="Datumsplatzhalter 6">
            <a:extLst>
              <a:ext uri="{FF2B5EF4-FFF2-40B4-BE49-F238E27FC236}">
                <a16:creationId xmlns:a16="http://schemas.microsoft.com/office/drawing/2014/main" id="{124A6A03-5D2E-417E-9A62-737D1DBC92ED}"/>
              </a:ext>
              <a:ext uri="{C183D7F6-B498-43B3-948B-1728B52AA6E4}">
                <adec:decorative xmlns:adec="http://schemas.microsoft.com/office/drawing/2017/decorative" val="1"/>
              </a:ext>
            </a:extLst>
          </p:cNvPr>
          <p:cNvSpPr>
            <a:spLocks noGrp="1"/>
          </p:cNvSpPr>
          <p:nvPr>
            <p:ph type="dt" sz="half" idx="14"/>
          </p:nvPr>
        </p:nvSpPr>
        <p:spPr>
          <a:xfrm>
            <a:off x="6492240" y="4873752"/>
            <a:ext cx="1737360" cy="146304"/>
          </a:xfrm>
        </p:spPr>
        <p:txBody>
          <a:bodyPr/>
          <a:lstStyle/>
          <a:p>
            <a:pPr algn="r"/>
            <a:r>
              <a:rPr lang="de-DE"/>
              <a:t>9 September 2026</a:t>
            </a:r>
            <a:endParaRPr lang="en-US" dirty="0"/>
          </a:p>
        </p:txBody>
      </p:sp>
      <p:sp>
        <p:nvSpPr>
          <p:cNvPr id="8" name="Fußzeilenplatzhalter 7">
            <a:extLst>
              <a:ext uri="{FF2B5EF4-FFF2-40B4-BE49-F238E27FC236}">
                <a16:creationId xmlns:a16="http://schemas.microsoft.com/office/drawing/2014/main" id="{90427F68-7D65-4111-9D28-F407D044A73B}"/>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UAV remaining useful life estimation</a:t>
            </a:r>
            <a:endParaRPr lang="en-US" dirty="0"/>
          </a:p>
        </p:txBody>
      </p:sp>
      <p:sp>
        <p:nvSpPr>
          <p:cNvPr id="10" name="Foliennummernplatzhalter 9">
            <a:extLst>
              <a:ext uri="{FF2B5EF4-FFF2-40B4-BE49-F238E27FC236}">
                <a16:creationId xmlns:a16="http://schemas.microsoft.com/office/drawing/2014/main" id="{BC2B8577-8AB8-42B5-8BA8-1751A412246A}"/>
              </a:ext>
              <a:ext uri="{C183D7F6-B498-43B3-948B-1728B52AA6E4}">
                <adec:decorative xmlns:adec="http://schemas.microsoft.com/office/drawing/2017/decorative" val="1"/>
              </a:ext>
            </a:extLst>
          </p:cNvPr>
          <p:cNvSpPr>
            <a:spLocks noGrp="1"/>
          </p:cNvSpPr>
          <p:nvPr>
            <p:ph type="sldNum" sz="quarter" idx="16"/>
          </p:nvPr>
        </p:nvSpPr>
        <p:spPr/>
        <p:txBody>
          <a:bodyPr/>
          <a:lstStyle/>
          <a:p>
            <a:fld id="{9E82CC3C-1DC0-4FDA-9590-6CC506AB67F8}" type="slidenum">
              <a:rPr lang="en-US" smtClean="0"/>
              <a:pPr/>
              <a:t>‹Nr.›</a:t>
            </a:fld>
            <a:endParaRPr lang="en-US" dirty="0"/>
          </a:p>
        </p:txBody>
      </p:sp>
      <p:pic>
        <p:nvPicPr>
          <p:cNvPr id="11" name="Picture 10" descr="channel_classification.png"/>
          <p:cNvPicPr>
            <a:picLocks noChangeAspect="1"/>
          </p:cNvPicPr>
          <p:nvPr/>
        </p:nvPicPr>
        <p:blipFill>
          <a:blip r:embed="rId3"/>
          <a:stretch>
            <a:fillRect/>
          </a:stretch>
        </p:blipFill>
        <p:spPr>
          <a:xfrm>
            <a:off x="614340" y="987552"/>
            <a:ext cx="4660055" cy="3529584"/>
          </a:xfrm>
          <a:prstGeom prst="rect">
            <a:avLst/>
          </a:prstGeom>
        </p:spPr>
      </p:pic>
      <p:sp>
        <p:nvSpPr>
          <p:cNvPr id="12" name="Rounded Rectangle 11"/>
          <p:cNvSpPr/>
          <p:nvPr/>
        </p:nvSpPr>
        <p:spPr>
          <a:xfrm>
            <a:off x="5623559" y="987552"/>
            <a:ext cx="3090672" cy="1078992"/>
          </a:xfrm>
          <a:prstGeom prst="roundRect">
            <a:avLst/>
          </a:prstGeom>
          <a:solidFill>
            <a:srgbClr val="FFFFFF"/>
          </a:solidFill>
          <a:ln w="12700">
            <a:solidFill>
              <a:srgbClr val="9F99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spcAft>
                <a:spcPts val="200"/>
              </a:spcAft>
            </a:pPr>
            <a:r>
              <a:rPr sz="950" b="1">
                <a:solidFill>
                  <a:srgbClr val="00519E"/>
                </a:solidFill>
                <a:latin typeface="Arial"/>
              </a:rPr>
              <a:t>What Phase 0 handed over</a:t>
            </a:r>
          </a:p>
          <a:p>
            <a:pPr algn="l">
              <a:spcAft>
                <a:spcPts val="200"/>
              </a:spcAft>
            </a:pPr>
            <a:r>
              <a:rPr sz="950" b="0">
                <a:solidFill>
                  <a:srgbClr val="3E444C"/>
                </a:solidFill>
                <a:latin typeface="Arial"/>
              </a:rPr>
              <a:t>· 6 removal · 10 degradation · 4 context · 1 state/regime</a:t>
            </a:r>
          </a:p>
          <a:p>
            <a:pPr algn="l">
              <a:spcAft>
                <a:spcPts val="200"/>
              </a:spcAft>
            </a:pPr>
            <a:r>
              <a:rPr sz="950" b="0">
                <a:solidFill>
                  <a:srgbClr val="3E444C"/>
                </a:solidFill>
                <a:latin typeface="Arial"/>
              </a:rPr>
              <a:t>· 10 flagged for anomaly review, 14 for redundancy, 15 for a train/test drift warning.</a:t>
            </a:r>
          </a:p>
        </p:txBody>
      </p:sp>
      <p:sp>
        <p:nvSpPr>
          <p:cNvPr id="13" name="Rounded Rectangle 12"/>
          <p:cNvSpPr/>
          <p:nvPr/>
        </p:nvSpPr>
        <p:spPr>
          <a:xfrm>
            <a:off x="5623559" y="2148840"/>
            <a:ext cx="3090672" cy="1078992"/>
          </a:xfrm>
          <a:prstGeom prst="roundRect">
            <a:avLst/>
          </a:prstGeom>
          <a:solidFill>
            <a:srgbClr val="FFFFFF"/>
          </a:solidFill>
          <a:ln w="12700">
            <a:solidFill>
              <a:srgbClr val="9F99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spcAft>
                <a:spcPts val="200"/>
              </a:spcAft>
            </a:pPr>
            <a:r>
              <a:rPr sz="950" b="1">
                <a:solidFill>
                  <a:srgbClr val="00519E"/>
                </a:solidFill>
                <a:latin typeface="Arial"/>
              </a:rPr>
              <a:t>Warnings, not removal rules</a:t>
            </a:r>
          </a:p>
          <a:p>
            <a:pPr algn="l">
              <a:spcAft>
                <a:spcPts val="200"/>
              </a:spcAft>
            </a:pPr>
            <a:r>
              <a:rPr sz="950" b="0">
                <a:solidFill>
                  <a:srgbClr val="3E444C"/>
                </a:solidFill>
                <a:latin typeface="Arial"/>
              </a:rPr>
              <a:t>· Four redundancy groups: 19/21, 15/23, 13/16/22/25/28 and 06/07/11/12/24. telemetry_19 and 21 correlate at r ≈ 1.00 between UAVs.</a:t>
            </a:r>
          </a:p>
          <a:p>
            <a:pPr algn="l">
              <a:spcAft>
                <a:spcPts val="200"/>
              </a:spcAft>
            </a:pPr>
            <a:r>
              <a:rPr sz="950" b="0">
                <a:solidFill>
                  <a:srgbClr val="3E444C"/>
                </a:solidFill>
                <a:latin typeface="Arial"/>
              </a:rPr>
              <a:t>· No channel was dropped for redundancy, anomalies or drift here. Those are questions for grouped validation.</a:t>
            </a:r>
          </a:p>
        </p:txBody>
      </p:sp>
      <p:sp>
        <p:nvSpPr>
          <p:cNvPr id="14" name="Rounded Rectangle 13"/>
          <p:cNvSpPr/>
          <p:nvPr/>
        </p:nvSpPr>
        <p:spPr>
          <a:xfrm>
            <a:off x="5623559" y="3310128"/>
            <a:ext cx="3090672" cy="1078992"/>
          </a:xfrm>
          <a:prstGeom prst="roundRect">
            <a:avLst/>
          </a:prstGeom>
          <a:solidFill>
            <a:srgbClr val="FFFFFF"/>
          </a:solidFill>
          <a:ln w="12700">
            <a:solidFill>
              <a:srgbClr val="9F99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spcAft>
                <a:spcPts val="200"/>
              </a:spcAft>
            </a:pPr>
            <a:r>
              <a:rPr sz="950" b="1">
                <a:solidFill>
                  <a:srgbClr val="00519E"/>
                </a:solidFill>
                <a:latin typeface="Arial"/>
              </a:rPr>
              <a:t>telemetry_07 meets five criteria at once</a:t>
            </a:r>
          </a:p>
          <a:p>
            <a:pPr algn="l">
              <a:spcAft>
                <a:spcPts val="200"/>
              </a:spcAft>
            </a:pPr>
            <a:r>
              <a:rPr sz="950" b="0">
                <a:solidFill>
                  <a:srgbClr val="3E444C"/>
                </a:solidFill>
                <a:latin typeface="Arial"/>
              </a:rPr>
              <a:t>· Degradation, state, anomaly, redundancy and drift. It is treated as an operating state with transition and dwell features, not as a smooth sensor.</a:t>
            </a:r>
          </a:p>
        </p:txBody>
      </p:sp>
      <p:sp>
        <p:nvSpPr>
          <p:cNvPr id="15" name="TextBox 14"/>
          <p:cNvSpPr txBox="1"/>
          <p:nvPr/>
        </p:nvSpPr>
        <p:spPr>
          <a:xfrm>
            <a:off x="466344" y="4572000"/>
            <a:ext cx="8247888" cy="164592"/>
          </a:xfrm>
          <a:prstGeom prst="rect">
            <a:avLst/>
          </a:prstGeom>
          <a:noFill/>
        </p:spPr>
        <p:txBody>
          <a:bodyPr wrap="square">
            <a:spAutoFit/>
          </a:bodyPr>
          <a:lstStyle/>
          <a:p>
            <a:pPr algn="l">
              <a:spcAft>
                <a:spcPts val="400"/>
              </a:spcAft>
            </a:pPr>
            <a:r>
              <a:rPr sz="900" b="0">
                <a:solidFill>
                  <a:srgbClr val="9F9998"/>
                </a:solidFill>
                <a:latin typeface="Arial"/>
              </a:rPr>
              <a:t>Figure: repository script re-run at slide size · 0_data_analysis/core_data_analysis/channel_classification.py · claims C42-C50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a:spcAft>
                <a:spcPts val="400"/>
              </a:spcAft>
            </a:pPr>
            <a:r>
              <a:rPr sz="1800" b="1">
                <a:solidFill>
                  <a:srgbClr val="3E444C"/>
                </a:solidFill>
                <a:latin typeface="Arial"/>
              </a:rPr>
              <a:t>Phase 1 fixed what every later number is measured against</a:t>
            </a:r>
          </a:p>
        </p:txBody>
      </p:sp>
      <p:sp>
        <p:nvSpPr>
          <p:cNvPr id="3" name="Text Placeholder 2"/>
          <p:cNvSpPr>
            <a:spLocks noGrp="1"/>
          </p:cNvSpPr>
          <p:nvPr>
            <p:ph type="body" idx="13" sz="quarter"/>
          </p:nvPr>
        </p:nvSpPr>
        <p:spPr/>
        <p:txBody>
          <a:bodyPr wrap="square"/>
          <a:lstStyle/>
          <a:p>
            <a:pPr algn="l">
              <a:spcAft>
                <a:spcPts val="400"/>
              </a:spcAft>
            </a:pPr>
            <a:r>
              <a:rPr sz="1400" b="0">
                <a:solidFill>
                  <a:srgbClr val="9F9998"/>
                </a:solidFill>
                <a:latin typeface="Arial"/>
              </a:rPr>
              <a:t>Whole-UAV nested cross-validation, and ten automated assertions that must pass</a:t>
            </a:r>
          </a:p>
        </p:txBody>
      </p:sp>
      <p:sp>
        <p:nvSpPr>
          <p:cNvPr id="7" name="Datumsplatzhalter 6">
            <a:extLst>
              <a:ext uri="{FF2B5EF4-FFF2-40B4-BE49-F238E27FC236}">
                <a16:creationId xmlns:a16="http://schemas.microsoft.com/office/drawing/2014/main" id="{124A6A03-5D2E-417E-9A62-737D1DBC92ED}"/>
              </a:ext>
              <a:ext uri="{C183D7F6-B498-43B3-948B-1728B52AA6E4}">
                <adec:decorative xmlns:adec="http://schemas.microsoft.com/office/drawing/2017/decorative" val="1"/>
              </a:ext>
            </a:extLst>
          </p:cNvPr>
          <p:cNvSpPr>
            <a:spLocks noGrp="1"/>
          </p:cNvSpPr>
          <p:nvPr>
            <p:ph type="dt" sz="half" idx="14"/>
          </p:nvPr>
        </p:nvSpPr>
        <p:spPr>
          <a:xfrm>
            <a:off x="6492240" y="4873752"/>
            <a:ext cx="1737360" cy="146304"/>
          </a:xfrm>
        </p:spPr>
        <p:txBody>
          <a:bodyPr/>
          <a:lstStyle/>
          <a:p>
            <a:pPr algn="r"/>
            <a:r>
              <a:rPr lang="de-DE"/>
              <a:t>9 September 2026</a:t>
            </a:r>
            <a:endParaRPr lang="en-US" dirty="0"/>
          </a:p>
        </p:txBody>
      </p:sp>
      <p:sp>
        <p:nvSpPr>
          <p:cNvPr id="8" name="Fußzeilenplatzhalter 7">
            <a:extLst>
              <a:ext uri="{FF2B5EF4-FFF2-40B4-BE49-F238E27FC236}">
                <a16:creationId xmlns:a16="http://schemas.microsoft.com/office/drawing/2014/main" id="{90427F68-7D65-4111-9D28-F407D044A73B}"/>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UAV remaining useful life estimation</a:t>
            </a:r>
            <a:endParaRPr lang="en-US" dirty="0"/>
          </a:p>
        </p:txBody>
      </p:sp>
      <p:sp>
        <p:nvSpPr>
          <p:cNvPr id="10" name="Foliennummernplatzhalter 9">
            <a:extLst>
              <a:ext uri="{FF2B5EF4-FFF2-40B4-BE49-F238E27FC236}">
                <a16:creationId xmlns:a16="http://schemas.microsoft.com/office/drawing/2014/main" id="{BC2B8577-8AB8-42B5-8BA8-1751A412246A}"/>
              </a:ext>
              <a:ext uri="{C183D7F6-B498-43B3-948B-1728B52AA6E4}">
                <adec:decorative xmlns:adec="http://schemas.microsoft.com/office/drawing/2017/decorative" val="1"/>
              </a:ext>
            </a:extLst>
          </p:cNvPr>
          <p:cNvSpPr>
            <a:spLocks noGrp="1"/>
          </p:cNvSpPr>
          <p:nvPr>
            <p:ph type="sldNum" sz="quarter" idx="16"/>
          </p:nvPr>
        </p:nvSpPr>
        <p:spPr/>
        <p:txBody>
          <a:bodyPr/>
          <a:lstStyle/>
          <a:p>
            <a:fld id="{9E82CC3C-1DC0-4FDA-9590-6CC506AB67F8}" type="slidenum">
              <a:rPr lang="en-US" smtClean="0"/>
              <a:pPr/>
              <a:t>‹Nr.›</a:t>
            </a:fld>
            <a:endParaRPr lang="en-US" dirty="0"/>
          </a:p>
        </p:txBody>
      </p:sp>
      <p:sp>
        <p:nvSpPr>
          <p:cNvPr id="11" name="TextBox 10"/>
          <p:cNvSpPr txBox="1"/>
          <p:nvPr/>
        </p:nvSpPr>
        <p:spPr>
          <a:xfrm>
            <a:off x="466344" y="987552"/>
            <a:ext cx="4663440" cy="201168"/>
          </a:xfrm>
          <a:prstGeom prst="rect">
            <a:avLst/>
          </a:prstGeom>
          <a:noFill/>
        </p:spPr>
        <p:txBody>
          <a:bodyPr wrap="square">
            <a:spAutoFit/>
          </a:bodyPr>
          <a:lstStyle/>
          <a:p>
            <a:pPr algn="l">
              <a:spcAft>
                <a:spcPts val="400"/>
              </a:spcAft>
            </a:pPr>
            <a:r>
              <a:rPr sz="1050" b="1">
                <a:solidFill>
                  <a:srgbClr val="00519E"/>
                </a:solidFill>
                <a:latin typeface="Arial"/>
              </a:rPr>
              <a:t>100 training UAVs · 5 outer folds, balanced by terminal lifetime</a:t>
            </a:r>
          </a:p>
        </p:txBody>
      </p:sp>
      <p:sp>
        <p:nvSpPr>
          <p:cNvPr id="12" name="Rectangle 11"/>
          <p:cNvSpPr/>
          <p:nvPr/>
        </p:nvSpPr>
        <p:spPr>
          <a:xfrm>
            <a:off x="466344" y="1243584"/>
            <a:ext cx="888796" cy="402336"/>
          </a:xfrm>
          <a:prstGeom prst="rect">
            <a:avLst/>
          </a:prstGeom>
          <a:solidFill>
            <a:srgbClr val="FFD5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pPr>
            <a:r>
              <a:rPr sz="850" b="0">
                <a:solidFill>
                  <a:srgbClr val="3E444C"/>
                </a:solidFill>
                <a:latin typeface="Arial"/>
              </a:rPr>
              <a:t>fold 1</a:t>
            </a:r>
          </a:p>
          <a:p>
            <a:pPr algn="ctr">
              <a:spcAft>
                <a:spcPts val="0"/>
              </a:spcAft>
            </a:pPr>
            <a:r>
              <a:rPr sz="850" b="0">
                <a:solidFill>
                  <a:srgbClr val="3E444C"/>
                </a:solidFill>
                <a:latin typeface="Arial"/>
              </a:rPr>
              <a:t>20 UAVs</a:t>
            </a:r>
          </a:p>
        </p:txBody>
      </p:sp>
      <p:sp>
        <p:nvSpPr>
          <p:cNvPr id="13" name="Rectangle 12"/>
          <p:cNvSpPr/>
          <p:nvPr/>
        </p:nvSpPr>
        <p:spPr>
          <a:xfrm>
            <a:off x="1410004" y="1243584"/>
            <a:ext cx="888796" cy="402336"/>
          </a:xfrm>
          <a:prstGeom prst="rect">
            <a:avLst/>
          </a:prstGeom>
          <a:solidFill>
            <a:srgbClr val="0051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pPr>
            <a:r>
              <a:rPr sz="850" b="0">
                <a:solidFill>
                  <a:srgbClr val="FFFFFF"/>
                </a:solidFill>
                <a:latin typeface="Arial"/>
              </a:rPr>
              <a:t>fold 2</a:t>
            </a:r>
          </a:p>
          <a:p>
            <a:pPr algn="ctr">
              <a:spcAft>
                <a:spcPts val="0"/>
              </a:spcAft>
            </a:pPr>
            <a:r>
              <a:rPr sz="850" b="0">
                <a:solidFill>
                  <a:srgbClr val="FFFFFF"/>
                </a:solidFill>
                <a:latin typeface="Arial"/>
              </a:rPr>
              <a:t>20 UAVs</a:t>
            </a:r>
          </a:p>
        </p:txBody>
      </p:sp>
      <p:sp>
        <p:nvSpPr>
          <p:cNvPr id="14" name="Rectangle 13"/>
          <p:cNvSpPr/>
          <p:nvPr/>
        </p:nvSpPr>
        <p:spPr>
          <a:xfrm>
            <a:off x="2353665" y="1243584"/>
            <a:ext cx="888796" cy="402336"/>
          </a:xfrm>
          <a:prstGeom prst="rect">
            <a:avLst/>
          </a:prstGeom>
          <a:solidFill>
            <a:srgbClr val="0051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pPr>
            <a:r>
              <a:rPr sz="850" b="0">
                <a:solidFill>
                  <a:srgbClr val="FFFFFF"/>
                </a:solidFill>
                <a:latin typeface="Arial"/>
              </a:rPr>
              <a:t>fold 3</a:t>
            </a:r>
          </a:p>
          <a:p>
            <a:pPr algn="ctr">
              <a:spcAft>
                <a:spcPts val="0"/>
              </a:spcAft>
            </a:pPr>
            <a:r>
              <a:rPr sz="850" b="0">
                <a:solidFill>
                  <a:srgbClr val="FFFFFF"/>
                </a:solidFill>
                <a:latin typeface="Arial"/>
              </a:rPr>
              <a:t>20 UAVs</a:t>
            </a:r>
          </a:p>
        </p:txBody>
      </p:sp>
      <p:sp>
        <p:nvSpPr>
          <p:cNvPr id="15" name="Rectangle 14"/>
          <p:cNvSpPr/>
          <p:nvPr/>
        </p:nvSpPr>
        <p:spPr>
          <a:xfrm>
            <a:off x="3297326" y="1243584"/>
            <a:ext cx="888796" cy="402336"/>
          </a:xfrm>
          <a:prstGeom prst="rect">
            <a:avLst/>
          </a:prstGeom>
          <a:solidFill>
            <a:srgbClr val="0051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pPr>
            <a:r>
              <a:rPr sz="850" b="0">
                <a:solidFill>
                  <a:srgbClr val="FFFFFF"/>
                </a:solidFill>
                <a:latin typeface="Arial"/>
              </a:rPr>
              <a:t>fold 4</a:t>
            </a:r>
          </a:p>
          <a:p>
            <a:pPr algn="ctr">
              <a:spcAft>
                <a:spcPts val="0"/>
              </a:spcAft>
            </a:pPr>
            <a:r>
              <a:rPr sz="850" b="0">
                <a:solidFill>
                  <a:srgbClr val="FFFFFF"/>
                </a:solidFill>
                <a:latin typeface="Arial"/>
              </a:rPr>
              <a:t>20 UAVs</a:t>
            </a:r>
          </a:p>
        </p:txBody>
      </p:sp>
      <p:sp>
        <p:nvSpPr>
          <p:cNvPr id="16" name="Rectangle 15"/>
          <p:cNvSpPr/>
          <p:nvPr/>
        </p:nvSpPr>
        <p:spPr>
          <a:xfrm>
            <a:off x="4240987" y="1243584"/>
            <a:ext cx="888796" cy="402336"/>
          </a:xfrm>
          <a:prstGeom prst="rect">
            <a:avLst/>
          </a:prstGeom>
          <a:solidFill>
            <a:srgbClr val="0051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pPr>
            <a:r>
              <a:rPr sz="850" b="0">
                <a:solidFill>
                  <a:srgbClr val="FFFFFF"/>
                </a:solidFill>
                <a:latin typeface="Arial"/>
              </a:rPr>
              <a:t>fold 5</a:t>
            </a:r>
          </a:p>
          <a:p>
            <a:pPr algn="ctr">
              <a:spcAft>
                <a:spcPts val="0"/>
              </a:spcAft>
            </a:pPr>
            <a:r>
              <a:rPr sz="850" b="0">
                <a:solidFill>
                  <a:srgbClr val="FFFFFF"/>
                </a:solidFill>
                <a:latin typeface="Arial"/>
              </a:rPr>
              <a:t>20 UAVs</a:t>
            </a:r>
          </a:p>
        </p:txBody>
      </p:sp>
      <p:sp>
        <p:nvSpPr>
          <p:cNvPr id="17" name="TextBox 16"/>
          <p:cNvSpPr txBox="1"/>
          <p:nvPr/>
        </p:nvSpPr>
        <p:spPr>
          <a:xfrm>
            <a:off x="466344" y="1682496"/>
            <a:ext cx="4663440" cy="182880"/>
          </a:xfrm>
          <a:prstGeom prst="rect">
            <a:avLst/>
          </a:prstGeom>
          <a:noFill/>
        </p:spPr>
        <p:txBody>
          <a:bodyPr wrap="square">
            <a:spAutoFit/>
          </a:bodyPr>
          <a:lstStyle/>
          <a:p>
            <a:pPr algn="l">
              <a:spcAft>
                <a:spcPts val="400"/>
              </a:spcAft>
            </a:pPr>
            <a:r>
              <a:rPr sz="900" b="0">
                <a:solidFill>
                  <a:srgbClr val="3E444C"/>
                </a:solidFill>
                <a:latin typeface="Arial"/>
              </a:rPr>
              <a:t>Outer round 1: fold 1 held out, folds 2-5 are the 80 training UAVs. Every UAV is held out exactly once.</a:t>
            </a:r>
          </a:p>
        </p:txBody>
      </p:sp>
      <p:sp>
        <p:nvSpPr>
          <p:cNvPr id="18" name="TextBox 17"/>
          <p:cNvSpPr txBox="1"/>
          <p:nvPr/>
        </p:nvSpPr>
        <p:spPr>
          <a:xfrm>
            <a:off x="466344" y="2066544"/>
            <a:ext cx="4663440" cy="201168"/>
          </a:xfrm>
          <a:prstGeom prst="rect">
            <a:avLst/>
          </a:prstGeom>
          <a:noFill/>
        </p:spPr>
        <p:txBody>
          <a:bodyPr wrap="square">
            <a:spAutoFit/>
          </a:bodyPr>
          <a:lstStyle/>
          <a:p>
            <a:pPr algn="l">
              <a:spcAft>
                <a:spcPts val="400"/>
              </a:spcAft>
            </a:pPr>
            <a:r>
              <a:rPr sz="1050" b="1">
                <a:solidFill>
                  <a:srgbClr val="00519E"/>
                </a:solidFill>
                <a:latin typeface="Arial"/>
              </a:rPr>
              <a:t>Inside those 80 UAVs · 4 inner folds select everything</a:t>
            </a:r>
          </a:p>
        </p:txBody>
      </p:sp>
      <p:sp>
        <p:nvSpPr>
          <p:cNvPr id="19" name="Rectangle 18"/>
          <p:cNvSpPr/>
          <p:nvPr/>
        </p:nvSpPr>
        <p:spPr>
          <a:xfrm>
            <a:off x="466344" y="2322576"/>
            <a:ext cx="1124712" cy="365760"/>
          </a:xfrm>
          <a:prstGeom prst="rect">
            <a:avLst/>
          </a:prstGeom>
          <a:solidFill>
            <a:srgbClr val="00BE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pPr>
            <a:r>
              <a:rPr sz="800" b="0">
                <a:solidFill>
                  <a:srgbClr val="3E444C"/>
                </a:solidFill>
                <a:latin typeface="Arial"/>
              </a:rPr>
              <a:t>inner 1</a:t>
            </a:r>
          </a:p>
          <a:p>
            <a:pPr algn="ctr">
              <a:spcAft>
                <a:spcPts val="0"/>
              </a:spcAft>
            </a:pPr>
            <a:r>
              <a:rPr sz="800" b="0">
                <a:solidFill>
                  <a:srgbClr val="3E444C"/>
                </a:solidFill>
                <a:latin typeface="Arial"/>
              </a:rPr>
              <a:t>60 train / 20 val</a:t>
            </a:r>
          </a:p>
        </p:txBody>
      </p:sp>
      <p:sp>
        <p:nvSpPr>
          <p:cNvPr id="20" name="Rectangle 19"/>
          <p:cNvSpPr/>
          <p:nvPr/>
        </p:nvSpPr>
        <p:spPr>
          <a:xfrm>
            <a:off x="1645920" y="2322576"/>
            <a:ext cx="1124712" cy="365760"/>
          </a:xfrm>
          <a:prstGeom prst="rect">
            <a:avLst/>
          </a:prstGeom>
          <a:solidFill>
            <a:srgbClr val="7DC6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pPr>
            <a:r>
              <a:rPr sz="800" b="0">
                <a:solidFill>
                  <a:srgbClr val="3E444C"/>
                </a:solidFill>
                <a:latin typeface="Arial"/>
              </a:rPr>
              <a:t>inner 2</a:t>
            </a:r>
          </a:p>
          <a:p>
            <a:pPr algn="ctr">
              <a:spcAft>
                <a:spcPts val="0"/>
              </a:spcAft>
            </a:pPr>
            <a:r>
              <a:rPr sz="800" b="0">
                <a:solidFill>
                  <a:srgbClr val="3E444C"/>
                </a:solidFill>
                <a:latin typeface="Arial"/>
              </a:rPr>
              <a:t>60 train / 20 val</a:t>
            </a:r>
          </a:p>
        </p:txBody>
      </p:sp>
      <p:sp>
        <p:nvSpPr>
          <p:cNvPr id="21" name="Rectangle 20"/>
          <p:cNvSpPr/>
          <p:nvPr/>
        </p:nvSpPr>
        <p:spPr>
          <a:xfrm>
            <a:off x="2825496" y="2322576"/>
            <a:ext cx="1124712" cy="365760"/>
          </a:xfrm>
          <a:prstGeom prst="rect">
            <a:avLst/>
          </a:prstGeom>
          <a:solidFill>
            <a:srgbClr val="7DC6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pPr>
            <a:r>
              <a:rPr sz="800" b="0">
                <a:solidFill>
                  <a:srgbClr val="3E444C"/>
                </a:solidFill>
                <a:latin typeface="Arial"/>
              </a:rPr>
              <a:t>inner 3</a:t>
            </a:r>
          </a:p>
          <a:p>
            <a:pPr algn="ctr">
              <a:spcAft>
                <a:spcPts val="0"/>
              </a:spcAft>
            </a:pPr>
            <a:r>
              <a:rPr sz="800" b="0">
                <a:solidFill>
                  <a:srgbClr val="3E444C"/>
                </a:solidFill>
                <a:latin typeface="Arial"/>
              </a:rPr>
              <a:t>60 train / 20 val</a:t>
            </a:r>
          </a:p>
        </p:txBody>
      </p:sp>
      <p:sp>
        <p:nvSpPr>
          <p:cNvPr id="22" name="Rectangle 21"/>
          <p:cNvSpPr/>
          <p:nvPr/>
        </p:nvSpPr>
        <p:spPr>
          <a:xfrm>
            <a:off x="4005072" y="2322576"/>
            <a:ext cx="1124712" cy="365760"/>
          </a:xfrm>
          <a:prstGeom prst="rect">
            <a:avLst/>
          </a:prstGeom>
          <a:solidFill>
            <a:srgbClr val="7DC6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pPr>
            <a:r>
              <a:rPr sz="800" b="0">
                <a:solidFill>
                  <a:srgbClr val="3E444C"/>
                </a:solidFill>
                <a:latin typeface="Arial"/>
              </a:rPr>
              <a:t>inner 4</a:t>
            </a:r>
          </a:p>
          <a:p>
            <a:pPr algn="ctr">
              <a:spcAft>
                <a:spcPts val="0"/>
              </a:spcAft>
            </a:pPr>
            <a:r>
              <a:rPr sz="800" b="0">
                <a:solidFill>
                  <a:srgbClr val="3E444C"/>
                </a:solidFill>
                <a:latin typeface="Arial"/>
              </a:rPr>
              <a:t>60 train / 20 val</a:t>
            </a:r>
          </a:p>
        </p:txBody>
      </p:sp>
      <p:sp>
        <p:nvSpPr>
          <p:cNvPr id="23" name="TextBox 22"/>
          <p:cNvSpPr txBox="1"/>
          <p:nvPr/>
        </p:nvSpPr>
        <p:spPr>
          <a:xfrm>
            <a:off x="466344" y="2724912"/>
            <a:ext cx="4663440" cy="182880"/>
          </a:xfrm>
          <a:prstGeom prst="rect">
            <a:avLst/>
          </a:prstGeom>
          <a:noFill/>
        </p:spPr>
        <p:txBody>
          <a:bodyPr wrap="square">
            <a:spAutoFit/>
          </a:bodyPr>
          <a:lstStyle/>
          <a:p>
            <a:pPr algn="l">
              <a:spcAft>
                <a:spcPts val="400"/>
              </a:spcAft>
            </a:pPr>
            <a:r>
              <a:rPr sz="900" b="0">
                <a:solidFill>
                  <a:srgbClr val="3E444C"/>
                </a:solidFill>
                <a:latin typeface="Arial"/>
              </a:rPr>
              <a:t>Features, hyperparameters, early stopping and blend weights. 5 x 4 = 20 inner rounds.</a:t>
            </a:r>
          </a:p>
        </p:txBody>
      </p:sp>
      <p:sp>
        <p:nvSpPr>
          <p:cNvPr id="24" name="Rounded Rectangle 23"/>
          <p:cNvSpPr/>
          <p:nvPr/>
        </p:nvSpPr>
        <p:spPr>
          <a:xfrm>
            <a:off x="466344" y="2999232"/>
            <a:ext cx="4663440" cy="1243584"/>
          </a:xfrm>
          <a:prstGeom prst="roundRect">
            <a:avLst/>
          </a:prstGeom>
          <a:solidFill>
            <a:srgbClr val="FFFFFF"/>
          </a:solidFill>
          <a:ln w="12700">
            <a:solidFill>
              <a:srgbClr val="9F99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spcAft>
                <a:spcPts val="200"/>
              </a:spcAft>
            </a:pPr>
            <a:r>
              <a:rPr sz="950" b="1">
                <a:solidFill>
                  <a:srgbClr val="00519E"/>
                </a:solidFill>
                <a:latin typeface="Arial"/>
              </a:rPr>
              <a:t>Rules that follow from splitting by UAV</a:t>
            </a:r>
          </a:p>
          <a:p>
            <a:pPr algn="l">
              <a:spcAft>
                <a:spcPts val="200"/>
              </a:spcAft>
            </a:pPr>
            <a:r>
              <a:rPr sz="950" b="0">
                <a:solidFill>
                  <a:srgbClr val="3E444C"/>
                </a:solidFill>
                <a:latin typeface="Arial"/>
              </a:rPr>
              <a:t>· Every prefix of one UAV stays inside one fold.</a:t>
            </a:r>
          </a:p>
          <a:p>
            <a:pPr algn="l">
              <a:spcAft>
                <a:spcPts val="200"/>
              </a:spcAft>
            </a:pPr>
            <a:r>
              <a:rPr sz="950" b="0">
                <a:solidFill>
                  <a:srgbClr val="3E444C"/>
                </a:solidFill>
                <a:latin typeface="Arial"/>
              </a:rPr>
              <a:t>· Features use only cycles at or before the cutoff.</a:t>
            </a:r>
          </a:p>
          <a:p>
            <a:pPr algn="l">
              <a:spcAft>
                <a:spcPts val="200"/>
              </a:spcAft>
            </a:pPr>
            <a:r>
              <a:rPr sz="950" b="0">
                <a:solidFill>
                  <a:srgbClr val="3E444C"/>
                </a:solidFill>
                <a:latin typeface="Arial"/>
              </a:rPr>
              <a:t>· Scalers are refitted inside each training partition.</a:t>
            </a:r>
          </a:p>
          <a:p>
            <a:pPr algn="l">
              <a:spcAft>
                <a:spcPts val="200"/>
              </a:spcAft>
            </a:pPr>
            <a:r>
              <a:rPr sz="950" b="0">
                <a:solidFill>
                  <a:srgbClr val="3E444C"/>
                </a:solidFill>
                <a:latin typeface="Arial"/>
              </a:rPr>
              <a:t>· Each UAV carries a total training weight of 1.</a:t>
            </a:r>
          </a:p>
          <a:p>
            <a:pPr algn="l">
              <a:spcAft>
                <a:spcPts val="200"/>
              </a:spcAft>
            </a:pPr>
            <a:r>
              <a:rPr sz="950" b="0">
                <a:solidFill>
                  <a:srgbClr val="3E444C"/>
                </a:solidFill>
                <a:latin typeface="Arial"/>
              </a:rPr>
              <a:t>· Uncertainty resamples whole UAVs, never rows.</a:t>
            </a:r>
          </a:p>
        </p:txBody>
      </p:sp>
      <p:sp>
        <p:nvSpPr>
          <p:cNvPr id="25" name="Rounded Rectangle 24"/>
          <p:cNvSpPr/>
          <p:nvPr/>
        </p:nvSpPr>
        <p:spPr>
          <a:xfrm>
            <a:off x="5349240" y="987552"/>
            <a:ext cx="3364991" cy="2139696"/>
          </a:xfrm>
          <a:prstGeom prst="roundRect">
            <a:avLst/>
          </a:prstGeom>
          <a:solidFill>
            <a:srgbClr val="FFFFFF"/>
          </a:solidFill>
          <a:ln w="12700">
            <a:solidFill>
              <a:srgbClr val="9F99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spcAft>
                <a:spcPts val="200"/>
              </a:spcAft>
            </a:pPr>
            <a:r>
              <a:rPr sz="900" b="1">
                <a:solidFill>
                  <a:srgbClr val="00519E"/>
                </a:solidFill>
                <a:latin typeface="Arial"/>
              </a:rPr>
              <a:t>Ten assertions re-checked automatically</a:t>
            </a:r>
          </a:p>
          <a:p>
            <a:pPr algn="l">
              <a:spcAft>
                <a:spcPts val="200"/>
              </a:spcAft>
            </a:pPr>
            <a:r>
              <a:rPr sz="900" b="0">
                <a:solidFill>
                  <a:srgbClr val="3E444C"/>
                </a:solidFill>
                <a:latin typeface="Arial"/>
              </a:rPr>
              <a:t>· Outer folds disjoint: 5 x 20 UAVs.</a:t>
            </a:r>
          </a:p>
          <a:p>
            <a:pPr algn="l">
              <a:spcAft>
                <a:spcPts val="200"/>
              </a:spcAft>
            </a:pPr>
            <a:r>
              <a:rPr sz="900" b="0">
                <a:solidFill>
                  <a:srgbClr val="3E444C"/>
                </a:solidFill>
                <a:latin typeface="Arial"/>
              </a:rPr>
              <a:t>· Outer-validation UAVs absent from every inner fold.</a:t>
            </a:r>
          </a:p>
          <a:p>
            <a:pPr algn="l">
              <a:spcAft>
                <a:spcPts val="200"/>
              </a:spcAft>
            </a:pPr>
            <a:r>
              <a:rPr sz="900" b="0">
                <a:solidFill>
                  <a:srgbClr val="3E444C"/>
                </a:solidFill>
                <a:latin typeface="Arial"/>
              </a:rPr>
              <a:t>· Development and locked cutoffs reproduce the exact test history-length multiset.</a:t>
            </a:r>
          </a:p>
          <a:p>
            <a:pPr algn="l">
              <a:spcAft>
                <a:spcPts val="200"/>
              </a:spcAft>
            </a:pPr>
            <a:r>
              <a:rPr sz="900" b="0">
                <a:solidFill>
                  <a:srgbClr val="3E444C"/>
                </a:solidFill>
                <a:latin typeface="Arial"/>
              </a:rPr>
              <a:t>· Feature tables finite; no target or future term in any feature name.</a:t>
            </a:r>
          </a:p>
          <a:p>
            <a:pPr algn="l">
              <a:spcAft>
                <a:spcPts val="200"/>
              </a:spcAft>
            </a:pPr>
            <a:r>
              <a:rPr sz="900" b="0">
                <a:solidFill>
                  <a:srgbClr val="3E444C"/>
                </a:solidFill>
                <a:latin typeface="Arial"/>
              </a:rPr>
              <a:t>· Prefix causality: replacing all post-cutoff telemetry with extreme values leaves the prefix features unchanged.</a:t>
            </a:r>
          </a:p>
          <a:p>
            <a:pPr algn="l">
              <a:spcAft>
                <a:spcPts val="200"/>
              </a:spcAft>
            </a:pPr>
            <a:r>
              <a:rPr sz="900" b="0">
                <a:solidFill>
                  <a:srgbClr val="3E444C"/>
                </a:solidFill>
                <a:latin typeface="Arial"/>
              </a:rPr>
              <a:t>· Saved scaler parameters match a fresh recomputation.</a:t>
            </a:r>
          </a:p>
          <a:p>
            <a:pPr algn="l">
              <a:spcAft>
                <a:spcPts val="200"/>
              </a:spcAft>
            </a:pPr>
            <a:r>
              <a:rPr sz="900" b="0">
                <a:solidFill>
                  <a:srgbClr val="3E444C"/>
                </a:solidFill>
                <a:latin typeface="Arial"/>
              </a:rPr>
              <a:t>· Baseline predictions carry each UAV's own held-out fold.</a:t>
            </a:r>
          </a:p>
        </p:txBody>
      </p:sp>
      <p:sp>
        <p:nvSpPr>
          <p:cNvPr id="26" name="Rounded Rectangle 25"/>
          <p:cNvSpPr/>
          <p:nvPr/>
        </p:nvSpPr>
        <p:spPr>
          <a:xfrm>
            <a:off x="5349240" y="3236976"/>
            <a:ext cx="3364991" cy="566928"/>
          </a:xfrm>
          <a:prstGeom prst="roundRect">
            <a:avLst/>
          </a:prstGeom>
          <a:solidFill>
            <a:srgbClr val="FFD5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spcAft>
                <a:spcPts val="0"/>
              </a:spcAft>
            </a:pPr>
            <a:r>
              <a:rPr sz="950" b="0">
                <a:solidFill>
                  <a:srgbClr val="3E444C"/>
                </a:solidFill>
                <a:latin typeface="Arial"/>
              </a:rPr>
              <a:t>verification_report.json · status: passed · 2,000 training rows · 500 development and 2,000 locked validation rows · 100 test rows · 606 features</a:t>
            </a:r>
          </a:p>
        </p:txBody>
      </p:sp>
      <p:sp>
        <p:nvSpPr>
          <p:cNvPr id="27" name="TextBox 26"/>
          <p:cNvSpPr txBox="1"/>
          <p:nvPr/>
        </p:nvSpPr>
        <p:spPr>
          <a:xfrm>
            <a:off x="466344" y="4572000"/>
            <a:ext cx="8247888" cy="164592"/>
          </a:xfrm>
          <a:prstGeom prst="rect">
            <a:avLst/>
          </a:prstGeom>
          <a:noFill/>
        </p:spPr>
        <p:txBody>
          <a:bodyPr wrap="square">
            <a:spAutoFit/>
          </a:bodyPr>
          <a:lstStyle/>
          <a:p>
            <a:pPr algn="l">
              <a:spcAft>
                <a:spcPts val="400"/>
              </a:spcAft>
            </a:pPr>
            <a:r>
              <a:rPr sz="900" b="0">
                <a:solidFill>
                  <a:srgbClr val="9F9998"/>
                </a:solidFill>
                <a:latin typeface="Arial"/>
              </a:rPr>
              <a:t>Sources: 1_dataset_construction/2_UAV_grouped_validation_folds and 10_automated_leakage_checks/artifacts/verification_report.json · claims C51-C59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a:spcAft>
                <a:spcPts val="400"/>
              </a:spcAft>
            </a:pPr>
            <a:r>
              <a:rPr sz="1800" b="1">
                <a:solidFill>
                  <a:srgbClr val="3E444C"/>
                </a:solidFill>
                <a:latin typeface="Arial"/>
              </a:rPr>
              <a:t>Cutoffs are drawn from the observed test history lengths</a:t>
            </a:r>
          </a:p>
        </p:txBody>
      </p:sp>
      <p:sp>
        <p:nvSpPr>
          <p:cNvPr id="3" name="Text Placeholder 2"/>
          <p:cNvSpPr>
            <a:spLocks noGrp="1"/>
          </p:cNvSpPr>
          <p:nvPr>
            <p:ph type="body" idx="13" sz="quarter"/>
          </p:nvPr>
        </p:nvSpPr>
        <p:spPr/>
        <p:txBody>
          <a:bodyPr wrap="square"/>
          <a:lstStyle/>
          <a:p>
            <a:pPr algn="l">
              <a:spcAft>
                <a:spcPts val="400"/>
              </a:spcAft>
            </a:pPr>
            <a:r>
              <a:rPr sz="1400" b="0">
                <a:solidFill>
                  <a:srgbClr val="9F9998"/>
                </a:solidFill>
                <a:latin typeface="Arial"/>
              </a:rPr>
              <a:t>Test UAVs are younger than training UAVs, so training samples must be truncated the same way</a:t>
            </a:r>
          </a:p>
        </p:txBody>
      </p:sp>
      <p:sp>
        <p:nvSpPr>
          <p:cNvPr id="7" name="Datumsplatzhalter 6">
            <a:extLst>
              <a:ext uri="{FF2B5EF4-FFF2-40B4-BE49-F238E27FC236}">
                <a16:creationId xmlns:a16="http://schemas.microsoft.com/office/drawing/2014/main" id="{124A6A03-5D2E-417E-9A62-737D1DBC92ED}"/>
              </a:ext>
              <a:ext uri="{C183D7F6-B498-43B3-948B-1728B52AA6E4}">
                <adec:decorative xmlns:adec="http://schemas.microsoft.com/office/drawing/2017/decorative" val="1"/>
              </a:ext>
            </a:extLst>
          </p:cNvPr>
          <p:cNvSpPr>
            <a:spLocks noGrp="1"/>
          </p:cNvSpPr>
          <p:nvPr>
            <p:ph type="dt" sz="half" idx="14"/>
          </p:nvPr>
        </p:nvSpPr>
        <p:spPr>
          <a:xfrm>
            <a:off x="6492240" y="4873752"/>
            <a:ext cx="1737360" cy="146304"/>
          </a:xfrm>
        </p:spPr>
        <p:txBody>
          <a:bodyPr/>
          <a:lstStyle/>
          <a:p>
            <a:pPr algn="r"/>
            <a:r>
              <a:rPr lang="de-DE"/>
              <a:t>9 September 2026</a:t>
            </a:r>
            <a:endParaRPr lang="en-US" dirty="0"/>
          </a:p>
        </p:txBody>
      </p:sp>
      <p:sp>
        <p:nvSpPr>
          <p:cNvPr id="8" name="Fußzeilenplatzhalter 7">
            <a:extLst>
              <a:ext uri="{FF2B5EF4-FFF2-40B4-BE49-F238E27FC236}">
                <a16:creationId xmlns:a16="http://schemas.microsoft.com/office/drawing/2014/main" id="{90427F68-7D65-4111-9D28-F407D044A73B}"/>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UAV remaining useful life estimation</a:t>
            </a:r>
            <a:endParaRPr lang="en-US" dirty="0"/>
          </a:p>
        </p:txBody>
      </p:sp>
      <p:sp>
        <p:nvSpPr>
          <p:cNvPr id="10" name="Foliennummernplatzhalter 9">
            <a:extLst>
              <a:ext uri="{FF2B5EF4-FFF2-40B4-BE49-F238E27FC236}">
                <a16:creationId xmlns:a16="http://schemas.microsoft.com/office/drawing/2014/main" id="{BC2B8577-8AB8-42B5-8BA8-1751A412246A}"/>
              </a:ext>
              <a:ext uri="{C183D7F6-B498-43B3-948B-1728B52AA6E4}">
                <adec:decorative xmlns:adec="http://schemas.microsoft.com/office/drawing/2017/decorative" val="1"/>
              </a:ext>
            </a:extLst>
          </p:cNvPr>
          <p:cNvSpPr>
            <a:spLocks noGrp="1"/>
          </p:cNvSpPr>
          <p:nvPr>
            <p:ph type="sldNum" sz="quarter" idx="16"/>
          </p:nvPr>
        </p:nvSpPr>
        <p:spPr/>
        <p:txBody>
          <a:bodyPr/>
          <a:lstStyle/>
          <a:p>
            <a:fld id="{9E82CC3C-1DC0-4FDA-9590-6CC506AB67F8}" type="slidenum">
              <a:rPr lang="en-US" smtClean="0"/>
              <a:pPr/>
              <a:t>‹Nr.›</a:t>
            </a:fld>
            <a:endParaRPr lang="en-US" dirty="0"/>
          </a:p>
        </p:txBody>
      </p:sp>
      <p:pic>
        <p:nvPicPr>
          <p:cNvPr id="11" name="Picture 10" descr="history_length_distributions.png"/>
          <p:cNvPicPr>
            <a:picLocks noChangeAspect="1"/>
          </p:cNvPicPr>
          <p:nvPr/>
        </p:nvPicPr>
        <p:blipFill>
          <a:blip r:embed="rId3"/>
          <a:stretch>
            <a:fillRect/>
          </a:stretch>
        </p:blipFill>
        <p:spPr>
          <a:xfrm>
            <a:off x="1377522" y="969264"/>
            <a:ext cx="6425530" cy="2231136"/>
          </a:xfrm>
          <a:prstGeom prst="rect">
            <a:avLst/>
          </a:prstGeom>
        </p:spPr>
      </p:pic>
      <p:sp>
        <p:nvSpPr>
          <p:cNvPr id="12" name="Rounded Rectangle 11"/>
          <p:cNvSpPr/>
          <p:nvPr/>
        </p:nvSpPr>
        <p:spPr>
          <a:xfrm>
            <a:off x="466344" y="3291840"/>
            <a:ext cx="2639568" cy="1225296"/>
          </a:xfrm>
          <a:prstGeom prst="roundRect">
            <a:avLst/>
          </a:prstGeom>
          <a:solidFill>
            <a:srgbClr val="FFFFFF"/>
          </a:solidFill>
          <a:ln w="12700">
            <a:solidFill>
              <a:srgbClr val="9F99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spcAft>
                <a:spcPts val="200"/>
              </a:spcAft>
            </a:pPr>
            <a:r>
              <a:rPr sz="900" b="1">
                <a:solidFill>
                  <a:srgbClr val="00519E"/>
                </a:solidFill>
                <a:latin typeface="Arial"/>
              </a:rPr>
              <a:t>What the distributions say</a:t>
            </a:r>
          </a:p>
          <a:p>
            <a:pPr algn="l">
              <a:spcAft>
                <a:spcPts val="200"/>
              </a:spcAft>
            </a:pPr>
            <a:r>
              <a:rPr sz="900" b="0">
                <a:solidFill>
                  <a:srgbClr val="3E444C"/>
                </a:solidFill>
                <a:latin typeface="Arial"/>
              </a:rPr>
              <a:t>· Train 145-525 cycles, median 220.5.</a:t>
            </a:r>
          </a:p>
          <a:p>
            <a:pPr algn="l">
              <a:spcAft>
                <a:spcPts val="200"/>
              </a:spcAft>
            </a:pPr>
            <a:r>
              <a:rPr sz="900" b="0">
                <a:solidFill>
                  <a:srgbClr val="3E444C"/>
                </a:solidFill>
                <a:latin typeface="Arial"/>
              </a:rPr>
              <a:t>· Test 38-475, median 148.0.</a:t>
            </a:r>
          </a:p>
          <a:p>
            <a:pPr algn="l">
              <a:spcAft>
                <a:spcPts val="200"/>
              </a:spcAft>
            </a:pPr>
            <a:r>
              <a:rPr sz="900" b="0">
                <a:solidFill>
                  <a:srgbClr val="3E444C"/>
                </a:solidFill>
                <a:latin typeface="Arial"/>
              </a:rPr>
              <a:t>· About 47% of test UAVs end before cycle 145, the shortest complete training lifetime.</a:t>
            </a:r>
          </a:p>
        </p:txBody>
      </p:sp>
      <p:sp>
        <p:nvSpPr>
          <p:cNvPr id="13" name="Rounded Rectangle 12"/>
          <p:cNvSpPr/>
          <p:nvPr/>
        </p:nvSpPr>
        <p:spPr>
          <a:xfrm>
            <a:off x="3270504" y="3291840"/>
            <a:ext cx="2639568" cy="1225296"/>
          </a:xfrm>
          <a:prstGeom prst="roundRect">
            <a:avLst/>
          </a:prstGeom>
          <a:solidFill>
            <a:srgbClr val="FFFFFF"/>
          </a:solidFill>
          <a:ln w="12700">
            <a:solidFill>
              <a:srgbClr val="9F99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spcAft>
                <a:spcPts val="200"/>
              </a:spcAft>
            </a:pPr>
            <a:r>
              <a:rPr sz="900" b="1">
                <a:solidFill>
                  <a:srgbClr val="00519E"/>
                </a:solidFill>
                <a:latin typeface="Arial"/>
              </a:rPr>
              <a:t>How a training sample is made</a:t>
            </a:r>
          </a:p>
          <a:p>
            <a:pPr algn="l">
              <a:spcAft>
                <a:spcPts val="200"/>
              </a:spcAft>
            </a:pPr>
            <a:r>
              <a:rPr sz="900" b="0">
                <a:solidFill>
                  <a:srgbClr val="3E444C"/>
                </a:solidFill>
                <a:latin typeface="Arial"/>
              </a:rPr>
              <a:t>· 20 distinct cutoffs per UAV, sampled without replacement from the empirical test lengths, eligible ones only.</a:t>
            </a:r>
          </a:p>
          <a:p>
            <a:pPr algn="l">
              <a:spcAft>
                <a:spcPts val="200"/>
              </a:spcAft>
            </a:pPr>
            <a:r>
              <a:rPr sz="900" b="0">
                <a:solidFill>
                  <a:srgbClr val="3E444C"/>
                </a:solidFill>
                <a:latin typeface="Arial"/>
              </a:rPr>
              <a:t>· Each prefix uses cycles 1..cutoff and carries weight 1/20, so every UAV has total training weight 1.</a:t>
            </a:r>
          </a:p>
        </p:txBody>
      </p:sp>
      <p:sp>
        <p:nvSpPr>
          <p:cNvPr id="14" name="Rounded Rectangle 13"/>
          <p:cNvSpPr/>
          <p:nvPr/>
        </p:nvSpPr>
        <p:spPr>
          <a:xfrm>
            <a:off x="6074664" y="3291840"/>
            <a:ext cx="2639568" cy="1225296"/>
          </a:xfrm>
          <a:prstGeom prst="roundRect">
            <a:avLst/>
          </a:prstGeom>
          <a:solidFill>
            <a:srgbClr val="FFFFFF"/>
          </a:solidFill>
          <a:ln w="12700">
            <a:solidFill>
              <a:srgbClr val="9F99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spcAft>
                <a:spcPts val="200"/>
              </a:spcAft>
            </a:pPr>
            <a:r>
              <a:rPr sz="900" b="1">
                <a:solidFill>
                  <a:srgbClr val="00519E"/>
                </a:solidFill>
                <a:latin typeface="Arial"/>
              </a:rPr>
              <a:t>What that produces</a:t>
            </a:r>
          </a:p>
          <a:p>
            <a:pPr algn="l">
              <a:spcAft>
                <a:spcPts val="200"/>
              </a:spcAft>
            </a:pPr>
            <a:r>
              <a:rPr sz="900" b="0">
                <a:solidFill>
                  <a:srgbClr val="3E444C"/>
                </a:solidFill>
                <a:latin typeface="Arial"/>
              </a:rPr>
              <a:t>· 2,000 training rows, 5 development scenarios and 20 locked scenarios of 100 UAVs each.</a:t>
            </a:r>
          </a:p>
          <a:p>
            <a:pPr algn="l">
              <a:spcAft>
                <a:spcPts val="200"/>
              </a:spcAft>
            </a:pPr>
            <a:r>
              <a:rPr sz="900" b="0">
                <a:solidFill>
                  <a:srgbClr val="3E444C"/>
                </a:solidFill>
                <a:latin typeface="Arial"/>
              </a:rPr>
              <a:t>· Every scenario reproduces the exact multiset of test history lengths; the check is one of the ten assertions.</a:t>
            </a:r>
          </a:p>
        </p:txBody>
      </p:sp>
      <p:sp>
        <p:nvSpPr>
          <p:cNvPr id="15" name="TextBox 14"/>
          <p:cNvSpPr txBox="1"/>
          <p:nvPr/>
        </p:nvSpPr>
        <p:spPr>
          <a:xfrm>
            <a:off x="466344" y="4572000"/>
            <a:ext cx="8247888" cy="164592"/>
          </a:xfrm>
          <a:prstGeom prst="rect">
            <a:avLst/>
          </a:prstGeom>
          <a:noFill/>
        </p:spPr>
        <p:txBody>
          <a:bodyPr wrap="square">
            <a:spAutoFit/>
          </a:bodyPr>
          <a:lstStyle/>
          <a:p>
            <a:pPr algn="l">
              <a:spcAft>
                <a:spcPts val="400"/>
              </a:spcAft>
            </a:pPr>
            <a:r>
              <a:rPr sz="900" b="0">
                <a:solidFill>
                  <a:srgbClr val="9F9998"/>
                </a:solidFill>
                <a:latin typeface="Arial"/>
              </a:rPr>
              <a:t>Figure: repository script re-run at slide size · 0_data_analysis/broad_data_review/plot_history_length_distributions.py · claims C60-C68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a:spcAft>
                <a:spcPts val="400"/>
              </a:spcAft>
            </a:pPr>
            <a:r>
              <a:rPr sz="1800" b="1">
                <a:solidFill>
                  <a:srgbClr val="3E444C"/>
                </a:solidFill>
                <a:latin typeface="Arial"/>
              </a:rPr>
              <a:t>606 prefix features, and four sets to compare them with</a:t>
            </a:r>
          </a:p>
        </p:txBody>
      </p:sp>
      <p:sp>
        <p:nvSpPr>
          <p:cNvPr id="3" name="Text Placeholder 2"/>
          <p:cNvSpPr>
            <a:spLocks noGrp="1"/>
          </p:cNvSpPr>
          <p:nvPr>
            <p:ph type="body" idx="13" sz="quarter"/>
          </p:nvPr>
        </p:nvSpPr>
        <p:spPr/>
        <p:txBody>
          <a:bodyPr wrap="square"/>
          <a:lstStyle/>
          <a:p>
            <a:pPr algn="l">
              <a:spcAft>
                <a:spcPts val="400"/>
              </a:spcAft>
            </a:pPr>
            <a:r>
              <a:rPr sz="1400" b="0">
                <a:solidFill>
                  <a:srgbClr val="9F9998"/>
                </a:solidFill>
                <a:latin typeface="Arial"/>
              </a:rPr>
              <a:t>Every feature is computed from cycles at or before the cutoff, and scaled inside each fold</a:t>
            </a:r>
          </a:p>
        </p:txBody>
      </p:sp>
      <p:sp>
        <p:nvSpPr>
          <p:cNvPr id="7" name="Datumsplatzhalter 6">
            <a:extLst>
              <a:ext uri="{FF2B5EF4-FFF2-40B4-BE49-F238E27FC236}">
                <a16:creationId xmlns:a16="http://schemas.microsoft.com/office/drawing/2014/main" id="{124A6A03-5D2E-417E-9A62-737D1DBC92ED}"/>
              </a:ext>
              <a:ext uri="{C183D7F6-B498-43B3-948B-1728B52AA6E4}">
                <adec:decorative xmlns:adec="http://schemas.microsoft.com/office/drawing/2017/decorative" val="1"/>
              </a:ext>
            </a:extLst>
          </p:cNvPr>
          <p:cNvSpPr>
            <a:spLocks noGrp="1"/>
          </p:cNvSpPr>
          <p:nvPr>
            <p:ph type="dt" sz="half" idx="14"/>
          </p:nvPr>
        </p:nvSpPr>
        <p:spPr>
          <a:xfrm>
            <a:off x="6492240" y="4873752"/>
            <a:ext cx="1737360" cy="146304"/>
          </a:xfrm>
        </p:spPr>
        <p:txBody>
          <a:bodyPr/>
          <a:lstStyle/>
          <a:p>
            <a:pPr algn="r"/>
            <a:r>
              <a:rPr lang="de-DE"/>
              <a:t>9 September 2026</a:t>
            </a:r>
            <a:endParaRPr lang="en-US" dirty="0"/>
          </a:p>
        </p:txBody>
      </p:sp>
      <p:sp>
        <p:nvSpPr>
          <p:cNvPr id="8" name="Fußzeilenplatzhalter 7">
            <a:extLst>
              <a:ext uri="{FF2B5EF4-FFF2-40B4-BE49-F238E27FC236}">
                <a16:creationId xmlns:a16="http://schemas.microsoft.com/office/drawing/2014/main" id="{90427F68-7D65-4111-9D28-F407D044A73B}"/>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UAV remaining useful life estimation</a:t>
            </a:r>
            <a:endParaRPr lang="en-US" dirty="0"/>
          </a:p>
        </p:txBody>
      </p:sp>
      <p:sp>
        <p:nvSpPr>
          <p:cNvPr id="10" name="Foliennummernplatzhalter 9">
            <a:extLst>
              <a:ext uri="{FF2B5EF4-FFF2-40B4-BE49-F238E27FC236}">
                <a16:creationId xmlns:a16="http://schemas.microsoft.com/office/drawing/2014/main" id="{BC2B8577-8AB8-42B5-8BA8-1751A412246A}"/>
              </a:ext>
              <a:ext uri="{C183D7F6-B498-43B3-948B-1728B52AA6E4}">
                <adec:decorative xmlns:adec="http://schemas.microsoft.com/office/drawing/2017/decorative" val="1"/>
              </a:ext>
            </a:extLst>
          </p:cNvPr>
          <p:cNvSpPr>
            <a:spLocks noGrp="1"/>
          </p:cNvSpPr>
          <p:nvPr>
            <p:ph type="sldNum" sz="quarter" idx="16"/>
          </p:nvPr>
        </p:nvSpPr>
        <p:spPr/>
        <p:txBody>
          <a:bodyPr/>
          <a:lstStyle/>
          <a:p>
            <a:fld id="{9E82CC3C-1DC0-4FDA-9590-6CC506AB67F8}" type="slidenum">
              <a:rPr lang="en-US" smtClean="0"/>
              <a:pPr/>
              <a:t>‹Nr.›</a:t>
            </a:fld>
            <a:endParaRPr lang="en-US" dirty="0"/>
          </a:p>
        </p:txBody>
      </p:sp>
      <p:sp>
        <p:nvSpPr>
          <p:cNvPr id="11" name="Rounded Rectangle 10"/>
          <p:cNvSpPr/>
          <p:nvPr/>
        </p:nvSpPr>
        <p:spPr>
          <a:xfrm>
            <a:off x="466344" y="987552"/>
            <a:ext cx="3017520" cy="1773936"/>
          </a:xfrm>
          <a:prstGeom prst="roundRect">
            <a:avLst/>
          </a:prstGeom>
          <a:solidFill>
            <a:srgbClr val="FFFFFF"/>
          </a:solidFill>
          <a:ln w="12700">
            <a:solidFill>
              <a:srgbClr val="9F99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spcAft>
                <a:spcPts val="200"/>
              </a:spcAft>
            </a:pPr>
            <a:r>
              <a:rPr sz="900" b="1">
                <a:solidFill>
                  <a:srgbClr val="00519E"/>
                </a:solidFill>
                <a:latin typeface="Arial"/>
              </a:rPr>
              <a:t>27 features per channel, from the prefix only</a:t>
            </a:r>
          </a:p>
          <a:p>
            <a:pPr algn="l">
              <a:spcAft>
                <a:spcPts val="200"/>
              </a:spcAft>
            </a:pPr>
            <a:r>
              <a:rPr sz="900" b="0">
                <a:solidFill>
                  <a:srgbClr val="3E444C"/>
                </a:solidFill>
                <a:latin typeface="Arial"/>
              </a:rPr>
              <a:t>· current and first value</a:t>
            </a:r>
          </a:p>
          <a:p>
            <a:pPr algn="l">
              <a:spcAft>
                <a:spcPts val="200"/>
              </a:spcAft>
            </a:pPr>
            <a:r>
              <a:rPr sz="900" b="0">
                <a:solidFill>
                  <a:srgbClr val="3E444C"/>
                </a:solidFill>
                <a:latin typeface="Arial"/>
              </a:rPr>
              <a:t>· baseline mean of the first 10 cycles, and the deviation from it</a:t>
            </a:r>
          </a:p>
          <a:p>
            <a:pPr algn="l">
              <a:spcAft>
                <a:spcPts val="200"/>
              </a:spcAft>
            </a:pPr>
            <a:r>
              <a:rPr sz="900" b="0">
                <a:solidFill>
                  <a:srgbClr val="3E444C"/>
                </a:solidFill>
                <a:latin typeface="Arial"/>
              </a:rPr>
              <a:t>· history mean, SD, minimum, maximum, slope</a:t>
            </a:r>
          </a:p>
          <a:p>
            <a:pPr algn="l">
              <a:spcAft>
                <a:spcPts val="200"/>
              </a:spcAft>
            </a:pPr>
            <a:r>
              <a:rPr sz="900" b="0">
                <a:solidFill>
                  <a:srgbClr val="3E444C"/>
                </a:solidFill>
                <a:latin typeface="Arial"/>
              </a:rPr>
              <a:t>· latest change, mean and maximum absolute change</a:t>
            </a:r>
          </a:p>
          <a:p>
            <a:pPr algn="l">
              <a:spcAft>
                <a:spcPts val="200"/>
              </a:spcAft>
            </a:pPr>
            <a:r>
              <a:rPr sz="900" b="0">
                <a:solidFill>
                  <a:srgbClr val="3E444C"/>
                </a:solidFill>
                <a:latin typeface="Arial"/>
              </a:rPr>
              <a:t>· mean, SD, slope, net change and latest-value deviation over the last 5, 20 and 50 cycles</a:t>
            </a:r>
          </a:p>
        </p:txBody>
      </p:sp>
      <p:sp>
        <p:nvSpPr>
          <p:cNvPr id="12" name="Rounded Rectangle 11"/>
          <p:cNvSpPr/>
          <p:nvPr/>
        </p:nvSpPr>
        <p:spPr>
          <a:xfrm>
            <a:off x="466344" y="2852928"/>
            <a:ext cx="3017520" cy="932688"/>
          </a:xfrm>
          <a:prstGeom prst="roundRect">
            <a:avLst/>
          </a:prstGeom>
          <a:solidFill>
            <a:srgbClr val="FFFFFF"/>
          </a:solidFill>
          <a:ln w="12700">
            <a:solidFill>
              <a:srgbClr val="9F99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spcAft>
                <a:spcPts val="200"/>
              </a:spcAft>
            </a:pPr>
            <a:r>
              <a:rPr sz="900" b="1">
                <a:solidFill>
                  <a:srgbClr val="00519E"/>
                </a:solidFill>
                <a:latin typeface="Arial"/>
              </a:rPr>
              <a:t>22 x 27 + 10 + 2 = 606 candidates</a:t>
            </a:r>
          </a:p>
          <a:p>
            <a:pPr algn="l">
              <a:spcAft>
                <a:spcPts val="200"/>
              </a:spcAft>
            </a:pPr>
            <a:r>
              <a:rPr sz="900" b="0">
                <a:solidFill>
                  <a:srgbClr val="3E444C"/>
                </a:solidFill>
                <a:latin typeface="Arial"/>
              </a:rPr>
              <a:t>· 10 state features for telemetry_07 and 16</a:t>
            </a:r>
          </a:p>
          <a:p>
            <a:pPr algn="l">
              <a:spcAft>
                <a:spcPts val="200"/>
              </a:spcAft>
            </a:pPr>
            <a:r>
              <a:rPr sz="900" b="0">
                <a:solidFill>
                  <a:srgbClr val="3E444C"/>
                </a:solidFill>
                <a:latin typeface="Arial"/>
              </a:rPr>
              <a:t>· 2 age features</a:t>
            </a:r>
          </a:p>
          <a:p>
            <a:pPr algn="l">
              <a:spcAft>
                <a:spcPts val="200"/>
              </a:spcAft>
            </a:pPr>
            <a:r>
              <a:rPr sz="900" b="0">
                <a:solidFill>
                  <a:srgbClr val="3E444C"/>
                </a:solidFill>
                <a:latin typeface="Arial"/>
              </a:rPr>
              <a:t>· no feature may reference terminal lifetime or any post-cutoff cycle</a:t>
            </a:r>
          </a:p>
        </p:txBody>
      </p:sp>
      <p:graphicFrame>
        <p:nvGraphicFramePr>
          <p:cNvPr id="13" name="Table 12"/>
          <p:cNvGraphicFramePr>
            <a:graphicFrameLocks noGrp="1"/>
          </p:cNvGraphicFramePr>
          <p:nvPr/>
        </p:nvGraphicFramePr>
        <p:xfrm>
          <a:off x="3703320" y="987552"/>
          <a:ext cx="5010911" cy="2103120"/>
        </p:xfrm>
        <a:graphic>
          <a:graphicData uri="http://schemas.openxmlformats.org/drawingml/2006/table">
            <a:tbl>
              <a:tblPr firstRow="1" bandRow="1">
                <a:tableStyleId>{5C22544A-7EE6-4342-B048-85BDC9FD1C3A}</a:tableStyleId>
              </a:tblPr>
              <a:tblGrid>
                <a:gridCol w="987552"/>
                <a:gridCol w="521207"/>
                <a:gridCol w="2011680"/>
                <a:gridCol w="1490472"/>
              </a:tblGrid>
              <a:tr h="420624">
                <a:tc>
                  <a:txBody>
                    <a:bodyPr wrap="square"/>
                    <a:lstStyle/>
                    <a:p>
                      <a:pPr algn="l">
                        <a:spcAft>
                          <a:spcPts val="0"/>
                        </a:spcAft>
                      </a:pPr>
                      <a:r>
                        <a:rPr sz="800" b="1">
                          <a:solidFill>
                            <a:srgbClr val="FFFFFF"/>
                          </a:solidFill>
                          <a:latin typeface="Arial"/>
                        </a:rPr>
                        <a:t>feature set</a:t>
                      </a:r>
                    </a:p>
                  </a:txBody>
                  <a:tcPr anchor="ctr">
                    <a:solidFill>
                      <a:srgbClr val="00519E"/>
                    </a:solidFill>
                  </a:tcPr>
                </a:tc>
                <a:tc>
                  <a:txBody>
                    <a:bodyPr wrap="square"/>
                    <a:lstStyle/>
                    <a:p>
                      <a:pPr algn="l">
                        <a:spcAft>
                          <a:spcPts val="0"/>
                        </a:spcAft>
                      </a:pPr>
                      <a:r>
                        <a:rPr sz="800" b="1">
                          <a:solidFill>
                            <a:srgbClr val="FFFFFF"/>
                          </a:solidFill>
                          <a:latin typeface="Arial"/>
                        </a:rPr>
                        <a:t>count</a:t>
                      </a:r>
                    </a:p>
                  </a:txBody>
                  <a:tcPr anchor="ctr">
                    <a:solidFill>
                      <a:srgbClr val="00519E"/>
                    </a:solidFill>
                  </a:tcPr>
                </a:tc>
                <a:tc>
                  <a:txBody>
                    <a:bodyPr wrap="square"/>
                    <a:lstStyle/>
                    <a:p>
                      <a:pPr algn="l">
                        <a:spcAft>
                          <a:spcPts val="0"/>
                        </a:spcAft>
                      </a:pPr>
                      <a:r>
                        <a:rPr sz="800" b="1">
                          <a:solidFill>
                            <a:srgbClr val="FFFFFF"/>
                          </a:solidFill>
                          <a:latin typeface="Arial"/>
                        </a:rPr>
                        <a:t>contents</a:t>
                      </a:r>
                    </a:p>
                  </a:txBody>
                  <a:tcPr anchor="ctr">
                    <a:solidFill>
                      <a:srgbClr val="00519E"/>
                    </a:solidFill>
                  </a:tcPr>
                </a:tc>
                <a:tc>
                  <a:txBody>
                    <a:bodyPr wrap="square"/>
                    <a:lstStyle/>
                    <a:p>
                      <a:pPr algn="l">
                        <a:spcAft>
                          <a:spcPts val="0"/>
                        </a:spcAft>
                      </a:pPr>
                      <a:r>
                        <a:rPr sz="800" b="1">
                          <a:solidFill>
                            <a:srgbClr val="FFFFFF"/>
                          </a:solidFill>
                          <a:latin typeface="Arial"/>
                        </a:rPr>
                        <a:t>question it answers</a:t>
                      </a:r>
                    </a:p>
                  </a:txBody>
                  <a:tcPr anchor="ctr">
                    <a:solidFill>
                      <a:srgbClr val="00519E"/>
                    </a:solidFill>
                  </a:tcPr>
                </a:tc>
              </a:tr>
              <a:tr h="420624">
                <a:tc>
                  <a:txBody>
                    <a:bodyPr wrap="square"/>
                    <a:lstStyle/>
                    <a:p>
                      <a:pPr algn="l">
                        <a:spcAft>
                          <a:spcPts val="0"/>
                        </a:spcAft>
                      </a:pPr>
                      <a:r>
                        <a:rPr sz="800" b="0">
                          <a:solidFill>
                            <a:srgbClr val="3E444C"/>
                          </a:solidFill>
                          <a:latin typeface="Arial"/>
                        </a:rPr>
                        <a:t>age_only</a:t>
                      </a:r>
                    </a:p>
                  </a:txBody>
                  <a:tcPr anchor="ctr">
                    <a:solidFill>
                      <a:srgbClr val="ECF4FA"/>
                    </a:solidFill>
                  </a:tcPr>
                </a:tc>
                <a:tc>
                  <a:txBody>
                    <a:bodyPr wrap="square"/>
                    <a:lstStyle/>
                    <a:p>
                      <a:pPr algn="l">
                        <a:spcAft>
                          <a:spcPts val="0"/>
                        </a:spcAft>
                      </a:pPr>
                      <a:r>
                        <a:rPr sz="800" b="0">
                          <a:solidFill>
                            <a:srgbClr val="3E444C"/>
                          </a:solidFill>
                          <a:latin typeface="Arial"/>
                        </a:rPr>
                        <a:t>2</a:t>
                      </a:r>
                    </a:p>
                  </a:txBody>
                  <a:tcPr anchor="ctr">
                    <a:solidFill>
                      <a:srgbClr val="ECF4FA"/>
                    </a:solidFill>
                  </a:tcPr>
                </a:tc>
                <a:tc>
                  <a:txBody>
                    <a:bodyPr wrap="square"/>
                    <a:lstStyle/>
                    <a:p>
                      <a:pPr algn="l">
                        <a:spcAft>
                          <a:spcPts val="0"/>
                        </a:spcAft>
                      </a:pPr>
                      <a:r>
                        <a:rPr sz="800" b="0">
                          <a:solidFill>
                            <a:srgbClr val="3E444C"/>
                          </a:solidFill>
                          <a:latin typeface="Arial"/>
                        </a:rPr>
                        <a:t>flight cycle and log(1 + cycle)</a:t>
                      </a:r>
                    </a:p>
                  </a:txBody>
                  <a:tcPr anchor="ctr">
                    <a:solidFill>
                      <a:srgbClr val="ECF4FA"/>
                    </a:solidFill>
                  </a:tcPr>
                </a:tc>
                <a:tc>
                  <a:txBody>
                    <a:bodyPr wrap="square"/>
                    <a:lstStyle/>
                    <a:p>
                      <a:pPr algn="l">
                        <a:spcAft>
                          <a:spcPts val="0"/>
                        </a:spcAft>
                      </a:pPr>
                      <a:r>
                        <a:rPr sz="800" b="0">
                          <a:solidFill>
                            <a:srgbClr val="3E444C"/>
                          </a:solidFill>
                          <a:latin typeface="Arial"/>
                        </a:rPr>
                        <a:t>is age alone predictive?</a:t>
                      </a:r>
                    </a:p>
                  </a:txBody>
                  <a:tcPr anchor="ctr">
                    <a:solidFill>
                      <a:srgbClr val="ECF4FA"/>
                    </a:solidFill>
                  </a:tcPr>
                </a:tc>
              </a:tr>
              <a:tr h="420624">
                <a:tc>
                  <a:txBody>
                    <a:bodyPr wrap="square"/>
                    <a:lstStyle/>
                    <a:p>
                      <a:pPr algn="l">
                        <a:spcAft>
                          <a:spcPts val="0"/>
                        </a:spcAft>
                      </a:pPr>
                      <a:r>
                        <a:rPr sz="800" b="0">
                          <a:solidFill>
                            <a:srgbClr val="3E444C"/>
                          </a:solidFill>
                          <a:latin typeface="Arial"/>
                        </a:rPr>
                        <a:t>last_values</a:t>
                      </a:r>
                    </a:p>
                  </a:txBody>
                  <a:tcPr anchor="ctr">
                    <a:solidFill>
                      <a:srgbClr val="FFFFFF"/>
                    </a:solidFill>
                  </a:tcPr>
                </a:tc>
                <a:tc>
                  <a:txBody>
                    <a:bodyPr wrap="square"/>
                    <a:lstStyle/>
                    <a:p>
                      <a:pPr algn="l">
                        <a:spcAft>
                          <a:spcPts val="0"/>
                        </a:spcAft>
                      </a:pPr>
                      <a:r>
                        <a:rPr sz="800" b="0">
                          <a:solidFill>
                            <a:srgbClr val="3E444C"/>
                          </a:solidFill>
                          <a:latin typeface="Arial"/>
                        </a:rPr>
                        <a:t>24</a:t>
                      </a:r>
                    </a:p>
                  </a:txBody>
                  <a:tcPr anchor="ctr">
                    <a:solidFill>
                      <a:srgbClr val="FFFFFF"/>
                    </a:solidFill>
                  </a:tcPr>
                </a:tc>
                <a:tc>
                  <a:txBody>
                    <a:bodyPr wrap="square"/>
                    <a:lstStyle/>
                    <a:p>
                      <a:pPr algn="l">
                        <a:spcAft>
                          <a:spcPts val="0"/>
                        </a:spcAft>
                      </a:pPr>
                      <a:r>
                        <a:rPr sz="800" b="0">
                          <a:solidFill>
                            <a:srgbClr val="3E444C"/>
                          </a:solidFill>
                          <a:latin typeface="Arial"/>
                        </a:rPr>
                        <a:t>age plus the latest value of each channel</a:t>
                      </a:r>
                    </a:p>
                  </a:txBody>
                  <a:tcPr anchor="ctr">
                    <a:solidFill>
                      <a:srgbClr val="FFFFFF"/>
                    </a:solidFill>
                  </a:tcPr>
                </a:tc>
                <a:tc>
                  <a:txBody>
                    <a:bodyPr wrap="square"/>
                    <a:lstStyle/>
                    <a:p>
                      <a:pPr algn="l">
                        <a:spcAft>
                          <a:spcPts val="0"/>
                        </a:spcAft>
                      </a:pPr>
                      <a:r>
                        <a:rPr sz="800" b="0">
                          <a:solidFill>
                            <a:srgbClr val="3E444C"/>
                          </a:solidFill>
                          <a:latin typeface="Arial"/>
                        </a:rPr>
                        <a:t>does the current snapshot help?</a:t>
                      </a:r>
                    </a:p>
                  </a:txBody>
                  <a:tcPr anchor="ctr">
                    <a:solidFill>
                      <a:srgbClr val="FFFFFF"/>
                    </a:solidFill>
                  </a:tcPr>
                </a:tc>
              </a:tr>
              <a:tr h="420624">
                <a:tc>
                  <a:txBody>
                    <a:bodyPr wrap="square"/>
                    <a:lstStyle/>
                    <a:p>
                      <a:pPr algn="l">
                        <a:spcAft>
                          <a:spcPts val="0"/>
                        </a:spcAft>
                      </a:pPr>
                      <a:r>
                        <a:rPr sz="800" b="1">
                          <a:solidFill>
                            <a:srgbClr val="00519E"/>
                          </a:solidFill>
                          <a:latin typeface="Arial"/>
                        </a:rPr>
                        <a:t>screened</a:t>
                      </a:r>
                    </a:p>
                  </a:txBody>
                  <a:tcPr anchor="ctr">
                    <a:solidFill>
                      <a:srgbClr val="ECF4FA"/>
                    </a:solidFill>
                  </a:tcPr>
                </a:tc>
                <a:tc>
                  <a:txBody>
                    <a:bodyPr wrap="square"/>
                    <a:lstStyle/>
                    <a:p>
                      <a:pPr algn="l">
                        <a:spcAft>
                          <a:spcPts val="0"/>
                        </a:spcAft>
                      </a:pPr>
                      <a:r>
                        <a:rPr sz="800" b="1">
                          <a:solidFill>
                            <a:srgbClr val="00519E"/>
                          </a:solidFill>
                          <a:latin typeface="Arial"/>
                        </a:rPr>
                        <a:t>310</a:t>
                      </a:r>
                    </a:p>
                  </a:txBody>
                  <a:tcPr anchor="ctr">
                    <a:solidFill>
                      <a:srgbClr val="ECF4FA"/>
                    </a:solidFill>
                  </a:tcPr>
                </a:tc>
                <a:tc>
                  <a:txBody>
                    <a:bodyPr wrap="square"/>
                    <a:lstStyle/>
                    <a:p>
                      <a:pPr algn="l">
                        <a:spcAft>
                          <a:spcPts val="0"/>
                        </a:spcAft>
                      </a:pPr>
                      <a:r>
                        <a:rPr sz="800" b="1">
                          <a:solidFill>
                            <a:srgbClr val="00519E"/>
                          </a:solidFill>
                          <a:latin typeface="Arial"/>
                        </a:rPr>
                        <a:t>all temporal features of the 10 degradation channels, 7 level statistics of the 4 context channels</a:t>
                      </a:r>
                    </a:p>
                  </a:txBody>
                  <a:tcPr anchor="ctr">
                    <a:solidFill>
                      <a:srgbClr val="ECF4FA"/>
                    </a:solidFill>
                  </a:tcPr>
                </a:tc>
                <a:tc>
                  <a:txBody>
                    <a:bodyPr wrap="square"/>
                    <a:lstStyle/>
                    <a:p>
                      <a:pPr algn="l">
                        <a:spcAft>
                          <a:spcPts val="0"/>
                        </a:spcAft>
                      </a:pPr>
                      <a:r>
                        <a:rPr sz="800" b="1">
                          <a:solidFill>
                            <a:srgbClr val="00519E"/>
                          </a:solidFill>
                          <a:latin typeface="Arial"/>
                        </a:rPr>
                        <a:t>do the Phase 0 roles help?</a:t>
                      </a:r>
                    </a:p>
                  </a:txBody>
                  <a:tcPr anchor="ctr">
                    <a:solidFill>
                      <a:srgbClr val="ECF4FA"/>
                    </a:solidFill>
                  </a:tcPr>
                </a:tc>
              </a:tr>
              <a:tr h="420624">
                <a:tc>
                  <a:txBody>
                    <a:bodyPr wrap="square"/>
                    <a:lstStyle/>
                    <a:p>
                      <a:pPr algn="l">
                        <a:spcAft>
                          <a:spcPts val="0"/>
                        </a:spcAft>
                      </a:pPr>
                      <a:r>
                        <a:rPr sz="800" b="0">
                          <a:solidFill>
                            <a:srgbClr val="3E444C"/>
                          </a:solidFill>
                          <a:latin typeface="Arial"/>
                        </a:rPr>
                        <a:t>all_nonconstant</a:t>
                      </a:r>
                    </a:p>
                  </a:txBody>
                  <a:tcPr anchor="ctr">
                    <a:solidFill>
                      <a:srgbClr val="FFFFFF"/>
                    </a:solidFill>
                  </a:tcPr>
                </a:tc>
                <a:tc>
                  <a:txBody>
                    <a:bodyPr wrap="square"/>
                    <a:lstStyle/>
                    <a:p>
                      <a:pPr algn="l">
                        <a:spcAft>
                          <a:spcPts val="0"/>
                        </a:spcAft>
                      </a:pPr>
                      <a:r>
                        <a:rPr sz="800" b="0">
                          <a:solidFill>
                            <a:srgbClr val="3E444C"/>
                          </a:solidFill>
                          <a:latin typeface="Arial"/>
                        </a:rPr>
                        <a:t>606</a:t>
                      </a:r>
                    </a:p>
                  </a:txBody>
                  <a:tcPr anchor="ctr">
                    <a:solidFill>
                      <a:srgbClr val="FFFFFF"/>
                    </a:solidFill>
                  </a:tcPr>
                </a:tc>
                <a:tc>
                  <a:txBody>
                    <a:bodyPr wrap="square"/>
                    <a:lstStyle/>
                    <a:p>
                      <a:pPr algn="l">
                        <a:spcAft>
                          <a:spcPts val="0"/>
                        </a:spcAft>
                      </a:pPr>
                      <a:r>
                        <a:rPr sz="800" b="0">
                          <a:solidFill>
                            <a:srgbClr val="3E444C"/>
                          </a:solidFill>
                          <a:latin typeface="Arial"/>
                        </a:rPr>
                        <a:t>every generated feature of all 22 channels</a:t>
                      </a:r>
                    </a:p>
                  </a:txBody>
                  <a:tcPr anchor="ctr">
                    <a:solidFill>
                      <a:srgbClr val="FFFFFF"/>
                    </a:solidFill>
                  </a:tcPr>
                </a:tc>
                <a:tc>
                  <a:txBody>
                    <a:bodyPr wrap="square"/>
                    <a:lstStyle/>
                    <a:p>
                      <a:pPr algn="l">
                        <a:spcAft>
                          <a:spcPts val="0"/>
                        </a:spcAft>
                      </a:pPr>
                      <a:r>
                        <a:rPr sz="800" b="0">
                          <a:solidFill>
                            <a:srgbClr val="3E444C"/>
                          </a:solidFill>
                          <a:latin typeface="Arial"/>
                        </a:rPr>
                        <a:t>did screening discard something useful?</a:t>
                      </a:r>
                    </a:p>
                  </a:txBody>
                  <a:tcPr anchor="ctr">
                    <a:solidFill>
                      <a:srgbClr val="FFFFFF"/>
                    </a:solidFill>
                  </a:tcPr>
                </a:tc>
              </a:tr>
            </a:tbl>
          </a:graphicData>
        </a:graphic>
      </p:graphicFrame>
      <p:sp>
        <p:nvSpPr>
          <p:cNvPr id="14" name="Rounded Rectangle 13"/>
          <p:cNvSpPr/>
          <p:nvPr/>
        </p:nvSpPr>
        <p:spPr>
          <a:xfrm>
            <a:off x="3703320" y="3200400"/>
            <a:ext cx="5010912" cy="585216"/>
          </a:xfrm>
          <a:prstGeom prst="roundRect">
            <a:avLst/>
          </a:prstGeom>
          <a:solidFill>
            <a:srgbClr val="FFFFFF"/>
          </a:solidFill>
          <a:ln w="12700">
            <a:solidFill>
              <a:srgbClr val="9F99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spcAft>
                <a:spcPts val="0"/>
              </a:spcAft>
            </a:pPr>
            <a:r>
              <a:rPr sz="900" b="0">
                <a:solidFill>
                  <a:srgbClr val="3E444C"/>
                </a:solidFill>
                <a:latin typeface="Arial"/>
              </a:rPr>
              <a:t>Fold-fitted scaling: value minus the training-fold median, divided by IQR / 1.349. 4,405 features scaled by IQR, 293 by a standard-deviation fallback, 12 by unit fallback.</a:t>
            </a:r>
          </a:p>
        </p:txBody>
      </p:sp>
      <p:sp>
        <p:nvSpPr>
          <p:cNvPr id="15" name="Rounded Rectangle 14"/>
          <p:cNvSpPr/>
          <p:nvPr/>
        </p:nvSpPr>
        <p:spPr>
          <a:xfrm>
            <a:off x="3703320" y="3858768"/>
            <a:ext cx="5010912" cy="384048"/>
          </a:xfrm>
          <a:prstGeom prst="roundRect">
            <a:avLst/>
          </a:prstGeom>
          <a:solidFill>
            <a:srgbClr val="FFD5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spcAft>
                <a:spcPts val="0"/>
              </a:spcAft>
            </a:pPr>
            <a:r>
              <a:rPr sz="950" b="0">
                <a:solidFill>
                  <a:srgbClr val="3E444C"/>
                </a:solidFill>
                <a:latin typeface="Arial"/>
              </a:rPr>
              <a:t>The final set is not chosen here. It is chosen on the inner folds.</a:t>
            </a:r>
          </a:p>
        </p:txBody>
      </p:sp>
      <p:sp>
        <p:nvSpPr>
          <p:cNvPr id="16" name="TextBox 15"/>
          <p:cNvSpPr txBox="1"/>
          <p:nvPr/>
        </p:nvSpPr>
        <p:spPr>
          <a:xfrm>
            <a:off x="466344" y="4572000"/>
            <a:ext cx="8247888" cy="164592"/>
          </a:xfrm>
          <a:prstGeom prst="rect">
            <a:avLst/>
          </a:prstGeom>
          <a:noFill/>
        </p:spPr>
        <p:txBody>
          <a:bodyPr wrap="square">
            <a:spAutoFit/>
          </a:bodyPr>
          <a:lstStyle/>
          <a:p>
            <a:pPr algn="l">
              <a:spcAft>
                <a:spcPts val="400"/>
              </a:spcAft>
            </a:pPr>
            <a:r>
              <a:rPr sz="900" b="0">
                <a:solidFill>
                  <a:srgbClr val="9F9998"/>
                </a:solidFill>
                <a:latin typeface="Arial"/>
              </a:rPr>
              <a:t>Sources: 1_dataset_construction steps 5-7 · feature_catalog.csv and preprocessing_config.json · claims C69-C77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a:spcAft>
                <a:spcPts val="400"/>
              </a:spcAft>
            </a:pPr>
            <a:r>
              <a:rPr sz="1800" b="1">
                <a:solidFill>
                  <a:srgbClr val="3E444C"/>
                </a:solidFill>
                <a:latin typeface="Arial"/>
              </a:rPr>
              <a:t>The benchmark: age alone predicts nothing</a:t>
            </a:r>
          </a:p>
        </p:txBody>
      </p:sp>
      <p:sp>
        <p:nvSpPr>
          <p:cNvPr id="3" name="Text Placeholder 2"/>
          <p:cNvSpPr>
            <a:spLocks noGrp="1"/>
          </p:cNvSpPr>
          <p:nvPr>
            <p:ph type="body" idx="13" sz="quarter"/>
          </p:nvPr>
        </p:nvSpPr>
        <p:spPr/>
        <p:txBody>
          <a:bodyPr wrap="square"/>
          <a:lstStyle/>
          <a:p>
            <a:pPr algn="l">
              <a:spcAft>
                <a:spcPts val="400"/>
              </a:spcAft>
            </a:pPr>
            <a:r>
              <a:rPr sz="1400" b="0">
                <a:solidFill>
                  <a:srgbClr val="9F9998"/>
                </a:solidFill>
                <a:latin typeface="Arial"/>
              </a:rPr>
              <a:t>A weighted linear fit on the cutoff cycle, evaluated on the same 20 locked scenarios</a:t>
            </a:r>
          </a:p>
        </p:txBody>
      </p:sp>
      <p:sp>
        <p:nvSpPr>
          <p:cNvPr id="7" name="Datumsplatzhalter 6">
            <a:extLst>
              <a:ext uri="{FF2B5EF4-FFF2-40B4-BE49-F238E27FC236}">
                <a16:creationId xmlns:a16="http://schemas.microsoft.com/office/drawing/2014/main" id="{124A6A03-5D2E-417E-9A62-737D1DBC92ED}"/>
              </a:ext>
              <a:ext uri="{C183D7F6-B498-43B3-948B-1728B52AA6E4}">
                <adec:decorative xmlns:adec="http://schemas.microsoft.com/office/drawing/2017/decorative" val="1"/>
              </a:ext>
            </a:extLst>
          </p:cNvPr>
          <p:cNvSpPr>
            <a:spLocks noGrp="1"/>
          </p:cNvSpPr>
          <p:nvPr>
            <p:ph type="dt" sz="half" idx="14"/>
          </p:nvPr>
        </p:nvSpPr>
        <p:spPr>
          <a:xfrm>
            <a:off x="6492240" y="4873752"/>
            <a:ext cx="1737360" cy="146304"/>
          </a:xfrm>
        </p:spPr>
        <p:txBody>
          <a:bodyPr/>
          <a:lstStyle/>
          <a:p>
            <a:pPr algn="r"/>
            <a:r>
              <a:rPr lang="de-DE"/>
              <a:t>9 September 2026</a:t>
            </a:r>
            <a:endParaRPr lang="en-US" dirty="0"/>
          </a:p>
        </p:txBody>
      </p:sp>
      <p:sp>
        <p:nvSpPr>
          <p:cNvPr id="8" name="Fußzeilenplatzhalter 7">
            <a:extLst>
              <a:ext uri="{FF2B5EF4-FFF2-40B4-BE49-F238E27FC236}">
                <a16:creationId xmlns:a16="http://schemas.microsoft.com/office/drawing/2014/main" id="{90427F68-7D65-4111-9D28-F407D044A73B}"/>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UAV remaining useful life estimation</a:t>
            </a:r>
            <a:endParaRPr lang="en-US" dirty="0"/>
          </a:p>
        </p:txBody>
      </p:sp>
      <p:sp>
        <p:nvSpPr>
          <p:cNvPr id="10" name="Foliennummernplatzhalter 9">
            <a:extLst>
              <a:ext uri="{FF2B5EF4-FFF2-40B4-BE49-F238E27FC236}">
                <a16:creationId xmlns:a16="http://schemas.microsoft.com/office/drawing/2014/main" id="{BC2B8577-8AB8-42B5-8BA8-1751A412246A}"/>
              </a:ext>
              <a:ext uri="{C183D7F6-B498-43B3-948B-1728B52AA6E4}">
                <adec:decorative xmlns:adec="http://schemas.microsoft.com/office/drawing/2017/decorative" val="1"/>
              </a:ext>
            </a:extLst>
          </p:cNvPr>
          <p:cNvSpPr>
            <a:spLocks noGrp="1"/>
          </p:cNvSpPr>
          <p:nvPr>
            <p:ph type="sldNum" sz="quarter" idx="16"/>
          </p:nvPr>
        </p:nvSpPr>
        <p:spPr/>
        <p:txBody>
          <a:bodyPr/>
          <a:lstStyle/>
          <a:p>
            <a:fld id="{9E82CC3C-1DC0-4FDA-9590-6CC506AB67F8}" type="slidenum">
              <a:rPr lang="en-US" smtClean="0"/>
              <a:pPr/>
              <a:t>‹Nr.›</a:t>
            </a:fld>
            <a:endParaRPr lang="en-US" dirty="0"/>
          </a:p>
        </p:txBody>
      </p:sp>
      <p:pic>
        <p:nvPicPr>
          <p:cNvPr id="11" name="Picture 10" descr="cycle_only_baseline.png"/>
          <p:cNvPicPr>
            <a:picLocks noChangeAspect="1"/>
          </p:cNvPicPr>
          <p:nvPr/>
        </p:nvPicPr>
        <p:blipFill>
          <a:blip r:embed="rId3"/>
          <a:stretch>
            <a:fillRect/>
          </a:stretch>
        </p:blipFill>
        <p:spPr>
          <a:xfrm>
            <a:off x="1547829" y="969264"/>
            <a:ext cx="6084916" cy="2231136"/>
          </a:xfrm>
          <a:prstGeom prst="rect">
            <a:avLst/>
          </a:prstGeom>
        </p:spPr>
      </p:pic>
      <p:sp>
        <p:nvSpPr>
          <p:cNvPr id="12" name="Rounded Rectangle 11"/>
          <p:cNvSpPr/>
          <p:nvPr/>
        </p:nvSpPr>
        <p:spPr>
          <a:xfrm>
            <a:off x="466344" y="3291840"/>
            <a:ext cx="2639568" cy="1225296"/>
          </a:xfrm>
          <a:prstGeom prst="roundRect">
            <a:avLst/>
          </a:prstGeom>
          <a:solidFill>
            <a:srgbClr val="FFFFFF"/>
          </a:solidFill>
          <a:ln w="12700">
            <a:solidFill>
              <a:srgbClr val="9F99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spcAft>
                <a:spcPts val="200"/>
              </a:spcAft>
            </a:pPr>
            <a:r>
              <a:rPr sz="900" b="1">
                <a:solidFill>
                  <a:srgbClr val="00519E"/>
                </a:solidFill>
                <a:latin typeface="Arial"/>
              </a:rPr>
              <a:t>Locked-scenario result</a:t>
            </a:r>
          </a:p>
          <a:p>
            <a:pPr algn="l">
              <a:spcAft>
                <a:spcPts val="200"/>
              </a:spcAft>
            </a:pPr>
            <a:r>
              <a:rPr sz="900" b="0">
                <a:solidFill>
                  <a:srgbClr val="3E444C"/>
                </a:solidFill>
                <a:latin typeface="Arial"/>
              </a:rPr>
              <a:t>· R² −0.005 · RMSE 64.554 · MAE 51.912 cycles</a:t>
            </a:r>
          </a:p>
          <a:p>
            <a:pPr algn="l">
              <a:spcAft>
                <a:spcPts val="200"/>
              </a:spcAft>
            </a:pPr>
            <a:r>
              <a:rPr sz="900" b="0">
                <a:solidFill>
                  <a:srgbClr val="3E444C"/>
                </a:solidFill>
                <a:latin typeface="Arial"/>
              </a:rPr>
              <a:t>· Bias +17.712 cycles: age alone systematically overpredicts.</a:t>
            </a:r>
          </a:p>
          <a:p>
            <a:pPr algn="l">
              <a:spcAft>
                <a:spcPts val="200"/>
              </a:spcAft>
            </a:pPr>
            <a:r>
              <a:rPr sz="900" b="0">
                <a:solidFill>
                  <a:srgbClr val="3E444C"/>
                </a:solidFill>
                <a:latin typeface="Arial"/>
              </a:rPr>
              <a:t>· 95% UAV-bootstrap interval for R²: [−0.153, +0.129].</a:t>
            </a:r>
          </a:p>
        </p:txBody>
      </p:sp>
      <p:sp>
        <p:nvSpPr>
          <p:cNvPr id="13" name="Rounded Rectangle 12"/>
          <p:cNvSpPr/>
          <p:nvPr/>
        </p:nvSpPr>
        <p:spPr>
          <a:xfrm>
            <a:off x="3270504" y="3291840"/>
            <a:ext cx="2639568" cy="1225296"/>
          </a:xfrm>
          <a:prstGeom prst="roundRect">
            <a:avLst/>
          </a:prstGeom>
          <a:solidFill>
            <a:srgbClr val="FFFFFF"/>
          </a:solidFill>
          <a:ln w="12700">
            <a:solidFill>
              <a:srgbClr val="9F99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spcAft>
                <a:spcPts val="200"/>
              </a:spcAft>
            </a:pPr>
            <a:r>
              <a:rPr sz="900" b="1">
                <a:solidFill>
                  <a:srgbClr val="00519E"/>
                </a:solidFill>
                <a:latin typeface="Arial"/>
              </a:rPr>
              <a:t>Why it is worth the compute</a:t>
            </a:r>
          </a:p>
          <a:p>
            <a:pPr algn="l">
              <a:spcAft>
                <a:spcPts val="200"/>
              </a:spcAft>
            </a:pPr>
            <a:r>
              <a:rPr sz="900" b="0">
                <a:solidFill>
                  <a:srgbClr val="3E444C"/>
                </a:solidFill>
                <a:latin typeface="Arial"/>
              </a:rPr>
              <a:t>· It is the only number that makes a later RMSE interpretable.</a:t>
            </a:r>
          </a:p>
          <a:p>
            <a:pPr algn="l">
              <a:spcAft>
                <a:spcPts val="200"/>
              </a:spcAft>
            </a:pPr>
            <a:r>
              <a:rPr sz="900" b="0">
                <a:solidFill>
                  <a:srgbClr val="3E444C"/>
                </a:solidFill>
                <a:latin typeface="Arial"/>
              </a:rPr>
              <a:t>· A complex model failing to beat it points at leakage control, weak features or an implementation fault, not at the data.</a:t>
            </a:r>
          </a:p>
        </p:txBody>
      </p:sp>
      <p:sp>
        <p:nvSpPr>
          <p:cNvPr id="14" name="Rounded Rectangle 13"/>
          <p:cNvSpPr/>
          <p:nvPr/>
        </p:nvSpPr>
        <p:spPr>
          <a:xfrm>
            <a:off x="6074664" y="3291840"/>
            <a:ext cx="2639568" cy="1225296"/>
          </a:xfrm>
          <a:prstGeom prst="roundRect">
            <a:avLst/>
          </a:prstGeom>
          <a:solidFill>
            <a:srgbClr val="FFFFFF"/>
          </a:solidFill>
          <a:ln w="12700">
            <a:solidFill>
              <a:srgbClr val="9F99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spcAft>
                <a:spcPts val="200"/>
              </a:spcAft>
            </a:pPr>
            <a:r>
              <a:rPr sz="900" b="1">
                <a:solidFill>
                  <a:srgbClr val="00519E"/>
                </a:solidFill>
                <a:latin typeface="Arial"/>
              </a:rPr>
              <a:t>How the interval is built</a:t>
            </a:r>
          </a:p>
          <a:p>
            <a:pPr algn="l">
              <a:spcAft>
                <a:spcPts val="200"/>
              </a:spcAft>
            </a:pPr>
            <a:r>
              <a:rPr sz="900" b="0">
                <a:solidFill>
                  <a:srgbClr val="3E444C"/>
                </a:solidFill>
                <a:latin typeface="Arial"/>
              </a:rPr>
              <a:t>· 1,000 resamples of whole UAVs, never of rows, because each UAV appears in 20 scenarios and those rows are not independent.</a:t>
            </a:r>
          </a:p>
          <a:p>
            <a:pPr algn="l">
              <a:spcAft>
                <a:spcPts val="200"/>
              </a:spcAft>
            </a:pPr>
            <a:r>
              <a:rPr sz="900" b="0">
                <a:solidFill>
                  <a:srgbClr val="3E444C"/>
                </a:solidFill>
                <a:latin typeface="Arial"/>
              </a:rPr>
              <a:t>· Seed 20260814, as for the folds and cutoffs.</a:t>
            </a:r>
          </a:p>
        </p:txBody>
      </p:sp>
      <p:sp>
        <p:nvSpPr>
          <p:cNvPr id="15" name="TextBox 14"/>
          <p:cNvSpPr txBox="1"/>
          <p:nvPr/>
        </p:nvSpPr>
        <p:spPr>
          <a:xfrm>
            <a:off x="466344" y="4572000"/>
            <a:ext cx="8247888" cy="164592"/>
          </a:xfrm>
          <a:prstGeom prst="rect">
            <a:avLst/>
          </a:prstGeom>
          <a:noFill/>
        </p:spPr>
        <p:txBody>
          <a:bodyPr wrap="square">
            <a:spAutoFit/>
          </a:bodyPr>
          <a:lstStyle/>
          <a:p>
            <a:pPr algn="l">
              <a:spcAft>
                <a:spcPts val="400"/>
              </a:spcAft>
            </a:pPr>
            <a:r>
              <a:rPr sz="900" b="0">
                <a:solidFill>
                  <a:srgbClr val="9F9998"/>
                </a:solidFill>
                <a:latin typeface="Arial"/>
              </a:rPr>
              <a:t>Figure: generated from 1_dataset_construction/9_cycle_only_baseline artifacts · claims C78-C86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a:spcAft>
                <a:spcPts val="400"/>
              </a:spcAft>
            </a:pPr>
            <a:r>
              <a:rPr sz="1800" b="1">
                <a:solidFill>
                  <a:srgbClr val="3E444C"/>
                </a:solidFill>
                <a:latin typeface="Arial"/>
              </a:rPr>
              <a:t>Decision 1: bounded scenarios and a fitting cap at 125</a:t>
            </a:r>
          </a:p>
        </p:txBody>
      </p:sp>
      <p:sp>
        <p:nvSpPr>
          <p:cNvPr id="3" name="Text Placeholder 2"/>
          <p:cNvSpPr>
            <a:spLocks noGrp="1"/>
          </p:cNvSpPr>
          <p:nvPr>
            <p:ph type="body" idx="13" sz="quarter"/>
          </p:nvPr>
        </p:nvSpPr>
        <p:spPr/>
        <p:txBody>
          <a:bodyPr wrap="square"/>
          <a:lstStyle/>
          <a:p>
            <a:pPr algn="l">
              <a:spcAft>
                <a:spcPts val="400"/>
              </a:spcAft>
            </a:pPr>
            <a:r>
              <a:rPr sz="1400" b="0">
                <a:solidFill>
                  <a:srgbClr val="9F9998"/>
                </a:solidFill>
                <a:latin typeface="Arial"/>
              </a:rPr>
              <a:t>PE_2 paired RMSE improvement, mean-fold, blue ExtraTrees and orange XGBoost. Public: +0.30377</a:t>
            </a:r>
          </a:p>
        </p:txBody>
      </p:sp>
      <p:sp>
        <p:nvSpPr>
          <p:cNvPr id="7" name="Datumsplatzhalter 6">
            <a:extLst>
              <a:ext uri="{FF2B5EF4-FFF2-40B4-BE49-F238E27FC236}">
                <a16:creationId xmlns:a16="http://schemas.microsoft.com/office/drawing/2014/main" id="{124A6A03-5D2E-417E-9A62-737D1DBC92ED}"/>
              </a:ext>
              <a:ext uri="{C183D7F6-B498-43B3-948B-1728B52AA6E4}">
                <adec:decorative xmlns:adec="http://schemas.microsoft.com/office/drawing/2017/decorative" val="1"/>
              </a:ext>
            </a:extLst>
          </p:cNvPr>
          <p:cNvSpPr>
            <a:spLocks noGrp="1"/>
          </p:cNvSpPr>
          <p:nvPr>
            <p:ph type="dt" sz="half" idx="14"/>
          </p:nvPr>
        </p:nvSpPr>
        <p:spPr>
          <a:xfrm>
            <a:off x="6492240" y="4873752"/>
            <a:ext cx="1737360" cy="146304"/>
          </a:xfrm>
        </p:spPr>
        <p:txBody>
          <a:bodyPr/>
          <a:lstStyle/>
          <a:p>
            <a:pPr algn="r"/>
            <a:r>
              <a:rPr lang="de-DE"/>
              <a:t>9 September 2026</a:t>
            </a:r>
            <a:endParaRPr lang="en-US" dirty="0"/>
          </a:p>
        </p:txBody>
      </p:sp>
      <p:sp>
        <p:nvSpPr>
          <p:cNvPr id="8" name="Fußzeilenplatzhalter 7">
            <a:extLst>
              <a:ext uri="{FF2B5EF4-FFF2-40B4-BE49-F238E27FC236}">
                <a16:creationId xmlns:a16="http://schemas.microsoft.com/office/drawing/2014/main" id="{90427F68-7D65-4111-9D28-F407D044A73B}"/>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UAV remaining useful life estimation</a:t>
            </a:r>
            <a:endParaRPr lang="en-US" dirty="0"/>
          </a:p>
        </p:txBody>
      </p:sp>
      <p:sp>
        <p:nvSpPr>
          <p:cNvPr id="10" name="Foliennummernplatzhalter 9">
            <a:extLst>
              <a:ext uri="{FF2B5EF4-FFF2-40B4-BE49-F238E27FC236}">
                <a16:creationId xmlns:a16="http://schemas.microsoft.com/office/drawing/2014/main" id="{BC2B8577-8AB8-42B5-8BA8-1751A412246A}"/>
              </a:ext>
              <a:ext uri="{C183D7F6-B498-43B3-948B-1728B52AA6E4}">
                <adec:decorative xmlns:adec="http://schemas.microsoft.com/office/drawing/2017/decorative" val="1"/>
              </a:ext>
            </a:extLst>
          </p:cNvPr>
          <p:cNvSpPr>
            <a:spLocks noGrp="1"/>
          </p:cNvSpPr>
          <p:nvPr>
            <p:ph type="sldNum" sz="quarter" idx="16"/>
          </p:nvPr>
        </p:nvSpPr>
        <p:spPr/>
        <p:txBody>
          <a:bodyPr/>
          <a:lstStyle/>
          <a:p>
            <a:fld id="{9E82CC3C-1DC0-4FDA-9590-6CC506AB67F8}" type="slidenum">
              <a:rPr lang="en-US" smtClean="0"/>
              <a:pPr/>
              <a:t>‹Nr.›</a:t>
            </a:fld>
            <a:endParaRPr lang="en-US" dirty="0"/>
          </a:p>
        </p:txBody>
      </p:sp>
      <p:pic>
        <p:nvPicPr>
          <p:cNvPr id="11" name="Picture 10" descr="pe2_target_scenario_2x2_rmse_panel.png"/>
          <p:cNvPicPr>
            <a:picLocks noChangeAspect="1"/>
          </p:cNvPicPr>
          <p:nvPr/>
        </p:nvPicPr>
        <p:blipFill>
          <a:blip r:embed="rId3"/>
          <a:stretch>
            <a:fillRect/>
          </a:stretch>
        </p:blipFill>
        <p:spPr>
          <a:xfrm>
            <a:off x="466344" y="1282671"/>
            <a:ext cx="8247888" cy="2939345"/>
          </a:xfrm>
          <a:prstGeom prst="rect">
            <a:avLst/>
          </a:prstGeom>
        </p:spPr>
      </p:pic>
      <p:sp>
        <p:nvSpPr>
          <p:cNvPr id="12" name="TextBox 11"/>
          <p:cNvSpPr txBox="1"/>
          <p:nvPr/>
        </p:nvSpPr>
        <p:spPr>
          <a:xfrm>
            <a:off x="466344" y="4572000"/>
            <a:ext cx="8247888" cy="164592"/>
          </a:xfrm>
          <a:prstGeom prst="rect">
            <a:avLst/>
          </a:prstGeom>
          <a:noFill/>
        </p:spPr>
        <p:txBody>
          <a:bodyPr wrap="square">
            <a:spAutoFit/>
          </a:bodyPr>
          <a:lstStyle/>
          <a:p>
            <a:pPr algn="l">
              <a:spcAft>
                <a:spcPts val="400"/>
              </a:spcAft>
            </a:pPr>
            <a:r>
              <a:rPr sz="900" b="0">
                <a:solidFill>
                  <a:srgbClr val="9F9998"/>
                </a:solidFill>
                <a:latin typeface="Arial"/>
              </a:rPr>
              <a:t>Figure: lower panel of the generated PE_2 figure · experiments/PE_2/runs/run_1 · claims C87-C94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a:spcAft>
                <a:spcPts val="400"/>
              </a:spcAft>
            </a:pPr>
            <a:r>
              <a:rPr sz="1800" b="1">
                <a:solidFill>
                  <a:srgbClr val="3E444C"/>
                </a:solidFill>
                <a:latin typeface="Arial"/>
              </a:rPr>
              <a:t>Decision 2: pruned features and a calibrated tree blend</a:t>
            </a:r>
          </a:p>
        </p:txBody>
      </p:sp>
      <p:sp>
        <p:nvSpPr>
          <p:cNvPr id="3" name="Text Placeholder 2"/>
          <p:cNvSpPr>
            <a:spLocks noGrp="1"/>
          </p:cNvSpPr>
          <p:nvPr>
            <p:ph type="body" idx="13" sz="quarter"/>
          </p:nvPr>
        </p:nvSpPr>
        <p:spPr/>
        <p:txBody>
          <a:bodyPr wrap="square"/>
          <a:lstStyle/>
          <a:p>
            <a:pPr algn="l">
              <a:spcAft>
                <a:spcPts val="400"/>
              </a:spcAft>
            </a:pPr>
            <a:r>
              <a:rPr sz="1400" b="0">
                <a:solidFill>
                  <a:srgbClr val="9F9998"/>
                </a:solidFill>
                <a:latin typeface="Arial"/>
              </a:rPr>
              <a:t>Locked architecture comparison, architecture study run 5, five held-out UAV folds. Public: +0.02012</a:t>
            </a:r>
          </a:p>
        </p:txBody>
      </p:sp>
      <p:sp>
        <p:nvSpPr>
          <p:cNvPr id="7" name="Datumsplatzhalter 6">
            <a:extLst>
              <a:ext uri="{FF2B5EF4-FFF2-40B4-BE49-F238E27FC236}">
                <a16:creationId xmlns:a16="http://schemas.microsoft.com/office/drawing/2014/main" id="{124A6A03-5D2E-417E-9A62-737D1DBC92ED}"/>
              </a:ext>
              <a:ext uri="{C183D7F6-B498-43B3-948B-1728B52AA6E4}">
                <adec:decorative xmlns:adec="http://schemas.microsoft.com/office/drawing/2017/decorative" val="1"/>
              </a:ext>
            </a:extLst>
          </p:cNvPr>
          <p:cNvSpPr>
            <a:spLocks noGrp="1"/>
          </p:cNvSpPr>
          <p:nvPr>
            <p:ph type="dt" sz="half" idx="14"/>
          </p:nvPr>
        </p:nvSpPr>
        <p:spPr>
          <a:xfrm>
            <a:off x="6492240" y="4873752"/>
            <a:ext cx="1737360" cy="146304"/>
          </a:xfrm>
        </p:spPr>
        <p:txBody>
          <a:bodyPr/>
          <a:lstStyle/>
          <a:p>
            <a:pPr algn="r"/>
            <a:r>
              <a:rPr lang="de-DE"/>
              <a:t>9 September 2026</a:t>
            </a:r>
            <a:endParaRPr lang="en-US" dirty="0"/>
          </a:p>
        </p:txBody>
      </p:sp>
      <p:sp>
        <p:nvSpPr>
          <p:cNvPr id="8" name="Fußzeilenplatzhalter 7">
            <a:extLst>
              <a:ext uri="{FF2B5EF4-FFF2-40B4-BE49-F238E27FC236}">
                <a16:creationId xmlns:a16="http://schemas.microsoft.com/office/drawing/2014/main" id="{90427F68-7D65-4111-9D28-F407D044A73B}"/>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UAV remaining useful life estimation</a:t>
            </a:r>
            <a:endParaRPr lang="en-US" dirty="0"/>
          </a:p>
        </p:txBody>
      </p:sp>
      <p:sp>
        <p:nvSpPr>
          <p:cNvPr id="10" name="Foliennummernplatzhalter 9">
            <a:extLst>
              <a:ext uri="{FF2B5EF4-FFF2-40B4-BE49-F238E27FC236}">
                <a16:creationId xmlns:a16="http://schemas.microsoft.com/office/drawing/2014/main" id="{BC2B8577-8AB8-42B5-8BA8-1751A412246A}"/>
              </a:ext>
              <a:ext uri="{C183D7F6-B498-43B3-948B-1728B52AA6E4}">
                <adec:decorative xmlns:adec="http://schemas.microsoft.com/office/drawing/2017/decorative" val="1"/>
              </a:ext>
            </a:extLst>
          </p:cNvPr>
          <p:cNvSpPr>
            <a:spLocks noGrp="1"/>
          </p:cNvSpPr>
          <p:nvPr>
            <p:ph type="sldNum" sz="quarter" idx="16"/>
          </p:nvPr>
        </p:nvSpPr>
        <p:spPr/>
        <p:txBody>
          <a:bodyPr/>
          <a:lstStyle/>
          <a:p>
            <a:fld id="{9E82CC3C-1DC0-4FDA-9590-6CC506AB67F8}" type="slidenum">
              <a:rPr lang="en-US" smtClean="0"/>
              <a:pPr/>
              <a:t>‹Nr.›</a:t>
            </a:fld>
            <a:endParaRPr lang="en-US" dirty="0"/>
          </a:p>
        </p:txBody>
      </p:sp>
      <p:pic>
        <p:nvPicPr>
          <p:cNvPr id="11" name="Picture 10" descr="r2_comparison.png"/>
          <p:cNvPicPr>
            <a:picLocks noChangeAspect="1"/>
          </p:cNvPicPr>
          <p:nvPr/>
        </p:nvPicPr>
        <p:blipFill>
          <a:blip r:embed="rId3"/>
          <a:stretch>
            <a:fillRect/>
          </a:stretch>
        </p:blipFill>
        <p:spPr>
          <a:xfrm>
            <a:off x="1632018" y="987552"/>
            <a:ext cx="5916539" cy="3529584"/>
          </a:xfrm>
          <a:prstGeom prst="rect">
            <a:avLst/>
          </a:prstGeom>
        </p:spPr>
      </p:pic>
      <p:sp>
        <p:nvSpPr>
          <p:cNvPr id="12" name="TextBox 11"/>
          <p:cNvSpPr txBox="1"/>
          <p:nvPr/>
        </p:nvSpPr>
        <p:spPr>
          <a:xfrm>
            <a:off x="466344" y="4572000"/>
            <a:ext cx="8247888" cy="164592"/>
          </a:xfrm>
          <a:prstGeom prst="rect">
            <a:avLst/>
          </a:prstGeom>
          <a:noFill/>
        </p:spPr>
        <p:txBody>
          <a:bodyPr wrap="square">
            <a:spAutoFit/>
          </a:bodyPr>
          <a:lstStyle/>
          <a:p>
            <a:pPr algn="l">
              <a:spcAft>
                <a:spcPts val="400"/>
              </a:spcAft>
            </a:pPr>
            <a:r>
              <a:rPr sz="900" b="0">
                <a:solidFill>
                  <a:srgbClr val="9F9998"/>
                </a:solidFill>
                <a:latin typeface="Arial"/>
              </a:rPr>
              <a:t>Figure: repository figure, unchanged · 2_model_architecture_study/runs/run_5 · claims C95-C103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a:spcAft>
                <a:spcPts val="400"/>
              </a:spcAft>
            </a:pPr>
            <a:r>
              <a:rPr sz="1800" b="1">
                <a:solidFill>
                  <a:srgbClr val="3E444C"/>
                </a:solidFill>
                <a:latin typeface="Arial"/>
              </a:rPr>
              <a:t>Decision 3: conditional conservative calibration</a:t>
            </a:r>
          </a:p>
        </p:txBody>
      </p:sp>
      <p:sp>
        <p:nvSpPr>
          <p:cNvPr id="3" name="Text Placeholder 2"/>
          <p:cNvSpPr>
            <a:spLocks noGrp="1"/>
          </p:cNvSpPr>
          <p:nvPr>
            <p:ph type="body" idx="13" sz="quarter"/>
          </p:nvPr>
        </p:nvSpPr>
        <p:spPr/>
        <p:txBody>
          <a:bodyPr wrap="square"/>
          <a:lstStyle/>
          <a:p>
            <a:pPr algn="l">
              <a:spcAft>
                <a:spcPts val="400"/>
              </a:spcAft>
            </a:pPr>
            <a:r>
              <a:rPr sz="1400" b="0">
                <a:solidFill>
                  <a:srgbClr val="9F9998"/>
                </a:solidFill>
                <a:latin typeface="Arial"/>
              </a:rPr>
              <a:t>PE_4: a quantile shift applied only where the model is likely to overpredict. Public: +0.00216</a:t>
            </a:r>
          </a:p>
        </p:txBody>
      </p:sp>
      <p:sp>
        <p:nvSpPr>
          <p:cNvPr id="7" name="Datumsplatzhalter 6">
            <a:extLst>
              <a:ext uri="{FF2B5EF4-FFF2-40B4-BE49-F238E27FC236}">
                <a16:creationId xmlns:a16="http://schemas.microsoft.com/office/drawing/2014/main" id="{124A6A03-5D2E-417E-9A62-737D1DBC92ED}"/>
              </a:ext>
              <a:ext uri="{C183D7F6-B498-43B3-948B-1728B52AA6E4}">
                <adec:decorative xmlns:adec="http://schemas.microsoft.com/office/drawing/2017/decorative" val="1"/>
              </a:ext>
            </a:extLst>
          </p:cNvPr>
          <p:cNvSpPr>
            <a:spLocks noGrp="1"/>
          </p:cNvSpPr>
          <p:nvPr>
            <p:ph type="dt" sz="half" idx="14"/>
          </p:nvPr>
        </p:nvSpPr>
        <p:spPr>
          <a:xfrm>
            <a:off x="6492240" y="4873752"/>
            <a:ext cx="1737360" cy="146304"/>
          </a:xfrm>
        </p:spPr>
        <p:txBody>
          <a:bodyPr/>
          <a:lstStyle/>
          <a:p>
            <a:pPr algn="r"/>
            <a:r>
              <a:rPr lang="de-DE"/>
              <a:t>9 September 2026</a:t>
            </a:r>
            <a:endParaRPr lang="en-US" dirty="0"/>
          </a:p>
        </p:txBody>
      </p:sp>
      <p:sp>
        <p:nvSpPr>
          <p:cNvPr id="8" name="Fußzeilenplatzhalter 7">
            <a:extLst>
              <a:ext uri="{FF2B5EF4-FFF2-40B4-BE49-F238E27FC236}">
                <a16:creationId xmlns:a16="http://schemas.microsoft.com/office/drawing/2014/main" id="{90427F68-7D65-4111-9D28-F407D044A73B}"/>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UAV remaining useful life estimation</a:t>
            </a:r>
            <a:endParaRPr lang="en-US" dirty="0"/>
          </a:p>
        </p:txBody>
      </p:sp>
      <p:sp>
        <p:nvSpPr>
          <p:cNvPr id="10" name="Foliennummernplatzhalter 9">
            <a:extLst>
              <a:ext uri="{FF2B5EF4-FFF2-40B4-BE49-F238E27FC236}">
                <a16:creationId xmlns:a16="http://schemas.microsoft.com/office/drawing/2014/main" id="{BC2B8577-8AB8-42B5-8BA8-1751A412246A}"/>
              </a:ext>
              <a:ext uri="{C183D7F6-B498-43B3-948B-1728B52AA6E4}">
                <adec:decorative xmlns:adec="http://schemas.microsoft.com/office/drawing/2017/decorative" val="1"/>
              </a:ext>
            </a:extLst>
          </p:cNvPr>
          <p:cNvSpPr>
            <a:spLocks noGrp="1"/>
          </p:cNvSpPr>
          <p:nvPr>
            <p:ph type="sldNum" sz="quarter" idx="16"/>
          </p:nvPr>
        </p:nvSpPr>
        <p:spPr/>
        <p:txBody>
          <a:bodyPr/>
          <a:lstStyle/>
          <a:p>
            <a:fld id="{9E82CC3C-1DC0-4FDA-9590-6CC506AB67F8}" type="slidenum">
              <a:rPr lang="en-US" smtClean="0"/>
              <a:pPr/>
              <a:t>‹Nr.›</a:t>
            </a:fld>
            <a:endParaRPr lang="en-US" dirty="0"/>
          </a:p>
        </p:txBody>
      </p:sp>
      <p:pic>
        <p:nvPicPr>
          <p:cNvPr id="11" name="Picture 10" descr="calibration_tradeoff.png"/>
          <p:cNvPicPr>
            <a:picLocks noChangeAspect="1"/>
          </p:cNvPicPr>
          <p:nvPr/>
        </p:nvPicPr>
        <p:blipFill>
          <a:blip r:embed="rId3"/>
          <a:stretch>
            <a:fillRect/>
          </a:stretch>
        </p:blipFill>
        <p:spPr>
          <a:xfrm>
            <a:off x="1943100" y="987552"/>
            <a:ext cx="5294376" cy="3529584"/>
          </a:xfrm>
          <a:prstGeom prst="rect">
            <a:avLst/>
          </a:prstGeom>
        </p:spPr>
      </p:pic>
      <p:sp>
        <p:nvSpPr>
          <p:cNvPr id="12" name="TextBox 11"/>
          <p:cNvSpPr txBox="1"/>
          <p:nvPr/>
        </p:nvSpPr>
        <p:spPr>
          <a:xfrm>
            <a:off x="466344" y="4572000"/>
            <a:ext cx="8247888" cy="164592"/>
          </a:xfrm>
          <a:prstGeom prst="rect">
            <a:avLst/>
          </a:prstGeom>
          <a:noFill/>
        </p:spPr>
        <p:txBody>
          <a:bodyPr wrap="square">
            <a:spAutoFit/>
          </a:bodyPr>
          <a:lstStyle/>
          <a:p>
            <a:pPr algn="l">
              <a:spcAft>
                <a:spcPts val="400"/>
              </a:spcAft>
            </a:pPr>
            <a:r>
              <a:rPr sz="900" b="0">
                <a:solidFill>
                  <a:srgbClr val="9F9998"/>
                </a:solidFill>
                <a:latin typeface="Arial"/>
              </a:rPr>
              <a:t>Figure: repository figure, unchanged · experiments/PE_4/runs/run_1 · claims C104-C108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a:spcAft>
                <a:spcPts val="400"/>
              </a:spcAft>
            </a:pPr>
            <a:r>
              <a:rPr sz="1800" b="1">
                <a:solidFill>
                  <a:srgbClr val="3E444C"/>
                </a:solidFill>
                <a:latin typeface="Arial"/>
              </a:rPr>
              <a:t>Decision 4: a cross-fitted residual correction</a:t>
            </a:r>
          </a:p>
        </p:txBody>
      </p:sp>
      <p:sp>
        <p:nvSpPr>
          <p:cNvPr id="3" name="Text Placeholder 2"/>
          <p:cNvSpPr>
            <a:spLocks noGrp="1"/>
          </p:cNvSpPr>
          <p:nvPr>
            <p:ph type="body" idx="13" sz="quarter"/>
          </p:nvPr>
        </p:nvSpPr>
        <p:spPr/>
        <p:txBody>
          <a:bodyPr wrap="square"/>
          <a:lstStyle/>
          <a:p>
            <a:pPr algn="l">
              <a:spcAft>
                <a:spcPts val="400"/>
              </a:spcAft>
            </a:pPr>
            <a:r>
              <a:rPr sz="1400" b="0">
                <a:solidFill>
                  <a:srgbClr val="9F9998"/>
                </a:solidFill>
                <a:latin typeface="Arial"/>
              </a:rPr>
              <a:t>PE_11: a small model that predicts the ensemble's own error from its disagreement. Public: +0.00911</a:t>
            </a:r>
          </a:p>
        </p:txBody>
      </p:sp>
      <p:sp>
        <p:nvSpPr>
          <p:cNvPr id="7" name="Datumsplatzhalter 6">
            <a:extLst>
              <a:ext uri="{FF2B5EF4-FFF2-40B4-BE49-F238E27FC236}">
                <a16:creationId xmlns:a16="http://schemas.microsoft.com/office/drawing/2014/main" id="{124A6A03-5D2E-417E-9A62-737D1DBC92ED}"/>
              </a:ext>
              <a:ext uri="{C183D7F6-B498-43B3-948B-1728B52AA6E4}">
                <adec:decorative xmlns:adec="http://schemas.microsoft.com/office/drawing/2017/decorative" val="1"/>
              </a:ext>
            </a:extLst>
          </p:cNvPr>
          <p:cNvSpPr>
            <a:spLocks noGrp="1"/>
          </p:cNvSpPr>
          <p:nvPr>
            <p:ph type="dt" sz="half" idx="14"/>
          </p:nvPr>
        </p:nvSpPr>
        <p:spPr>
          <a:xfrm>
            <a:off x="6492240" y="4873752"/>
            <a:ext cx="1737360" cy="146304"/>
          </a:xfrm>
        </p:spPr>
        <p:txBody>
          <a:bodyPr/>
          <a:lstStyle/>
          <a:p>
            <a:pPr algn="r"/>
            <a:r>
              <a:rPr lang="de-DE"/>
              <a:t>9 September 2026</a:t>
            </a:r>
            <a:endParaRPr lang="en-US" dirty="0"/>
          </a:p>
        </p:txBody>
      </p:sp>
      <p:sp>
        <p:nvSpPr>
          <p:cNvPr id="8" name="Fußzeilenplatzhalter 7">
            <a:extLst>
              <a:ext uri="{FF2B5EF4-FFF2-40B4-BE49-F238E27FC236}">
                <a16:creationId xmlns:a16="http://schemas.microsoft.com/office/drawing/2014/main" id="{90427F68-7D65-4111-9D28-F407D044A73B}"/>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UAV remaining useful life estimation</a:t>
            </a:r>
            <a:endParaRPr lang="en-US" dirty="0"/>
          </a:p>
        </p:txBody>
      </p:sp>
      <p:sp>
        <p:nvSpPr>
          <p:cNvPr id="10" name="Foliennummernplatzhalter 9">
            <a:extLst>
              <a:ext uri="{FF2B5EF4-FFF2-40B4-BE49-F238E27FC236}">
                <a16:creationId xmlns:a16="http://schemas.microsoft.com/office/drawing/2014/main" id="{BC2B8577-8AB8-42B5-8BA8-1751A412246A}"/>
              </a:ext>
              <a:ext uri="{C183D7F6-B498-43B3-948B-1728B52AA6E4}">
                <adec:decorative xmlns:adec="http://schemas.microsoft.com/office/drawing/2017/decorative" val="1"/>
              </a:ext>
            </a:extLst>
          </p:cNvPr>
          <p:cNvSpPr>
            <a:spLocks noGrp="1"/>
          </p:cNvSpPr>
          <p:nvPr>
            <p:ph type="sldNum" sz="quarter" idx="16"/>
          </p:nvPr>
        </p:nvSpPr>
        <p:spPr/>
        <p:txBody>
          <a:bodyPr/>
          <a:lstStyle/>
          <a:p>
            <a:fld id="{9E82CC3C-1DC0-4FDA-9590-6CC506AB67F8}" type="slidenum">
              <a:rPr lang="en-US" smtClean="0"/>
              <a:pPr/>
              <a:t>‹Nr.›</a:t>
            </a:fld>
            <a:endParaRPr lang="en-US" dirty="0"/>
          </a:p>
        </p:txBody>
      </p:sp>
      <p:sp>
        <p:nvSpPr>
          <p:cNvPr id="11" name="Rounded Rectangle 10"/>
          <p:cNvSpPr/>
          <p:nvPr/>
        </p:nvSpPr>
        <p:spPr>
          <a:xfrm>
            <a:off x="466344" y="1024128"/>
            <a:ext cx="1609344" cy="365760"/>
          </a:xfrm>
          <a:prstGeom prst="roundRect">
            <a:avLst/>
          </a:prstGeom>
          <a:solidFill>
            <a:srgbClr val="0051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pPr>
            <a:r>
              <a:rPr sz="850" b="0">
                <a:solidFill>
                  <a:srgbClr val="FFFFFF"/>
                </a:solidFill>
                <a:latin typeface="Arial"/>
              </a:rPr>
              <a:t>3 × XGBoost</a:t>
            </a:r>
          </a:p>
          <a:p>
            <a:pPr algn="ctr">
              <a:spcAft>
                <a:spcPts val="0"/>
              </a:spcAft>
            </a:pPr>
            <a:r>
              <a:rPr sz="850" b="0">
                <a:solidFill>
                  <a:srgbClr val="FFFFFF"/>
                </a:solidFill>
                <a:latin typeface="Arial"/>
              </a:rPr>
              <a:t>seeds 13/37/73</a:t>
            </a:r>
          </a:p>
        </p:txBody>
      </p:sp>
      <p:sp>
        <p:nvSpPr>
          <p:cNvPr id="12" name="Rounded Rectangle 11"/>
          <p:cNvSpPr/>
          <p:nvPr/>
        </p:nvSpPr>
        <p:spPr>
          <a:xfrm>
            <a:off x="2167128" y="1024128"/>
            <a:ext cx="1609344" cy="365760"/>
          </a:xfrm>
          <a:prstGeom prst="roundRect">
            <a:avLst/>
          </a:prstGeom>
          <a:solidFill>
            <a:srgbClr val="0051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pPr>
            <a:r>
              <a:rPr sz="850" b="0">
                <a:solidFill>
                  <a:srgbClr val="FFFFFF"/>
                </a:solidFill>
                <a:latin typeface="Arial"/>
              </a:rPr>
              <a:t>3 × ExtraTrees</a:t>
            </a:r>
          </a:p>
          <a:p>
            <a:pPr algn="ctr">
              <a:spcAft>
                <a:spcPts val="0"/>
              </a:spcAft>
            </a:pPr>
            <a:r>
              <a:rPr sz="850" b="0">
                <a:solidFill>
                  <a:srgbClr val="FFFFFF"/>
                </a:solidFill>
                <a:latin typeface="Arial"/>
              </a:rPr>
              <a:t>seeds 13/37/73</a:t>
            </a:r>
          </a:p>
        </p:txBody>
      </p:sp>
      <p:sp>
        <p:nvSpPr>
          <p:cNvPr id="13" name="Rounded Rectangle 12"/>
          <p:cNvSpPr/>
          <p:nvPr/>
        </p:nvSpPr>
        <p:spPr>
          <a:xfrm>
            <a:off x="466344" y="1444752"/>
            <a:ext cx="1609344" cy="256032"/>
          </a:xfrm>
          <a:prstGeom prst="roundRect">
            <a:avLst/>
          </a:prstGeom>
          <a:solidFill>
            <a:srgbClr val="7DC6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pPr>
            <a:r>
              <a:rPr sz="850" b="0">
                <a:solidFill>
                  <a:srgbClr val="3E444C"/>
                </a:solidFill>
                <a:latin typeface="Arial"/>
              </a:rPr>
              <a:t>average</a:t>
            </a:r>
          </a:p>
        </p:txBody>
      </p:sp>
      <p:sp>
        <p:nvSpPr>
          <p:cNvPr id="14" name="Rounded Rectangle 13"/>
          <p:cNvSpPr/>
          <p:nvPr/>
        </p:nvSpPr>
        <p:spPr>
          <a:xfrm>
            <a:off x="2167128" y="1444752"/>
            <a:ext cx="1609344" cy="256032"/>
          </a:xfrm>
          <a:prstGeom prst="roundRect">
            <a:avLst/>
          </a:prstGeom>
          <a:solidFill>
            <a:srgbClr val="7DC6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pPr>
            <a:r>
              <a:rPr sz="850" b="0">
                <a:solidFill>
                  <a:srgbClr val="3E444C"/>
                </a:solidFill>
                <a:latin typeface="Arial"/>
              </a:rPr>
              <a:t>average</a:t>
            </a:r>
          </a:p>
        </p:txBody>
      </p:sp>
      <p:sp>
        <p:nvSpPr>
          <p:cNvPr id="15" name="Rounded Rectangle 14"/>
          <p:cNvSpPr/>
          <p:nvPr/>
        </p:nvSpPr>
        <p:spPr>
          <a:xfrm>
            <a:off x="466344" y="1755648"/>
            <a:ext cx="3310128" cy="329184"/>
          </a:xfrm>
          <a:prstGeom prst="roundRect">
            <a:avLst/>
          </a:prstGeom>
          <a:solidFill>
            <a:srgbClr val="00BE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pPr>
            <a:r>
              <a:rPr sz="850" b="0">
                <a:solidFill>
                  <a:srgbClr val="3E444C"/>
                </a:solidFill>
                <a:latin typeface="Arial"/>
              </a:rPr>
              <a:t>family blend weight selected on</a:t>
            </a:r>
          </a:p>
          <a:p>
            <a:pPr algn="ctr">
              <a:spcAft>
                <a:spcPts val="0"/>
              </a:spcAft>
            </a:pPr>
            <a:r>
              <a:rPr sz="850" b="0">
                <a:solidFill>
                  <a:srgbClr val="3E444C"/>
                </a:solidFill>
                <a:latin typeface="Arial"/>
              </a:rPr>
              <a:t>training-side data only</a:t>
            </a:r>
          </a:p>
        </p:txBody>
      </p:sp>
      <p:sp>
        <p:nvSpPr>
          <p:cNvPr id="16" name="Rounded Rectangle 15"/>
          <p:cNvSpPr/>
          <p:nvPr/>
        </p:nvSpPr>
        <p:spPr>
          <a:xfrm>
            <a:off x="466344" y="2139696"/>
            <a:ext cx="3310128" cy="256032"/>
          </a:xfrm>
          <a:prstGeom prst="roundRect">
            <a:avLst/>
          </a:prstGeom>
          <a:solidFill>
            <a:srgbClr val="9F99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pPr>
            <a:r>
              <a:rPr sz="900" b="1">
                <a:solidFill>
                  <a:srgbClr val="FFFFFF"/>
                </a:solidFill>
                <a:latin typeface="Arial"/>
              </a:rPr>
              <a:t>base prediction</a:t>
            </a:r>
          </a:p>
        </p:txBody>
      </p:sp>
      <p:sp>
        <p:nvSpPr>
          <p:cNvPr id="17" name="Rounded Rectangle 16"/>
          <p:cNvSpPr/>
          <p:nvPr/>
        </p:nvSpPr>
        <p:spPr>
          <a:xfrm>
            <a:off x="466344" y="2450592"/>
            <a:ext cx="3310128" cy="731520"/>
          </a:xfrm>
          <a:prstGeom prst="roundRect">
            <a:avLst/>
          </a:prstGeom>
          <a:solidFill>
            <a:srgbClr val="FFD5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pPr>
            <a:r>
              <a:rPr sz="800" b="0">
                <a:solidFill>
                  <a:srgbClr val="3E444C"/>
                </a:solidFill>
                <a:latin typeface="Arial"/>
              </a:rPr>
              <a:t>residual model  (7 leaves, 100 iterations)</a:t>
            </a:r>
          </a:p>
          <a:p>
            <a:pPr algn="ctr">
              <a:spcAft>
                <a:spcPts val="0"/>
              </a:spcAft>
            </a:pPr>
            <a:r>
              <a:rPr sz="800" b="0">
                <a:solidFill>
                  <a:srgbClr val="3E444C"/>
                </a:solidFill>
                <a:latin typeface="Arial"/>
              </a:rPr>
              <a:t>inputs: base prediction · observed history length · member spread and range · family disagreement · 8 sensor baseline-deltas and slopes</a:t>
            </a:r>
          </a:p>
        </p:txBody>
      </p:sp>
      <p:sp>
        <p:nvSpPr>
          <p:cNvPr id="18" name="Rounded Rectangle 17"/>
          <p:cNvSpPr/>
          <p:nvPr/>
        </p:nvSpPr>
        <p:spPr>
          <a:xfrm>
            <a:off x="466344" y="3236976"/>
            <a:ext cx="3310128" cy="292608"/>
          </a:xfrm>
          <a:prstGeom prst="roundRect">
            <a:avLst/>
          </a:prstGeom>
          <a:solidFill>
            <a:srgbClr val="0051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pPr>
            <a:r>
              <a:rPr sz="900" b="1">
                <a:solidFill>
                  <a:srgbClr val="FFFFFF"/>
                </a:solidFill>
                <a:latin typeface="Arial"/>
              </a:rPr>
              <a:t>final RUL = max(0, base − residual)</a:t>
            </a:r>
          </a:p>
        </p:txBody>
      </p:sp>
      <p:sp>
        <p:nvSpPr>
          <p:cNvPr id="19" name="Rounded Rectangle 18"/>
          <p:cNvSpPr/>
          <p:nvPr/>
        </p:nvSpPr>
        <p:spPr>
          <a:xfrm>
            <a:off x="466344" y="3584448"/>
            <a:ext cx="3310128" cy="676656"/>
          </a:xfrm>
          <a:prstGeom prst="roundRect">
            <a:avLst/>
          </a:prstGeom>
          <a:solidFill>
            <a:srgbClr val="FFFFFF"/>
          </a:solidFill>
          <a:ln w="12700">
            <a:solidFill>
              <a:srgbClr val="9F99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spcAft>
                <a:spcPts val="0"/>
              </a:spcAft>
            </a:pPr>
            <a:r>
              <a:rPr sz="800" b="0">
                <a:solidFill>
                  <a:srgbClr val="3E444C"/>
                </a:solidFill>
                <a:latin typeface="Arial"/>
              </a:rPr>
              <a:t>Out-of-fold calibration predictions come from models that excluded that UAV; calibration endpoints are filtered to training UAVs. The true future RUL is never an input.</a:t>
            </a:r>
          </a:p>
        </p:txBody>
      </p:sp>
      <p:pic>
        <p:nvPicPr>
          <p:cNvPr id="20" name="Picture 19" descr="bagging_residual_comparison.png"/>
          <p:cNvPicPr>
            <a:picLocks noChangeAspect="1"/>
          </p:cNvPicPr>
          <p:nvPr/>
        </p:nvPicPr>
        <p:blipFill>
          <a:blip r:embed="rId3"/>
          <a:stretch>
            <a:fillRect/>
          </a:stretch>
        </p:blipFill>
        <p:spPr>
          <a:xfrm>
            <a:off x="3995928" y="1154940"/>
            <a:ext cx="4718303" cy="2664454"/>
          </a:xfrm>
          <a:prstGeom prst="rect">
            <a:avLst/>
          </a:prstGeom>
        </p:spPr>
      </p:pic>
      <p:sp>
        <p:nvSpPr>
          <p:cNvPr id="21" name="TextBox 20"/>
          <p:cNvSpPr txBox="1"/>
          <p:nvPr/>
        </p:nvSpPr>
        <p:spPr>
          <a:xfrm>
            <a:off x="3995928" y="3931920"/>
            <a:ext cx="4718303" cy="402336"/>
          </a:xfrm>
          <a:prstGeom prst="rect">
            <a:avLst/>
          </a:prstGeom>
          <a:noFill/>
        </p:spPr>
        <p:txBody>
          <a:bodyPr wrap="square">
            <a:spAutoFit/>
          </a:bodyPr>
          <a:lstStyle/>
          <a:p>
            <a:pPr algn="l">
              <a:spcAft>
                <a:spcPts val="400"/>
              </a:spcAft>
            </a:pPr>
            <a:r>
              <a:rPr sz="850" b="0">
                <a:solidFill>
                  <a:srgbClr val="3E444C"/>
                </a:solidFill>
                <a:latin typeface="Arial"/>
              </a:rPr>
              <a:t>11.5080 → 11.0243 cycles, 4.20% better, 5 of 5 fold wins. Refitted by the Phase 3 Run 7 adapter on all 100 training UAVs.</a:t>
            </a:r>
          </a:p>
        </p:txBody>
      </p:sp>
      <p:sp>
        <p:nvSpPr>
          <p:cNvPr id="22" name="TextBox 21"/>
          <p:cNvSpPr txBox="1"/>
          <p:nvPr/>
        </p:nvSpPr>
        <p:spPr>
          <a:xfrm>
            <a:off x="466344" y="4535424"/>
            <a:ext cx="8247888" cy="164592"/>
          </a:xfrm>
          <a:prstGeom prst="rect">
            <a:avLst/>
          </a:prstGeom>
          <a:noFill/>
        </p:spPr>
        <p:txBody>
          <a:bodyPr wrap="square">
            <a:spAutoFit/>
          </a:bodyPr>
          <a:lstStyle/>
          <a:p>
            <a:pPr algn="l">
              <a:spcAft>
                <a:spcPts val="400"/>
              </a:spcAft>
            </a:pPr>
            <a:r>
              <a:rPr sz="900" b="0">
                <a:solidFill>
                  <a:srgbClr val="9F9998"/>
                </a:solidFill>
                <a:latin typeface="Arial"/>
              </a:rPr>
              <a:t>Figure: repository figure, unchanged · experiments/PE_11/runs/run_1 · claims C109-C116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a:spcAft>
                <a:spcPts val="400"/>
              </a:spcAft>
            </a:pPr>
            <a:r>
              <a:rPr sz="1800" b="1">
                <a:solidFill>
                  <a:srgbClr val="3E444C"/>
                </a:solidFill>
                <a:latin typeface="Arial"/>
              </a:rPr>
              <a:t>Why the chain stops at 0.87652</a:t>
            </a:r>
          </a:p>
        </p:txBody>
      </p:sp>
      <p:sp>
        <p:nvSpPr>
          <p:cNvPr id="3" name="Text Placeholder 2"/>
          <p:cNvSpPr>
            <a:spLocks noGrp="1"/>
          </p:cNvSpPr>
          <p:nvPr>
            <p:ph type="body" idx="13" sz="quarter"/>
          </p:nvPr>
        </p:nvSpPr>
        <p:spPr/>
        <p:txBody>
          <a:bodyPr wrap="square"/>
          <a:lstStyle/>
          <a:p>
            <a:pPr algn="l">
              <a:spcAft>
                <a:spcPts val="400"/>
              </a:spcAft>
            </a:pPr>
            <a:r>
              <a:rPr sz="1400" b="0">
                <a:solidFill>
                  <a:srgbClr val="9F9998"/>
                </a:solidFill>
                <a:latin typeface="Arial"/>
              </a:rPr>
              <a:t>Run 7 development out-of-fold predictions, and every candidate evaluated since</a:t>
            </a:r>
          </a:p>
        </p:txBody>
      </p:sp>
      <p:sp>
        <p:nvSpPr>
          <p:cNvPr id="7" name="Datumsplatzhalter 6">
            <a:extLst>
              <a:ext uri="{FF2B5EF4-FFF2-40B4-BE49-F238E27FC236}">
                <a16:creationId xmlns:a16="http://schemas.microsoft.com/office/drawing/2014/main" id="{124A6A03-5D2E-417E-9A62-737D1DBC92ED}"/>
              </a:ext>
              <a:ext uri="{C183D7F6-B498-43B3-948B-1728B52AA6E4}">
                <adec:decorative xmlns:adec="http://schemas.microsoft.com/office/drawing/2017/decorative" val="1"/>
              </a:ext>
            </a:extLst>
          </p:cNvPr>
          <p:cNvSpPr>
            <a:spLocks noGrp="1"/>
          </p:cNvSpPr>
          <p:nvPr>
            <p:ph type="dt" sz="half" idx="14"/>
          </p:nvPr>
        </p:nvSpPr>
        <p:spPr>
          <a:xfrm>
            <a:off x="6492240" y="4873752"/>
            <a:ext cx="1737360" cy="146304"/>
          </a:xfrm>
        </p:spPr>
        <p:txBody>
          <a:bodyPr/>
          <a:lstStyle/>
          <a:p>
            <a:pPr algn="r"/>
            <a:r>
              <a:rPr lang="de-DE"/>
              <a:t>9 September 2026</a:t>
            </a:r>
            <a:endParaRPr lang="en-US" dirty="0"/>
          </a:p>
        </p:txBody>
      </p:sp>
      <p:sp>
        <p:nvSpPr>
          <p:cNvPr id="8" name="Fußzeilenplatzhalter 7">
            <a:extLst>
              <a:ext uri="{FF2B5EF4-FFF2-40B4-BE49-F238E27FC236}">
                <a16:creationId xmlns:a16="http://schemas.microsoft.com/office/drawing/2014/main" id="{90427F68-7D65-4111-9D28-F407D044A73B}"/>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UAV remaining useful life estimation</a:t>
            </a:r>
            <a:endParaRPr lang="en-US" dirty="0"/>
          </a:p>
        </p:txBody>
      </p:sp>
      <p:sp>
        <p:nvSpPr>
          <p:cNvPr id="10" name="Foliennummernplatzhalter 9">
            <a:extLst>
              <a:ext uri="{FF2B5EF4-FFF2-40B4-BE49-F238E27FC236}">
                <a16:creationId xmlns:a16="http://schemas.microsoft.com/office/drawing/2014/main" id="{BC2B8577-8AB8-42B5-8BA8-1751A412246A}"/>
              </a:ext>
              <a:ext uri="{C183D7F6-B498-43B3-948B-1728B52AA6E4}">
                <adec:decorative xmlns:adec="http://schemas.microsoft.com/office/drawing/2017/decorative" val="1"/>
              </a:ext>
            </a:extLst>
          </p:cNvPr>
          <p:cNvSpPr>
            <a:spLocks noGrp="1"/>
          </p:cNvSpPr>
          <p:nvPr>
            <p:ph type="sldNum" sz="quarter" idx="16"/>
          </p:nvPr>
        </p:nvSpPr>
        <p:spPr/>
        <p:txBody>
          <a:bodyPr/>
          <a:lstStyle/>
          <a:p>
            <a:fld id="{9E82CC3C-1DC0-4FDA-9590-6CC506AB67F8}" type="slidenum">
              <a:rPr lang="en-US" smtClean="0"/>
              <a:pPr/>
              <a:t>‹Nr.›</a:t>
            </a:fld>
            <a:endParaRPr lang="en-US" dirty="0"/>
          </a:p>
        </p:txBody>
      </p:sp>
      <p:pic>
        <p:nvPicPr>
          <p:cNvPr id="11" name="Picture 10" descr="development_prediction_scatter.png"/>
          <p:cNvPicPr>
            <a:picLocks noChangeAspect="1"/>
          </p:cNvPicPr>
          <p:nvPr/>
        </p:nvPicPr>
        <p:blipFill>
          <a:blip r:embed="rId3"/>
          <a:stretch>
            <a:fillRect/>
          </a:stretch>
        </p:blipFill>
        <p:spPr>
          <a:xfrm>
            <a:off x="466344" y="1611161"/>
            <a:ext cx="4709160" cy="2008044"/>
          </a:xfrm>
          <a:prstGeom prst="rect">
            <a:avLst/>
          </a:prstGeom>
        </p:spPr>
      </p:pic>
      <p:sp>
        <p:nvSpPr>
          <p:cNvPr id="12" name="TextBox 11"/>
          <p:cNvSpPr txBox="1"/>
          <p:nvPr/>
        </p:nvSpPr>
        <p:spPr>
          <a:xfrm>
            <a:off x="466344" y="3710645"/>
            <a:ext cx="4709160" cy="219456"/>
          </a:xfrm>
          <a:prstGeom prst="rect">
            <a:avLst/>
          </a:prstGeom>
          <a:noFill/>
        </p:spPr>
        <p:txBody>
          <a:bodyPr wrap="square">
            <a:spAutoFit/>
          </a:bodyPr>
          <a:lstStyle/>
          <a:p>
            <a:pPr algn="l">
              <a:spcAft>
                <a:spcPts val="400"/>
              </a:spcAft>
            </a:pPr>
            <a:r>
              <a:rPr sz="950" b="1">
                <a:solidFill>
                  <a:srgbClr val="00519E"/>
                </a:solidFill>
                <a:latin typeface="Arial"/>
              </a:rPr>
              <a:t>Run 7 development out-of-fold predictions: the error is systematic, not random</a:t>
            </a:r>
          </a:p>
        </p:txBody>
      </p:sp>
      <p:sp>
        <p:nvSpPr>
          <p:cNvPr id="13" name="TextBox 12"/>
          <p:cNvSpPr txBox="1"/>
          <p:nvPr/>
        </p:nvSpPr>
        <p:spPr>
          <a:xfrm>
            <a:off x="5394960" y="1005840"/>
            <a:ext cx="3319271" cy="201168"/>
          </a:xfrm>
          <a:prstGeom prst="rect">
            <a:avLst/>
          </a:prstGeom>
          <a:noFill/>
        </p:spPr>
        <p:txBody>
          <a:bodyPr wrap="square">
            <a:spAutoFit/>
          </a:bodyPr>
          <a:lstStyle/>
          <a:p>
            <a:pPr algn="l">
              <a:spcAft>
                <a:spcPts val="400"/>
              </a:spcAft>
            </a:pPr>
            <a:r>
              <a:rPr sz="1050" b="1">
                <a:solidFill>
                  <a:srgbClr val="00519E"/>
                </a:solidFill>
                <a:latin typeface="Arial"/>
              </a:rPr>
              <a:t>After Run 7: six candidates, all gated</a:t>
            </a:r>
          </a:p>
        </p:txBody>
      </p:sp>
      <p:graphicFrame>
        <p:nvGraphicFramePr>
          <p:cNvPr id="14" name="Table 13"/>
          <p:cNvGraphicFramePr>
            <a:graphicFrameLocks noGrp="1"/>
          </p:cNvGraphicFramePr>
          <p:nvPr/>
        </p:nvGraphicFramePr>
        <p:xfrm>
          <a:off x="5394960" y="1261872"/>
          <a:ext cx="3273552" cy="1664208"/>
        </p:xfrm>
        <a:graphic>
          <a:graphicData uri="http://schemas.openxmlformats.org/drawingml/2006/table">
            <a:tbl>
              <a:tblPr firstRow="1" bandRow="1">
                <a:tableStyleId>{5C22544A-7EE6-4342-B048-85BDC9FD1C3A}</a:tableStyleId>
              </a:tblPr>
              <a:tblGrid>
                <a:gridCol w="1298448"/>
                <a:gridCol w="758952"/>
                <a:gridCol w="457200"/>
                <a:gridCol w="758952"/>
              </a:tblGrid>
              <a:tr h="237744">
                <a:tc>
                  <a:txBody>
                    <a:bodyPr wrap="square"/>
                    <a:lstStyle/>
                    <a:p>
                      <a:pPr algn="l">
                        <a:spcAft>
                          <a:spcPts val="0"/>
                        </a:spcAft>
                      </a:pPr>
                      <a:r>
                        <a:rPr sz="800" b="1">
                          <a:solidFill>
                            <a:srgbClr val="FFFFFF"/>
                          </a:solidFill>
                          <a:latin typeface="Arial"/>
                        </a:rPr>
                        <a:t>candidate</a:t>
                      </a:r>
                    </a:p>
                  </a:txBody>
                  <a:tcPr anchor="ctr">
                    <a:solidFill>
                      <a:srgbClr val="00519E"/>
                    </a:solidFill>
                  </a:tcPr>
                </a:tc>
                <a:tc>
                  <a:txBody>
                    <a:bodyPr wrap="square"/>
                    <a:lstStyle/>
                    <a:p>
                      <a:pPr algn="l">
                        <a:spcAft>
                          <a:spcPts val="0"/>
                        </a:spcAft>
                      </a:pPr>
                      <a:r>
                        <a:rPr sz="800" b="1">
                          <a:solidFill>
                            <a:srgbClr val="FFFFFF"/>
                          </a:solidFill>
                          <a:latin typeface="Arial"/>
                        </a:rPr>
                        <a:t>mean RMSE</a:t>
                      </a:r>
                    </a:p>
                  </a:txBody>
                  <a:tcPr anchor="ctr">
                    <a:solidFill>
                      <a:srgbClr val="00519E"/>
                    </a:solidFill>
                  </a:tcPr>
                </a:tc>
                <a:tc>
                  <a:txBody>
                    <a:bodyPr wrap="square"/>
                    <a:lstStyle/>
                    <a:p>
                      <a:pPr algn="l">
                        <a:spcAft>
                          <a:spcPts val="0"/>
                        </a:spcAft>
                      </a:pPr>
                      <a:r>
                        <a:rPr sz="800" b="1">
                          <a:solidFill>
                            <a:srgbClr val="FFFFFF"/>
                          </a:solidFill>
                          <a:latin typeface="Arial"/>
                        </a:rPr>
                        <a:t>wins</a:t>
                      </a:r>
                    </a:p>
                  </a:txBody>
                  <a:tcPr anchor="ctr">
                    <a:solidFill>
                      <a:srgbClr val="00519E"/>
                    </a:solidFill>
                  </a:tcPr>
                </a:tc>
                <a:tc>
                  <a:txBody>
                    <a:bodyPr wrap="square"/>
                    <a:lstStyle/>
                    <a:p>
                      <a:pPr algn="l">
                        <a:spcAft>
                          <a:spcPts val="0"/>
                        </a:spcAft>
                      </a:pPr>
                      <a:r>
                        <a:rPr sz="800" b="1">
                          <a:solidFill>
                            <a:srgbClr val="FFFFFF"/>
                          </a:solidFill>
                          <a:latin typeface="Arial"/>
                        </a:rPr>
                        <a:t>outcome</a:t>
                      </a:r>
                    </a:p>
                  </a:txBody>
                  <a:tcPr anchor="ctr">
                    <a:solidFill>
                      <a:srgbClr val="00519E"/>
                    </a:solidFill>
                  </a:tcPr>
                </a:tc>
              </a:tr>
              <a:tr h="237744">
                <a:tc>
                  <a:txBody>
                    <a:bodyPr wrap="square"/>
                    <a:lstStyle/>
                    <a:p>
                      <a:pPr algn="l">
                        <a:spcAft>
                          <a:spcPts val="0"/>
                        </a:spcAft>
                      </a:pPr>
                      <a:r>
                        <a:rPr sz="800" b="0">
                          <a:solidFill>
                            <a:srgbClr val="3E444C"/>
                          </a:solidFill>
                          <a:latin typeface="Arial"/>
                        </a:rPr>
                        <a:t>PE_20  nested refit</a:t>
                      </a:r>
                    </a:p>
                  </a:txBody>
                  <a:tcPr anchor="ctr">
                    <a:solidFill>
                      <a:srgbClr val="ECF4FA"/>
                    </a:solidFill>
                  </a:tcPr>
                </a:tc>
                <a:tc>
                  <a:txBody>
                    <a:bodyPr wrap="square"/>
                    <a:lstStyle/>
                    <a:p>
                      <a:pPr algn="l">
                        <a:spcAft>
                          <a:spcPts val="0"/>
                        </a:spcAft>
                      </a:pPr>
                      <a:r>
                        <a:rPr sz="800" b="0">
                          <a:solidFill>
                            <a:srgbClr val="3E444C"/>
                          </a:solidFill>
                          <a:latin typeface="Arial"/>
                        </a:rPr>
                        <a:t>+1.56% worse</a:t>
                      </a:r>
                    </a:p>
                  </a:txBody>
                  <a:tcPr anchor="ctr">
                    <a:solidFill>
                      <a:srgbClr val="ECF4FA"/>
                    </a:solidFill>
                  </a:tcPr>
                </a:tc>
                <a:tc>
                  <a:txBody>
                    <a:bodyPr wrap="square"/>
                    <a:lstStyle/>
                    <a:p>
                      <a:pPr algn="l">
                        <a:spcAft>
                          <a:spcPts val="0"/>
                        </a:spcAft>
                      </a:pPr>
                      <a:r>
                        <a:rPr sz="800" b="0">
                          <a:solidFill>
                            <a:srgbClr val="3E444C"/>
                          </a:solidFill>
                          <a:latin typeface="Arial"/>
                        </a:rPr>
                        <a:t>2/5</a:t>
                      </a:r>
                    </a:p>
                  </a:txBody>
                  <a:tcPr anchor="ctr">
                    <a:solidFill>
                      <a:srgbClr val="ECF4FA"/>
                    </a:solidFill>
                  </a:tcPr>
                </a:tc>
                <a:tc>
                  <a:txBody>
                    <a:bodyPr wrap="square"/>
                    <a:lstStyle/>
                    <a:p>
                      <a:pPr algn="l">
                        <a:spcAft>
                          <a:spcPts val="0"/>
                        </a:spcAft>
                      </a:pPr>
                      <a:r>
                        <a:rPr sz="800" b="0">
                          <a:solidFill>
                            <a:srgbClr val="3E444C"/>
                          </a:solidFill>
                          <a:latin typeface="Arial"/>
                        </a:rPr>
                        <a:t>rejected</a:t>
                      </a:r>
                    </a:p>
                  </a:txBody>
                  <a:tcPr anchor="ctr">
                    <a:solidFill>
                      <a:srgbClr val="ECF4FA"/>
                    </a:solidFill>
                  </a:tcPr>
                </a:tc>
              </a:tr>
              <a:tr h="237744">
                <a:tc>
                  <a:txBody>
                    <a:bodyPr wrap="square"/>
                    <a:lstStyle/>
                    <a:p>
                      <a:pPr algn="l">
                        <a:spcAft>
                          <a:spcPts val="0"/>
                        </a:spcAft>
                      </a:pPr>
                      <a:r>
                        <a:rPr sz="800" b="0">
                          <a:solidFill>
                            <a:srgbClr val="3E444C"/>
                          </a:solidFill>
                          <a:latin typeface="Arial"/>
                        </a:rPr>
                        <a:t>PE_18  TabPFN blend</a:t>
                      </a:r>
                    </a:p>
                  </a:txBody>
                  <a:tcPr anchor="ctr">
                    <a:solidFill>
                      <a:srgbClr val="FFFFFF"/>
                    </a:solidFill>
                  </a:tcPr>
                </a:tc>
                <a:tc>
                  <a:txBody>
                    <a:bodyPr wrap="square"/>
                    <a:lstStyle/>
                    <a:p>
                      <a:pPr algn="l">
                        <a:spcAft>
                          <a:spcPts val="0"/>
                        </a:spcAft>
                      </a:pPr>
                      <a:r>
                        <a:rPr sz="800" b="0">
                          <a:solidFill>
                            <a:srgbClr val="3E444C"/>
                          </a:solidFill>
                          <a:latin typeface="Arial"/>
                        </a:rPr>
                        <a:t>−1.30%</a:t>
                      </a:r>
                    </a:p>
                  </a:txBody>
                  <a:tcPr anchor="ctr">
                    <a:solidFill>
                      <a:srgbClr val="FFFFFF"/>
                    </a:solidFill>
                  </a:tcPr>
                </a:tc>
                <a:tc>
                  <a:txBody>
                    <a:bodyPr wrap="square"/>
                    <a:lstStyle/>
                    <a:p>
                      <a:pPr algn="l">
                        <a:spcAft>
                          <a:spcPts val="0"/>
                        </a:spcAft>
                      </a:pPr>
                      <a:r>
                        <a:rPr sz="800" b="0">
                          <a:solidFill>
                            <a:srgbClr val="3E444C"/>
                          </a:solidFill>
                          <a:latin typeface="Arial"/>
                        </a:rPr>
                        <a:t>4/5</a:t>
                      </a:r>
                    </a:p>
                  </a:txBody>
                  <a:tcPr anchor="ctr">
                    <a:solidFill>
                      <a:srgbClr val="FFFFFF"/>
                    </a:solidFill>
                  </a:tcPr>
                </a:tc>
                <a:tc>
                  <a:txBody>
                    <a:bodyPr wrap="square"/>
                    <a:lstStyle/>
                    <a:p>
                      <a:pPr algn="l">
                        <a:spcAft>
                          <a:spcPts val="0"/>
                        </a:spcAft>
                      </a:pPr>
                      <a:r>
                        <a:rPr sz="800" b="0">
                          <a:solidFill>
                            <a:srgbClr val="3E444C"/>
                          </a:solidFill>
                          <a:latin typeface="Arial"/>
                        </a:rPr>
                        <a:t>to confirm</a:t>
                      </a:r>
                    </a:p>
                  </a:txBody>
                  <a:tcPr anchor="ctr">
                    <a:solidFill>
                      <a:srgbClr val="FFFFFF"/>
                    </a:solidFill>
                  </a:tcPr>
                </a:tc>
              </a:tr>
              <a:tr h="237744">
                <a:tc>
                  <a:txBody>
                    <a:bodyPr wrap="square"/>
                    <a:lstStyle/>
                    <a:p>
                      <a:pPr algn="l">
                        <a:spcAft>
                          <a:spcPts val="0"/>
                        </a:spcAft>
                      </a:pPr>
                      <a:r>
                        <a:rPr sz="800" b="0">
                          <a:solidFill>
                            <a:srgbClr val="3E444C"/>
                          </a:solidFill>
                          <a:latin typeface="Arial"/>
                        </a:rPr>
                        <a:t>PE_21  two new seeds</a:t>
                      </a:r>
                    </a:p>
                  </a:txBody>
                  <a:tcPr anchor="ctr">
                    <a:solidFill>
                      <a:srgbClr val="ECF4FA"/>
                    </a:solidFill>
                  </a:tcPr>
                </a:tc>
                <a:tc>
                  <a:txBody>
                    <a:bodyPr wrap="square"/>
                    <a:lstStyle/>
                    <a:p>
                      <a:pPr algn="l">
                        <a:spcAft>
                          <a:spcPts val="0"/>
                        </a:spcAft>
                      </a:pPr>
                      <a:r>
                        <a:rPr sz="800" b="0">
                          <a:solidFill>
                            <a:srgbClr val="3E444C"/>
                          </a:solidFill>
                          <a:latin typeface="Arial"/>
                        </a:rPr>
                        <a:t>−1.12%</a:t>
                      </a:r>
                    </a:p>
                  </a:txBody>
                  <a:tcPr anchor="ctr">
                    <a:solidFill>
                      <a:srgbClr val="ECF4FA"/>
                    </a:solidFill>
                  </a:tcPr>
                </a:tc>
                <a:tc>
                  <a:txBody>
                    <a:bodyPr wrap="square"/>
                    <a:lstStyle/>
                    <a:p>
                      <a:pPr algn="l">
                        <a:spcAft>
                          <a:spcPts val="0"/>
                        </a:spcAft>
                      </a:pPr>
                      <a:r>
                        <a:rPr sz="800" b="0">
                          <a:solidFill>
                            <a:srgbClr val="3E444C"/>
                          </a:solidFill>
                          <a:latin typeface="Arial"/>
                        </a:rPr>
                        <a:t>6/10</a:t>
                      </a:r>
                    </a:p>
                  </a:txBody>
                  <a:tcPr anchor="ctr">
                    <a:solidFill>
                      <a:srgbClr val="ECF4FA"/>
                    </a:solidFill>
                  </a:tcPr>
                </a:tc>
                <a:tc>
                  <a:txBody>
                    <a:bodyPr wrap="square"/>
                    <a:lstStyle/>
                    <a:p>
                      <a:pPr algn="l">
                        <a:spcAft>
                          <a:spcPts val="0"/>
                        </a:spcAft>
                      </a:pPr>
                      <a:r>
                        <a:rPr sz="800" b="0">
                          <a:solidFill>
                            <a:srgbClr val="3E444C"/>
                          </a:solidFill>
                          <a:latin typeface="Arial"/>
                        </a:rPr>
                        <a:t>rejected</a:t>
                      </a:r>
                    </a:p>
                  </a:txBody>
                  <a:tcPr anchor="ctr">
                    <a:solidFill>
                      <a:srgbClr val="ECF4FA"/>
                    </a:solidFill>
                  </a:tcPr>
                </a:tc>
              </a:tr>
              <a:tr h="237744">
                <a:tc>
                  <a:txBody>
                    <a:bodyPr wrap="square"/>
                    <a:lstStyle/>
                    <a:p>
                      <a:pPr algn="l">
                        <a:spcAft>
                          <a:spcPts val="0"/>
                        </a:spcAft>
                      </a:pPr>
                      <a:r>
                        <a:rPr sz="800" b="0">
                          <a:solidFill>
                            <a:srgbClr val="3E444C"/>
                          </a:solidFill>
                          <a:latin typeface="Arial"/>
                        </a:rPr>
                        <a:t>PE_24  regime gate</a:t>
                      </a:r>
                    </a:p>
                  </a:txBody>
                  <a:tcPr anchor="ctr">
                    <a:solidFill>
                      <a:srgbClr val="FFFFFF"/>
                    </a:solidFill>
                  </a:tcPr>
                </a:tc>
                <a:tc>
                  <a:txBody>
                    <a:bodyPr wrap="square"/>
                    <a:lstStyle/>
                    <a:p>
                      <a:pPr algn="l">
                        <a:spcAft>
                          <a:spcPts val="0"/>
                        </a:spcAft>
                      </a:pPr>
                      <a:r>
                        <a:rPr sz="800" b="0">
                          <a:solidFill>
                            <a:srgbClr val="3E444C"/>
                          </a:solidFill>
                          <a:latin typeface="Arial"/>
                        </a:rPr>
                        <a:t>−1.90%</a:t>
                      </a:r>
                    </a:p>
                  </a:txBody>
                  <a:tcPr anchor="ctr">
                    <a:solidFill>
                      <a:srgbClr val="FFFFFF"/>
                    </a:solidFill>
                  </a:tcPr>
                </a:tc>
                <a:tc>
                  <a:txBody>
                    <a:bodyPr wrap="square"/>
                    <a:lstStyle/>
                    <a:p>
                      <a:pPr algn="l">
                        <a:spcAft>
                          <a:spcPts val="0"/>
                        </a:spcAft>
                      </a:pPr>
                      <a:r>
                        <a:rPr sz="800" b="0">
                          <a:solidFill>
                            <a:srgbClr val="3E444C"/>
                          </a:solidFill>
                          <a:latin typeface="Arial"/>
                        </a:rPr>
                        <a:t>11/15</a:t>
                      </a:r>
                    </a:p>
                  </a:txBody>
                  <a:tcPr anchor="ctr">
                    <a:solidFill>
                      <a:srgbClr val="FFFFFF"/>
                    </a:solidFill>
                  </a:tcPr>
                </a:tc>
                <a:tc>
                  <a:txBody>
                    <a:bodyPr wrap="square"/>
                    <a:lstStyle/>
                    <a:p>
                      <a:pPr algn="l">
                        <a:spcAft>
                          <a:spcPts val="0"/>
                        </a:spcAft>
                      </a:pPr>
                      <a:r>
                        <a:rPr sz="800" b="0">
                          <a:solidFill>
                            <a:srgbClr val="3E444C"/>
                          </a:solidFill>
                          <a:latin typeface="Arial"/>
                        </a:rPr>
                        <a:t>rejected</a:t>
                      </a:r>
                    </a:p>
                  </a:txBody>
                  <a:tcPr anchor="ctr">
                    <a:solidFill>
                      <a:srgbClr val="FFFFFF"/>
                    </a:solidFill>
                  </a:tcPr>
                </a:tc>
              </a:tr>
              <a:tr h="237744">
                <a:tc>
                  <a:txBody>
                    <a:bodyPr wrap="square"/>
                    <a:lstStyle/>
                    <a:p>
                      <a:pPr algn="l">
                        <a:spcAft>
                          <a:spcPts val="0"/>
                        </a:spcAft>
                      </a:pPr>
                      <a:r>
                        <a:rPr sz="800" b="0">
                          <a:solidFill>
                            <a:srgbClr val="3E444C"/>
                          </a:solidFill>
                          <a:latin typeface="Arial"/>
                        </a:rPr>
                        <a:t>PE_26  short history</a:t>
                      </a:r>
                    </a:p>
                  </a:txBody>
                  <a:tcPr anchor="ctr">
                    <a:solidFill>
                      <a:srgbClr val="ECF4FA"/>
                    </a:solidFill>
                  </a:tcPr>
                </a:tc>
                <a:tc>
                  <a:txBody>
                    <a:bodyPr wrap="square"/>
                    <a:lstStyle/>
                    <a:p>
                      <a:pPr algn="l">
                        <a:spcAft>
                          <a:spcPts val="0"/>
                        </a:spcAft>
                      </a:pPr>
                      <a:r>
                        <a:rPr sz="800" b="0">
                          <a:solidFill>
                            <a:srgbClr val="3E444C"/>
                          </a:solidFill>
                          <a:latin typeface="Arial"/>
                        </a:rPr>
                        <a:t>−0.39%</a:t>
                      </a:r>
                    </a:p>
                  </a:txBody>
                  <a:tcPr anchor="ctr">
                    <a:solidFill>
                      <a:srgbClr val="ECF4FA"/>
                    </a:solidFill>
                  </a:tcPr>
                </a:tc>
                <a:tc>
                  <a:txBody>
                    <a:bodyPr wrap="square"/>
                    <a:lstStyle/>
                    <a:p>
                      <a:pPr algn="l">
                        <a:spcAft>
                          <a:spcPts val="0"/>
                        </a:spcAft>
                      </a:pPr>
                      <a:r>
                        <a:rPr sz="800" b="0">
                          <a:solidFill>
                            <a:srgbClr val="3E444C"/>
                          </a:solidFill>
                          <a:latin typeface="Arial"/>
                        </a:rPr>
                        <a:t>6/15</a:t>
                      </a:r>
                    </a:p>
                  </a:txBody>
                  <a:tcPr anchor="ctr">
                    <a:solidFill>
                      <a:srgbClr val="ECF4FA"/>
                    </a:solidFill>
                  </a:tcPr>
                </a:tc>
                <a:tc>
                  <a:txBody>
                    <a:bodyPr wrap="square"/>
                    <a:lstStyle/>
                    <a:p>
                      <a:pPr algn="l">
                        <a:spcAft>
                          <a:spcPts val="0"/>
                        </a:spcAft>
                      </a:pPr>
                      <a:r>
                        <a:rPr sz="800" b="0">
                          <a:solidFill>
                            <a:srgbClr val="3E444C"/>
                          </a:solidFill>
                          <a:latin typeface="Arial"/>
                        </a:rPr>
                        <a:t>rejected</a:t>
                      </a:r>
                    </a:p>
                  </a:txBody>
                  <a:tcPr anchor="ctr">
                    <a:solidFill>
                      <a:srgbClr val="ECF4FA"/>
                    </a:solidFill>
                  </a:tcPr>
                </a:tc>
              </a:tr>
              <a:tr h="237744">
                <a:tc>
                  <a:txBody>
                    <a:bodyPr wrap="square"/>
                    <a:lstStyle/>
                    <a:p>
                      <a:pPr algn="l">
                        <a:spcAft>
                          <a:spcPts val="0"/>
                        </a:spcAft>
                      </a:pPr>
                      <a:r>
                        <a:rPr sz="800" b="0">
                          <a:solidFill>
                            <a:srgbClr val="3E444C"/>
                          </a:solidFill>
                          <a:latin typeface="Arial"/>
                        </a:rPr>
                        <a:t>PE_27  UAV subsets</a:t>
                      </a:r>
                    </a:p>
                  </a:txBody>
                  <a:tcPr anchor="ctr">
                    <a:solidFill>
                      <a:srgbClr val="FFFFFF"/>
                    </a:solidFill>
                  </a:tcPr>
                </a:tc>
                <a:tc>
                  <a:txBody>
                    <a:bodyPr wrap="square"/>
                    <a:lstStyle/>
                    <a:p>
                      <a:pPr algn="l">
                        <a:spcAft>
                          <a:spcPts val="0"/>
                        </a:spcAft>
                      </a:pPr>
                      <a:r>
                        <a:rPr sz="800" b="0">
                          <a:solidFill>
                            <a:srgbClr val="3E444C"/>
                          </a:solidFill>
                          <a:latin typeface="Arial"/>
                        </a:rPr>
                        <a:t>screen only</a:t>
                      </a:r>
                    </a:p>
                  </a:txBody>
                  <a:tcPr anchor="ctr">
                    <a:solidFill>
                      <a:srgbClr val="FFFFFF"/>
                    </a:solidFill>
                  </a:tcPr>
                </a:tc>
                <a:tc>
                  <a:txBody>
                    <a:bodyPr wrap="square"/>
                    <a:lstStyle/>
                    <a:p>
                      <a:pPr algn="l">
                        <a:spcAft>
                          <a:spcPts val="0"/>
                        </a:spcAft>
                      </a:pPr>
                      <a:r>
                        <a:rPr sz="800" b="0">
                          <a:solidFill>
                            <a:srgbClr val="3E444C"/>
                          </a:solidFill>
                          <a:latin typeface="Arial"/>
                        </a:rPr>
                        <a:t>3/5</a:t>
                      </a:r>
                    </a:p>
                  </a:txBody>
                  <a:tcPr anchor="ctr">
                    <a:solidFill>
                      <a:srgbClr val="FFFFFF"/>
                    </a:solidFill>
                  </a:tcPr>
                </a:tc>
                <a:tc>
                  <a:txBody>
                    <a:bodyPr wrap="square"/>
                    <a:lstStyle/>
                    <a:p>
                      <a:pPr algn="l">
                        <a:spcAft>
                          <a:spcPts val="0"/>
                        </a:spcAft>
                      </a:pPr>
                      <a:r>
                        <a:rPr sz="800" b="0">
                          <a:solidFill>
                            <a:srgbClr val="3E444C"/>
                          </a:solidFill>
                          <a:latin typeface="Arial"/>
                        </a:rPr>
                        <a:t>stopped</a:t>
                      </a:r>
                    </a:p>
                  </a:txBody>
                  <a:tcPr anchor="ctr">
                    <a:solidFill>
                      <a:srgbClr val="FFFFFF"/>
                    </a:solidFill>
                  </a:tcPr>
                </a:tc>
              </a:tr>
            </a:tbl>
          </a:graphicData>
        </a:graphic>
      </p:graphicFrame>
      <p:sp>
        <p:nvSpPr>
          <p:cNvPr id="15" name="Rounded Rectangle 14"/>
          <p:cNvSpPr/>
          <p:nvPr/>
        </p:nvSpPr>
        <p:spPr>
          <a:xfrm>
            <a:off x="5394960" y="3108960"/>
            <a:ext cx="3319271" cy="914400"/>
          </a:xfrm>
          <a:prstGeom prst="roundRect">
            <a:avLst/>
          </a:prstGeom>
          <a:solidFill>
            <a:srgbClr val="FFD5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spcAft>
                <a:spcPts val="0"/>
              </a:spcAft>
            </a:pPr>
            <a:r>
              <a:rPr sz="950" b="0">
                <a:solidFill>
                  <a:srgbClr val="3E444C"/>
                </a:solidFill>
                <a:latin typeface="Arial"/>
              </a:rPr>
              <a:t>Every promotion gate is declared before the run. Nothing passed, so nothing was submitted, so the public score is still 0.87652.</a:t>
            </a:r>
          </a:p>
        </p:txBody>
      </p:sp>
      <p:sp>
        <p:nvSpPr>
          <p:cNvPr id="16" name="TextBox 15"/>
          <p:cNvSpPr txBox="1"/>
          <p:nvPr/>
        </p:nvSpPr>
        <p:spPr>
          <a:xfrm>
            <a:off x="466344" y="4535424"/>
            <a:ext cx="8247888" cy="164592"/>
          </a:xfrm>
          <a:prstGeom prst="rect">
            <a:avLst/>
          </a:prstGeom>
          <a:noFill/>
        </p:spPr>
        <p:txBody>
          <a:bodyPr wrap="square">
            <a:spAutoFit/>
          </a:bodyPr>
          <a:lstStyle/>
          <a:p>
            <a:pPr algn="l">
              <a:spcAft>
                <a:spcPts val="400"/>
              </a:spcAft>
            </a:pPr>
            <a:r>
              <a:rPr sz="900" b="0">
                <a:solidFill>
                  <a:srgbClr val="9F9998"/>
                </a:solidFill>
                <a:latin typeface="Arial"/>
              </a:rPr>
              <a:t>Figures and tables: run_7/7_post_run_reporting and experiments/PE_15-PE_28 · claims C117-C127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a:spcAft>
                <a:spcPts val="400"/>
              </a:spcAft>
            </a:pPr>
            <a:r>
              <a:rPr sz="1800" b="1">
                <a:solidFill>
                  <a:srgbClr val="3E444C"/>
                </a:solidFill>
                <a:latin typeface="Arial"/>
              </a:rPr>
              <a:t>How we reached 0.87652</a:t>
            </a:r>
          </a:p>
        </p:txBody>
      </p:sp>
      <p:sp>
        <p:nvSpPr>
          <p:cNvPr id="3" name="Text Placeholder 2"/>
          <p:cNvSpPr>
            <a:spLocks noGrp="1"/>
          </p:cNvSpPr>
          <p:nvPr>
            <p:ph type="body" idx="13" sz="quarter"/>
          </p:nvPr>
        </p:nvSpPr>
        <p:spPr/>
        <p:txBody>
          <a:bodyPr wrap="square"/>
          <a:lstStyle/>
          <a:p>
            <a:pPr algn="l">
              <a:spcAft>
                <a:spcPts val="400"/>
              </a:spcAft>
            </a:pPr>
            <a:r>
              <a:rPr sz="1400" b="0">
                <a:solidFill>
                  <a:srgbClr val="9F9998"/>
                </a:solidFill>
                <a:latin typeface="Arial"/>
              </a:rPr>
              <a:t>Ordered by the submission that carried each decision</a:t>
            </a:r>
          </a:p>
        </p:txBody>
      </p:sp>
      <p:sp>
        <p:nvSpPr>
          <p:cNvPr id="7" name="Datumsplatzhalter 6">
            <a:extLst>
              <a:ext uri="{FF2B5EF4-FFF2-40B4-BE49-F238E27FC236}">
                <a16:creationId xmlns:a16="http://schemas.microsoft.com/office/drawing/2014/main" id="{124A6A03-5D2E-417E-9A62-737D1DBC92ED}"/>
              </a:ext>
              <a:ext uri="{C183D7F6-B498-43B3-948B-1728B52AA6E4}">
                <adec:decorative xmlns:adec="http://schemas.microsoft.com/office/drawing/2017/decorative" val="1"/>
              </a:ext>
            </a:extLst>
          </p:cNvPr>
          <p:cNvSpPr>
            <a:spLocks noGrp="1"/>
          </p:cNvSpPr>
          <p:nvPr>
            <p:ph type="dt" sz="half" idx="14"/>
          </p:nvPr>
        </p:nvSpPr>
        <p:spPr>
          <a:xfrm>
            <a:off x="6492240" y="4873752"/>
            <a:ext cx="1737360" cy="146304"/>
          </a:xfrm>
        </p:spPr>
        <p:txBody>
          <a:bodyPr/>
          <a:lstStyle/>
          <a:p>
            <a:pPr algn="r"/>
            <a:r>
              <a:rPr lang="de-DE"/>
              <a:t>9 September 2026</a:t>
            </a:r>
            <a:endParaRPr lang="en-US" dirty="0"/>
          </a:p>
        </p:txBody>
      </p:sp>
      <p:sp>
        <p:nvSpPr>
          <p:cNvPr id="8" name="Fußzeilenplatzhalter 7">
            <a:extLst>
              <a:ext uri="{FF2B5EF4-FFF2-40B4-BE49-F238E27FC236}">
                <a16:creationId xmlns:a16="http://schemas.microsoft.com/office/drawing/2014/main" id="{90427F68-7D65-4111-9D28-F407D044A73B}"/>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UAV remaining useful life estimation</a:t>
            </a:r>
            <a:endParaRPr lang="en-US" dirty="0"/>
          </a:p>
        </p:txBody>
      </p:sp>
      <p:sp>
        <p:nvSpPr>
          <p:cNvPr id="10" name="Foliennummernplatzhalter 9">
            <a:extLst>
              <a:ext uri="{FF2B5EF4-FFF2-40B4-BE49-F238E27FC236}">
                <a16:creationId xmlns:a16="http://schemas.microsoft.com/office/drawing/2014/main" id="{BC2B8577-8AB8-42B5-8BA8-1751A412246A}"/>
              </a:ext>
              <a:ext uri="{C183D7F6-B498-43B3-948B-1728B52AA6E4}">
                <adec:decorative xmlns:adec="http://schemas.microsoft.com/office/drawing/2017/decorative" val="1"/>
              </a:ext>
            </a:extLst>
          </p:cNvPr>
          <p:cNvSpPr>
            <a:spLocks noGrp="1"/>
          </p:cNvSpPr>
          <p:nvPr>
            <p:ph type="sldNum" sz="quarter" idx="16"/>
          </p:nvPr>
        </p:nvSpPr>
        <p:spPr/>
        <p:txBody>
          <a:bodyPr/>
          <a:lstStyle/>
          <a:p>
            <a:fld id="{9E82CC3C-1DC0-4FDA-9590-6CC506AB67F8}" type="slidenum">
              <a:rPr lang="en-US" smtClean="0"/>
              <a:pPr/>
              <a:t>‹Nr.›</a:t>
            </a:fld>
            <a:endParaRPr lang="en-US" dirty="0"/>
          </a:p>
        </p:txBody>
      </p:sp>
      <p:graphicFrame>
        <p:nvGraphicFramePr>
          <p:cNvPr id="11" name="Table 10"/>
          <p:cNvGraphicFramePr>
            <a:graphicFrameLocks noGrp="1"/>
          </p:cNvGraphicFramePr>
          <p:nvPr/>
        </p:nvGraphicFramePr>
        <p:xfrm>
          <a:off x="466344" y="1078992"/>
          <a:ext cx="8247888" cy="1645920"/>
        </p:xfrm>
        <a:graphic>
          <a:graphicData uri="http://schemas.openxmlformats.org/drawingml/2006/table">
            <a:tbl>
              <a:tblPr firstRow="1" bandRow="1">
                <a:tableStyleId>{5C22544A-7EE6-4342-B048-85BDC9FD1C3A}</a:tableStyleId>
              </a:tblPr>
              <a:tblGrid>
                <a:gridCol w="1188720"/>
                <a:gridCol w="4480560"/>
                <a:gridCol w="1188720"/>
                <a:gridCol w="1389888"/>
              </a:tblGrid>
              <a:tr h="329184">
                <a:tc>
                  <a:txBody>
                    <a:bodyPr wrap="square"/>
                    <a:lstStyle/>
                    <a:p>
                      <a:pPr algn="l">
                        <a:spcAft>
                          <a:spcPts val="0"/>
                        </a:spcAft>
                      </a:pPr>
                      <a:r>
                        <a:rPr sz="1050" b="1">
                          <a:solidFill>
                            <a:srgbClr val="FFFFFF"/>
                          </a:solidFill>
                          <a:latin typeface="Arial"/>
                        </a:rPr>
                        <a:t>phase</a:t>
                      </a:r>
                    </a:p>
                  </a:txBody>
                  <a:tcPr anchor="ctr">
                    <a:solidFill>
                      <a:srgbClr val="00519E"/>
                    </a:solidFill>
                  </a:tcPr>
                </a:tc>
                <a:tc>
                  <a:txBody>
                    <a:bodyPr wrap="square"/>
                    <a:lstStyle/>
                    <a:p>
                      <a:pPr algn="l">
                        <a:spcAft>
                          <a:spcPts val="0"/>
                        </a:spcAft>
                      </a:pPr>
                      <a:r>
                        <a:rPr sz="1050" b="1">
                          <a:solidFill>
                            <a:srgbClr val="FFFFFF"/>
                          </a:solidFill>
                          <a:latin typeface="Arial"/>
                        </a:rPr>
                        <a:t>decision</a:t>
                      </a:r>
                    </a:p>
                  </a:txBody>
                  <a:tcPr anchor="ctr">
                    <a:solidFill>
                      <a:srgbClr val="00519E"/>
                    </a:solidFill>
                  </a:tcPr>
                </a:tc>
                <a:tc>
                  <a:txBody>
                    <a:bodyPr wrap="square"/>
                    <a:lstStyle/>
                    <a:p>
                      <a:pPr algn="l">
                        <a:spcAft>
                          <a:spcPts val="0"/>
                        </a:spcAft>
                      </a:pPr>
                      <a:r>
                        <a:rPr sz="1050" b="1">
                          <a:solidFill>
                            <a:srgbClr val="FFFFFF"/>
                          </a:solidFill>
                          <a:latin typeface="Arial"/>
                        </a:rPr>
                        <a:t>submissions</a:t>
                      </a:r>
                    </a:p>
                  </a:txBody>
                  <a:tcPr anchor="ctr">
                    <a:solidFill>
                      <a:srgbClr val="00519E"/>
                    </a:solidFill>
                  </a:tcPr>
                </a:tc>
                <a:tc>
                  <a:txBody>
                    <a:bodyPr wrap="square"/>
                    <a:lstStyle/>
                    <a:p>
                      <a:pPr algn="l">
                        <a:spcAft>
                          <a:spcPts val="0"/>
                        </a:spcAft>
                      </a:pPr>
                      <a:r>
                        <a:rPr sz="1050" b="1">
                          <a:solidFill>
                            <a:srgbClr val="FFFFFF"/>
                          </a:solidFill>
                          <a:latin typeface="Arial"/>
                        </a:rPr>
                        <a:t>public R² change</a:t>
                      </a:r>
                    </a:p>
                  </a:txBody>
                  <a:tcPr anchor="ctr">
                    <a:solidFill>
                      <a:srgbClr val="00519E"/>
                    </a:solidFill>
                  </a:tcPr>
                </a:tc>
              </a:tr>
              <a:tr h="329184">
                <a:tc>
                  <a:txBody>
                    <a:bodyPr wrap="square"/>
                    <a:lstStyle/>
                    <a:p>
                      <a:pPr algn="l">
                        <a:spcAft>
                          <a:spcPts val="0"/>
                        </a:spcAft>
                      </a:pPr>
                      <a:r>
                        <a:rPr sz="1050" b="1">
                          <a:solidFill>
                            <a:srgbClr val="00519E"/>
                          </a:solidFill>
                          <a:latin typeface="Arial"/>
                        </a:rPr>
                        <a:t>Phase 1 + 2</a:t>
                      </a:r>
                    </a:p>
                  </a:txBody>
                  <a:tcPr anchor="ctr">
                    <a:solidFill>
                      <a:srgbClr val="ECF4FA"/>
                    </a:solidFill>
                  </a:tcPr>
                </a:tc>
                <a:tc>
                  <a:txBody>
                    <a:bodyPr wrap="square"/>
                    <a:lstStyle/>
                    <a:p>
                      <a:pPr algn="l">
                        <a:spcAft>
                          <a:spcPts val="0"/>
                        </a:spcAft>
                      </a:pPr>
                      <a:r>
                        <a:rPr sz="1050" b="1">
                          <a:solidFill>
                            <a:srgbClr val="00519E"/>
                          </a:solidFill>
                          <a:latin typeface="Arial"/>
                        </a:rPr>
                        <a:t>Bounded validation scenarios with a fitting cap at 125</a:t>
                      </a:r>
                    </a:p>
                  </a:txBody>
                  <a:tcPr anchor="ctr">
                    <a:solidFill>
                      <a:srgbClr val="ECF4FA"/>
                    </a:solidFill>
                  </a:tcPr>
                </a:tc>
                <a:tc>
                  <a:txBody>
                    <a:bodyPr wrap="square"/>
                    <a:lstStyle/>
                    <a:p>
                      <a:pPr algn="l">
                        <a:spcAft>
                          <a:spcPts val="0"/>
                        </a:spcAft>
                      </a:pPr>
                      <a:r>
                        <a:rPr sz="1050" b="1">
                          <a:solidFill>
                            <a:srgbClr val="00519E"/>
                          </a:solidFill>
                          <a:latin typeface="Arial"/>
                        </a:rPr>
                        <a:t>Run 3 → 4</a:t>
                      </a:r>
                    </a:p>
                  </a:txBody>
                  <a:tcPr anchor="ctr">
                    <a:solidFill>
                      <a:srgbClr val="ECF4FA"/>
                    </a:solidFill>
                  </a:tcPr>
                </a:tc>
                <a:tc>
                  <a:txBody>
                    <a:bodyPr wrap="square"/>
                    <a:lstStyle/>
                    <a:p>
                      <a:pPr algn="l">
                        <a:spcAft>
                          <a:spcPts val="0"/>
                        </a:spcAft>
                      </a:pPr>
                      <a:r>
                        <a:rPr sz="1050" b="1">
                          <a:solidFill>
                            <a:srgbClr val="00519E"/>
                          </a:solidFill>
                          <a:latin typeface="Arial"/>
                        </a:rPr>
                        <a:t>+0.30377</a:t>
                      </a:r>
                    </a:p>
                  </a:txBody>
                  <a:tcPr anchor="ctr">
                    <a:solidFill>
                      <a:srgbClr val="ECF4FA"/>
                    </a:solidFill>
                  </a:tcPr>
                </a:tc>
              </a:tr>
              <a:tr h="329184">
                <a:tc>
                  <a:txBody>
                    <a:bodyPr wrap="square"/>
                    <a:lstStyle/>
                    <a:p>
                      <a:pPr algn="l">
                        <a:spcAft>
                          <a:spcPts val="0"/>
                        </a:spcAft>
                      </a:pPr>
                      <a:r>
                        <a:rPr sz="1050" b="0">
                          <a:solidFill>
                            <a:srgbClr val="3E444C"/>
                          </a:solidFill>
                          <a:latin typeface="Arial"/>
                        </a:rPr>
                        <a:t>Phase 0 + 2</a:t>
                      </a:r>
                    </a:p>
                  </a:txBody>
                  <a:tcPr anchor="ctr">
                    <a:solidFill>
                      <a:srgbClr val="FFFFFF"/>
                    </a:solidFill>
                  </a:tcPr>
                </a:tc>
                <a:tc>
                  <a:txBody>
                    <a:bodyPr wrap="square"/>
                    <a:lstStyle/>
                    <a:p>
                      <a:pPr algn="l">
                        <a:spcAft>
                          <a:spcPts val="0"/>
                        </a:spcAft>
                      </a:pPr>
                      <a:r>
                        <a:rPr sz="1050" b="0">
                          <a:solidFill>
                            <a:srgbClr val="3E444C"/>
                          </a:solidFill>
                          <a:latin typeface="Arial"/>
                        </a:rPr>
                        <a:t>Drift-pruned 298 features, calibrated 50/50 tree blend</a:t>
                      </a:r>
                    </a:p>
                  </a:txBody>
                  <a:tcPr anchor="ctr">
                    <a:solidFill>
                      <a:srgbClr val="FFFFFF"/>
                    </a:solidFill>
                  </a:tcPr>
                </a:tc>
                <a:tc>
                  <a:txBody>
                    <a:bodyPr wrap="square"/>
                    <a:lstStyle/>
                    <a:p>
                      <a:pPr algn="l">
                        <a:spcAft>
                          <a:spcPts val="0"/>
                        </a:spcAft>
                      </a:pPr>
                      <a:r>
                        <a:rPr sz="1050" b="0">
                          <a:solidFill>
                            <a:srgbClr val="3E444C"/>
                          </a:solidFill>
                          <a:latin typeface="Arial"/>
                        </a:rPr>
                        <a:t>Run 4 → 5</a:t>
                      </a:r>
                    </a:p>
                  </a:txBody>
                  <a:tcPr anchor="ctr">
                    <a:solidFill>
                      <a:srgbClr val="FFFFFF"/>
                    </a:solidFill>
                  </a:tcPr>
                </a:tc>
                <a:tc>
                  <a:txBody>
                    <a:bodyPr wrap="square"/>
                    <a:lstStyle/>
                    <a:p>
                      <a:pPr algn="l">
                        <a:spcAft>
                          <a:spcPts val="0"/>
                        </a:spcAft>
                      </a:pPr>
                      <a:r>
                        <a:rPr sz="1050" b="0">
                          <a:solidFill>
                            <a:srgbClr val="3E444C"/>
                          </a:solidFill>
                          <a:latin typeface="Arial"/>
                        </a:rPr>
                        <a:t>+0.02012</a:t>
                      </a:r>
                    </a:p>
                  </a:txBody>
                  <a:tcPr anchor="ctr">
                    <a:solidFill>
                      <a:srgbClr val="FFFFFF"/>
                    </a:solidFill>
                  </a:tcPr>
                </a:tc>
              </a:tr>
              <a:tr h="329184">
                <a:tc>
                  <a:txBody>
                    <a:bodyPr wrap="square"/>
                    <a:lstStyle/>
                    <a:p>
                      <a:pPr algn="l">
                        <a:spcAft>
                          <a:spcPts val="0"/>
                        </a:spcAft>
                      </a:pPr>
                      <a:r>
                        <a:rPr sz="1050" b="0">
                          <a:solidFill>
                            <a:srgbClr val="3E444C"/>
                          </a:solidFill>
                          <a:latin typeface="Arial"/>
                        </a:rPr>
                        <a:t>Phase 2</a:t>
                      </a:r>
                    </a:p>
                  </a:txBody>
                  <a:tcPr anchor="ctr">
                    <a:solidFill>
                      <a:srgbClr val="ECF4FA"/>
                    </a:solidFill>
                  </a:tcPr>
                </a:tc>
                <a:tc>
                  <a:txBody>
                    <a:bodyPr wrap="square"/>
                    <a:lstStyle/>
                    <a:p>
                      <a:pPr algn="l">
                        <a:spcAft>
                          <a:spcPts val="0"/>
                        </a:spcAft>
                      </a:pPr>
                      <a:r>
                        <a:rPr sz="1050" b="0">
                          <a:solidFill>
                            <a:srgbClr val="3E444C"/>
                          </a:solidFill>
                          <a:latin typeface="Arial"/>
                        </a:rPr>
                        <a:t>Conditional conservative calibration at q = 0.55</a:t>
                      </a:r>
                    </a:p>
                  </a:txBody>
                  <a:tcPr anchor="ctr">
                    <a:solidFill>
                      <a:srgbClr val="ECF4FA"/>
                    </a:solidFill>
                  </a:tcPr>
                </a:tc>
                <a:tc>
                  <a:txBody>
                    <a:bodyPr wrap="square"/>
                    <a:lstStyle/>
                    <a:p>
                      <a:pPr algn="l">
                        <a:spcAft>
                          <a:spcPts val="0"/>
                        </a:spcAft>
                      </a:pPr>
                      <a:r>
                        <a:rPr sz="1050" b="0">
                          <a:solidFill>
                            <a:srgbClr val="3E444C"/>
                          </a:solidFill>
                          <a:latin typeface="Arial"/>
                        </a:rPr>
                        <a:t>Run 5 → 6</a:t>
                      </a:r>
                    </a:p>
                  </a:txBody>
                  <a:tcPr anchor="ctr">
                    <a:solidFill>
                      <a:srgbClr val="ECF4FA"/>
                    </a:solidFill>
                  </a:tcPr>
                </a:tc>
                <a:tc>
                  <a:txBody>
                    <a:bodyPr wrap="square"/>
                    <a:lstStyle/>
                    <a:p>
                      <a:pPr algn="l">
                        <a:spcAft>
                          <a:spcPts val="0"/>
                        </a:spcAft>
                      </a:pPr>
                      <a:r>
                        <a:rPr sz="1050" b="0">
                          <a:solidFill>
                            <a:srgbClr val="3E444C"/>
                          </a:solidFill>
                          <a:latin typeface="Arial"/>
                        </a:rPr>
                        <a:t>+0.00216</a:t>
                      </a:r>
                    </a:p>
                  </a:txBody>
                  <a:tcPr anchor="ctr">
                    <a:solidFill>
                      <a:srgbClr val="ECF4FA"/>
                    </a:solidFill>
                  </a:tcPr>
                </a:tc>
              </a:tr>
              <a:tr h="329184">
                <a:tc>
                  <a:txBody>
                    <a:bodyPr wrap="square"/>
                    <a:lstStyle/>
                    <a:p>
                      <a:pPr algn="l">
                        <a:spcAft>
                          <a:spcPts val="0"/>
                        </a:spcAft>
                      </a:pPr>
                      <a:r>
                        <a:rPr sz="1050" b="0">
                          <a:solidFill>
                            <a:srgbClr val="3E444C"/>
                          </a:solidFill>
                          <a:latin typeface="Arial"/>
                        </a:rPr>
                        <a:t>Phase 2</a:t>
                      </a:r>
                    </a:p>
                  </a:txBody>
                  <a:tcPr anchor="ctr">
                    <a:solidFill>
                      <a:srgbClr val="FFFFFF"/>
                    </a:solidFill>
                  </a:tcPr>
                </a:tc>
                <a:tc>
                  <a:txBody>
                    <a:bodyPr wrap="square"/>
                    <a:lstStyle/>
                    <a:p>
                      <a:pPr algn="l">
                        <a:spcAft>
                          <a:spcPts val="0"/>
                        </a:spcAft>
                      </a:pPr>
                      <a:r>
                        <a:rPr sz="1050" b="0">
                          <a:solidFill>
                            <a:srgbClr val="3E444C"/>
                          </a:solidFill>
                          <a:latin typeface="Arial"/>
                        </a:rPr>
                        <a:t>Cross-fitted residual correction on six seeded members</a:t>
                      </a:r>
                    </a:p>
                  </a:txBody>
                  <a:tcPr anchor="ctr">
                    <a:solidFill>
                      <a:srgbClr val="FFFFFF"/>
                    </a:solidFill>
                  </a:tcPr>
                </a:tc>
                <a:tc>
                  <a:txBody>
                    <a:bodyPr wrap="square"/>
                    <a:lstStyle/>
                    <a:p>
                      <a:pPr algn="l">
                        <a:spcAft>
                          <a:spcPts val="0"/>
                        </a:spcAft>
                      </a:pPr>
                      <a:r>
                        <a:rPr sz="1050" b="0">
                          <a:solidFill>
                            <a:srgbClr val="3E444C"/>
                          </a:solidFill>
                          <a:latin typeface="Arial"/>
                        </a:rPr>
                        <a:t>Run 6 → 7</a:t>
                      </a:r>
                    </a:p>
                  </a:txBody>
                  <a:tcPr anchor="ctr">
                    <a:solidFill>
                      <a:srgbClr val="FFFFFF"/>
                    </a:solidFill>
                  </a:tcPr>
                </a:tc>
                <a:tc>
                  <a:txBody>
                    <a:bodyPr wrap="square"/>
                    <a:lstStyle/>
                    <a:p>
                      <a:pPr algn="l">
                        <a:spcAft>
                          <a:spcPts val="0"/>
                        </a:spcAft>
                      </a:pPr>
                      <a:r>
                        <a:rPr sz="1050" b="0">
                          <a:solidFill>
                            <a:srgbClr val="3E444C"/>
                          </a:solidFill>
                          <a:latin typeface="Arial"/>
                        </a:rPr>
                        <a:t>+0.00911</a:t>
                      </a:r>
                    </a:p>
                  </a:txBody>
                  <a:tcPr anchor="ctr">
                    <a:solidFill>
                      <a:srgbClr val="FFFFFF"/>
                    </a:solidFill>
                  </a:tcPr>
                </a:tc>
              </a:tr>
            </a:tbl>
          </a:graphicData>
        </a:graphic>
      </p:graphicFrame>
      <p:sp>
        <p:nvSpPr>
          <p:cNvPr id="12" name="Rounded Rectangle 11"/>
          <p:cNvSpPr/>
          <p:nvPr/>
        </p:nvSpPr>
        <p:spPr>
          <a:xfrm>
            <a:off x="466344" y="2889504"/>
            <a:ext cx="8247888" cy="566928"/>
          </a:xfrm>
          <a:prstGeom prst="roundRect">
            <a:avLst/>
          </a:prstGeom>
          <a:solidFill>
            <a:srgbClr val="FFFFFF"/>
          </a:solidFill>
          <a:ln w="12700">
            <a:solidFill>
              <a:srgbClr val="9F99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spcAft>
                <a:spcPts val="0"/>
              </a:spcAft>
            </a:pPr>
            <a:r>
              <a:rPr sz="1050" b="0">
                <a:solidFill>
                  <a:srgbClr val="3E444C"/>
                </a:solidFill>
                <a:latin typeface="Arial"/>
              </a:rPr>
              <a:t>Each row is a submission-to-submission difference, not an isolated ablation: a run can carry more than one change. Evaluation and target design dominated model choice.</a:t>
            </a:r>
          </a:p>
        </p:txBody>
      </p:sp>
      <p:sp>
        <p:nvSpPr>
          <p:cNvPr id="13" name="Rounded Rectangle 12"/>
          <p:cNvSpPr/>
          <p:nvPr/>
        </p:nvSpPr>
        <p:spPr>
          <a:xfrm>
            <a:off x="466344" y="3547872"/>
            <a:ext cx="8247888" cy="877824"/>
          </a:xfrm>
          <a:prstGeom prst="roundRect">
            <a:avLst/>
          </a:prstGeom>
          <a:solidFill>
            <a:srgbClr val="FFD5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spcAft>
                <a:spcPts val="200"/>
              </a:spcAft>
            </a:pPr>
            <a:r>
              <a:rPr sz="1150" b="1">
                <a:solidFill>
                  <a:srgbClr val="3E444C"/>
                </a:solidFill>
                <a:latin typeface="Arial"/>
              </a:rPr>
              <a:t>What we do not claim</a:t>
            </a:r>
          </a:p>
          <a:p>
            <a:pPr algn="l">
              <a:spcAft>
                <a:spcPts val="200"/>
              </a:spcAft>
            </a:pPr>
            <a:r>
              <a:rPr sz="1050" b="0">
                <a:solidFill>
                  <a:srgbClr val="3E444C"/>
                </a:solidFill>
                <a:latin typeface="Arial"/>
              </a:rPr>
              <a:t>Development mean-fold R² is 0.90041; the recorded public score is 0.87652. Closing that needs about 10.0% lower RMSE on the same scored set, and no candidate after Run 7 passed a nested confirmation.</a:t>
            </a:r>
          </a:p>
        </p:txBody>
      </p:sp>
      <p:sp>
        <p:nvSpPr>
          <p:cNvPr id="14" name="TextBox 13"/>
          <p:cNvSpPr txBox="1"/>
          <p:nvPr/>
        </p:nvSpPr>
        <p:spPr>
          <a:xfrm>
            <a:off x="466344" y="4535424"/>
            <a:ext cx="8247888" cy="164592"/>
          </a:xfrm>
          <a:prstGeom prst="rect">
            <a:avLst/>
          </a:prstGeom>
          <a:noFill/>
        </p:spPr>
        <p:txBody>
          <a:bodyPr wrap="square">
            <a:spAutoFit/>
          </a:bodyPr>
          <a:lstStyle/>
          <a:p>
            <a:pPr algn="l">
              <a:spcAft>
                <a:spcPts val="400"/>
              </a:spcAft>
            </a:pPr>
            <a:r>
              <a:rPr sz="900" b="0">
                <a:solidFill>
                  <a:srgbClr val="9F9998"/>
                </a:solidFill>
                <a:latin typeface="Arial"/>
              </a:rPr>
              <a:t>Sources: kaggle_scores.csv, pipeline_experiments.md, phase_0 and phase_1 artifacts · claims C128-C132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pPr algn="l">
              <a:spcAft>
                <a:spcPts val="400"/>
              </a:spcAft>
            </a:pPr>
            <a:r>
              <a:rPr sz="1400" b="0">
                <a:solidFill>
                  <a:srgbClr val="9F9998"/>
                </a:solidFill>
                <a:latin typeface="Arial"/>
              </a:rPr>
              <a:t>Not part of the 20-minute talk. Held for questions.</a:t>
            </a:r>
          </a:p>
        </p:txBody>
      </p:sp>
      <p:sp>
        <p:nvSpPr>
          <p:cNvPr id="3" name="Title 2"/>
          <p:cNvSpPr>
            <a:spLocks noGrp="1"/>
          </p:cNvSpPr>
          <p:nvPr>
            <p:ph type="title"/>
          </p:nvPr>
        </p:nvSpPr>
        <p:spPr/>
        <p:txBody>
          <a:bodyPr wrap="square"/>
          <a:lstStyle/>
          <a:p>
            <a:pPr algn="l">
              <a:spcAft>
                <a:spcPts val="400"/>
              </a:spcAft>
            </a:pPr>
            <a:r>
              <a:rPr sz="2400" b="1">
                <a:solidFill>
                  <a:srgbClr val="3E444C"/>
                </a:solidFill>
                <a:latin typeface="Arial"/>
              </a:rPr>
              <a:t>Backup slides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a:spcAft>
                <a:spcPts val="400"/>
              </a:spcAft>
            </a:pPr>
            <a:r>
              <a:rPr sz="1800" b="1">
                <a:solidFill>
                  <a:srgbClr val="3E444C"/>
                </a:solidFill>
                <a:latin typeface="Arial"/>
              </a:rPr>
              <a:t>Backup: the complete Phase 0 broad review</a:t>
            </a:r>
          </a:p>
        </p:txBody>
      </p:sp>
      <p:sp>
        <p:nvSpPr>
          <p:cNvPr id="3" name="Text Placeholder 2"/>
          <p:cNvSpPr>
            <a:spLocks noGrp="1"/>
          </p:cNvSpPr>
          <p:nvPr>
            <p:ph type="body" idx="13" sz="quarter"/>
          </p:nvPr>
        </p:nvSpPr>
        <p:spPr/>
        <p:txBody>
          <a:bodyPr wrap="square"/>
          <a:lstStyle/>
          <a:p>
            <a:pPr algn="l">
              <a:spcAft>
                <a:spcPts val="400"/>
              </a:spcAft>
            </a:pPr>
            <a:r>
              <a:rPr sz="1400" b="0">
                <a:solidFill>
                  <a:srgbClr val="9F9998"/>
                </a:solidFill>
                <a:latin typeface="Arial"/>
              </a:rPr>
              <a:t>Nine analyses, and the decision each one contributed</a:t>
            </a:r>
          </a:p>
        </p:txBody>
      </p:sp>
      <p:sp>
        <p:nvSpPr>
          <p:cNvPr id="7" name="Datumsplatzhalter 6">
            <a:extLst>
              <a:ext uri="{FF2B5EF4-FFF2-40B4-BE49-F238E27FC236}">
                <a16:creationId xmlns:a16="http://schemas.microsoft.com/office/drawing/2014/main" id="{124A6A03-5D2E-417E-9A62-737D1DBC92ED}"/>
              </a:ext>
              <a:ext uri="{C183D7F6-B498-43B3-948B-1728B52AA6E4}">
                <adec:decorative xmlns:adec="http://schemas.microsoft.com/office/drawing/2017/decorative" val="1"/>
              </a:ext>
            </a:extLst>
          </p:cNvPr>
          <p:cNvSpPr>
            <a:spLocks noGrp="1"/>
          </p:cNvSpPr>
          <p:nvPr>
            <p:ph type="dt" sz="half" idx="14"/>
          </p:nvPr>
        </p:nvSpPr>
        <p:spPr>
          <a:xfrm>
            <a:off x="6492240" y="4873752"/>
            <a:ext cx="1737360" cy="146304"/>
          </a:xfrm>
        </p:spPr>
        <p:txBody>
          <a:bodyPr/>
          <a:lstStyle/>
          <a:p>
            <a:pPr algn="r"/>
            <a:r>
              <a:rPr lang="de-DE"/>
              <a:t>9 September 2026</a:t>
            </a:r>
            <a:endParaRPr lang="en-US" dirty="0"/>
          </a:p>
        </p:txBody>
      </p:sp>
      <p:sp>
        <p:nvSpPr>
          <p:cNvPr id="8" name="Fußzeilenplatzhalter 7">
            <a:extLst>
              <a:ext uri="{FF2B5EF4-FFF2-40B4-BE49-F238E27FC236}">
                <a16:creationId xmlns:a16="http://schemas.microsoft.com/office/drawing/2014/main" id="{90427F68-7D65-4111-9D28-F407D044A73B}"/>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UAV remaining useful life estimation</a:t>
            </a:r>
            <a:endParaRPr lang="en-US" dirty="0"/>
          </a:p>
        </p:txBody>
      </p:sp>
      <p:sp>
        <p:nvSpPr>
          <p:cNvPr id="10" name="Foliennummernplatzhalter 9">
            <a:extLst>
              <a:ext uri="{FF2B5EF4-FFF2-40B4-BE49-F238E27FC236}">
                <a16:creationId xmlns:a16="http://schemas.microsoft.com/office/drawing/2014/main" id="{BC2B8577-8AB8-42B5-8BA8-1751A412246A}"/>
              </a:ext>
              <a:ext uri="{C183D7F6-B498-43B3-948B-1728B52AA6E4}">
                <adec:decorative xmlns:adec="http://schemas.microsoft.com/office/drawing/2017/decorative" val="1"/>
              </a:ext>
            </a:extLst>
          </p:cNvPr>
          <p:cNvSpPr>
            <a:spLocks noGrp="1"/>
          </p:cNvSpPr>
          <p:nvPr>
            <p:ph type="sldNum" sz="quarter" idx="16"/>
          </p:nvPr>
        </p:nvSpPr>
        <p:spPr/>
        <p:txBody>
          <a:bodyPr/>
          <a:lstStyle/>
          <a:p>
            <a:fld id="{9E82CC3C-1DC0-4FDA-9590-6CC506AB67F8}" type="slidenum">
              <a:rPr lang="en-US" smtClean="0"/>
              <a:pPr/>
              <a:t>‹Nr.›</a:t>
            </a:fld>
            <a:endParaRPr lang="en-US" dirty="0"/>
          </a:p>
        </p:txBody>
      </p:sp>
      <p:graphicFrame>
        <p:nvGraphicFramePr>
          <p:cNvPr id="11" name="Table 10"/>
          <p:cNvGraphicFramePr>
            <a:graphicFrameLocks noGrp="1"/>
          </p:cNvGraphicFramePr>
          <p:nvPr/>
        </p:nvGraphicFramePr>
        <p:xfrm>
          <a:off x="466344" y="1024128"/>
          <a:ext cx="8247888" cy="2633472"/>
        </p:xfrm>
        <a:graphic>
          <a:graphicData uri="http://schemas.openxmlformats.org/drawingml/2006/table">
            <a:tbl>
              <a:tblPr firstRow="1" bandRow="1">
                <a:tableStyleId>{5C22544A-7EE6-4342-B048-85BDC9FD1C3A}</a:tableStyleId>
              </a:tblPr>
              <a:tblGrid>
                <a:gridCol w="1700784"/>
                <a:gridCol w="3346704"/>
                <a:gridCol w="3200400"/>
              </a:tblGrid>
              <a:tr h="292608">
                <a:tc>
                  <a:txBody>
                    <a:bodyPr wrap="square"/>
                    <a:lstStyle/>
                    <a:p>
                      <a:pPr algn="l">
                        <a:spcAft>
                          <a:spcPts val="0"/>
                        </a:spcAft>
                      </a:pPr>
                      <a:r>
                        <a:rPr sz="800" b="1">
                          <a:solidFill>
                            <a:srgbClr val="FFFFFF"/>
                          </a:solidFill>
                          <a:latin typeface="Arial"/>
                        </a:rPr>
                        <a:t>analysis</a:t>
                      </a:r>
                    </a:p>
                  </a:txBody>
                  <a:tcPr anchor="ctr">
                    <a:solidFill>
                      <a:srgbClr val="00519E"/>
                    </a:solidFill>
                  </a:tcPr>
                </a:tc>
                <a:tc>
                  <a:txBody>
                    <a:bodyPr wrap="square"/>
                    <a:lstStyle/>
                    <a:p>
                      <a:pPr algn="l">
                        <a:spcAft>
                          <a:spcPts val="0"/>
                        </a:spcAft>
                      </a:pPr>
                      <a:r>
                        <a:rPr sz="800" b="1">
                          <a:solidFill>
                            <a:srgbClr val="FFFFFF"/>
                          </a:solidFill>
                          <a:latin typeface="Arial"/>
                        </a:rPr>
                        <a:t>what it showed</a:t>
                      </a:r>
                    </a:p>
                  </a:txBody>
                  <a:tcPr anchor="ctr">
                    <a:solidFill>
                      <a:srgbClr val="00519E"/>
                    </a:solidFill>
                  </a:tcPr>
                </a:tc>
                <a:tc>
                  <a:txBody>
                    <a:bodyPr wrap="square"/>
                    <a:lstStyle/>
                    <a:p>
                      <a:pPr algn="l">
                        <a:spcAft>
                          <a:spcPts val="0"/>
                        </a:spcAft>
                      </a:pPr>
                      <a:r>
                        <a:rPr sz="800" b="1">
                          <a:solidFill>
                            <a:srgbClr val="FFFFFF"/>
                          </a:solidFill>
                          <a:latin typeface="Arial"/>
                        </a:rPr>
                        <a:t>what it decided</a:t>
                      </a:r>
                    </a:p>
                  </a:txBody>
                  <a:tcPr anchor="ctr">
                    <a:solidFill>
                      <a:srgbClr val="00519E"/>
                    </a:solidFill>
                  </a:tcPr>
                </a:tc>
              </a:tr>
              <a:tr h="292608">
                <a:tc>
                  <a:txBody>
                    <a:bodyPr wrap="square"/>
                    <a:lstStyle/>
                    <a:p>
                      <a:pPr algn="l">
                        <a:spcAft>
                          <a:spcPts val="0"/>
                        </a:spcAft>
                      </a:pPr>
                      <a:r>
                        <a:rPr sz="800" b="0">
                          <a:solidFill>
                            <a:srgbClr val="3E444C"/>
                          </a:solidFill>
                          <a:latin typeface="Arial"/>
                        </a:rPr>
                        <a:t>Cycle-wise fleet trends</a:t>
                      </a:r>
                    </a:p>
                  </a:txBody>
                  <a:tcPr anchor="ctr">
                    <a:solidFill>
                      <a:srgbClr val="ECF4FA"/>
                    </a:solidFill>
                  </a:tcPr>
                </a:tc>
                <a:tc>
                  <a:txBody>
                    <a:bodyPr wrap="square"/>
                    <a:lstStyle/>
                    <a:p>
                      <a:pPr algn="l">
                        <a:spcAft>
                          <a:spcPts val="0"/>
                        </a:spcAft>
                      </a:pPr>
                      <a:r>
                        <a:rPr sz="800" b="0">
                          <a:solidFill>
                            <a:srgbClr val="3E444C"/>
                          </a:solidFill>
                          <a:latin typeface="Arial"/>
                        </a:rPr>
                        <a:t>6 channels flat across all cycles; late cycles have few surviving UAVs</a:t>
                      </a:r>
                    </a:p>
                  </a:txBody>
                  <a:tcPr anchor="ctr">
                    <a:solidFill>
                      <a:srgbClr val="ECF4FA"/>
                    </a:solidFill>
                  </a:tcPr>
                </a:tc>
                <a:tc>
                  <a:txBody>
                    <a:bodyPr wrap="square"/>
                    <a:lstStyle/>
                    <a:p>
                      <a:pPr algn="l">
                        <a:spcAft>
                          <a:spcPts val="0"/>
                        </a:spcAft>
                      </a:pPr>
                      <a:r>
                        <a:rPr sz="800" b="0">
                          <a:solidFill>
                            <a:srgbClr val="3E444C"/>
                          </a:solidFill>
                          <a:latin typeface="Arial"/>
                        </a:rPr>
                        <a:t>removal shortlist; treat late-cycle trends cautiously</a:t>
                      </a:r>
                    </a:p>
                  </a:txBody>
                  <a:tcPr anchor="ctr">
                    <a:solidFill>
                      <a:srgbClr val="ECF4FA"/>
                    </a:solidFill>
                  </a:tcPr>
                </a:tc>
              </a:tr>
              <a:tr h="292608">
                <a:tc>
                  <a:txBody>
                    <a:bodyPr wrap="square"/>
                    <a:lstStyle/>
                    <a:p>
                      <a:pPr algn="l">
                        <a:spcAft>
                          <a:spcPts val="0"/>
                        </a:spcAft>
                      </a:pPr>
                      <a:r>
                        <a:rPr sz="800" b="0">
                          <a:solidFill>
                            <a:srgbClr val="3E444C"/>
                          </a:solidFill>
                          <a:latin typeface="Arial"/>
                        </a:rPr>
                        <a:t>Descriptive statistics</a:t>
                      </a:r>
                    </a:p>
                  </a:txBody>
                  <a:tcPr anchor="ctr">
                    <a:solidFill>
                      <a:srgbClr val="FFFFFF"/>
                    </a:solidFill>
                  </a:tcPr>
                </a:tc>
                <a:tc>
                  <a:txBody>
                    <a:bodyPr wrap="square"/>
                    <a:lstStyle/>
                    <a:p>
                      <a:pPr algn="l">
                        <a:spcAft>
                          <a:spcPts val="0"/>
                        </a:spcAft>
                      </a:pPr>
                      <a:r>
                        <a:rPr sz="800" b="0">
                          <a:solidFill>
                            <a:srgbClr val="3E444C"/>
                          </a:solidFill>
                          <a:latin typeface="Arial"/>
                        </a:rPr>
                        <a:t>channel medians span about 11 to about 50,000</a:t>
                      </a:r>
                    </a:p>
                  </a:txBody>
                  <a:tcPr anchor="ctr">
                    <a:solidFill>
                      <a:srgbClr val="FFFFFF"/>
                    </a:solidFill>
                  </a:tcPr>
                </a:tc>
                <a:tc>
                  <a:txBody>
                    <a:bodyPr wrap="square"/>
                    <a:lstStyle/>
                    <a:p>
                      <a:pPr algn="l">
                        <a:spcAft>
                          <a:spcPts val="0"/>
                        </a:spcAft>
                      </a:pPr>
                      <a:r>
                        <a:rPr sz="800" b="0">
                          <a:solidFill>
                            <a:srgbClr val="3E444C"/>
                          </a:solidFill>
                          <a:latin typeface="Arial"/>
                        </a:rPr>
                        <a:t>robust scaling for scale-sensitive models; trees need none</a:t>
                      </a:r>
                    </a:p>
                  </a:txBody>
                  <a:tcPr anchor="ctr">
                    <a:solidFill>
                      <a:srgbClr val="FFFFFF"/>
                    </a:solidFill>
                  </a:tcPr>
                </a:tc>
              </a:tr>
              <a:tr h="292608">
                <a:tc>
                  <a:txBody>
                    <a:bodyPr wrap="square"/>
                    <a:lstStyle/>
                    <a:p>
                      <a:pPr algn="l">
                        <a:spcAft>
                          <a:spcPts val="0"/>
                        </a:spcAft>
                      </a:pPr>
                      <a:r>
                        <a:rPr sz="800" b="0">
                          <a:solidFill>
                            <a:srgbClr val="3E444C"/>
                          </a:solidFill>
                          <a:latin typeface="Arial"/>
                        </a:rPr>
                        <a:t>Tukey extreme-value screen</a:t>
                      </a:r>
                    </a:p>
                  </a:txBody>
                  <a:tcPr anchor="ctr">
                    <a:solidFill>
                      <a:srgbClr val="ECF4FA"/>
                    </a:solidFill>
                  </a:tcPr>
                </a:tc>
                <a:tc>
                  <a:txBody>
                    <a:bodyPr wrap="square"/>
                    <a:lstStyle/>
                    <a:p>
                      <a:pPr algn="l">
                        <a:spcAft>
                          <a:spcPts val="0"/>
                        </a:spcAft>
                      </a:pPr>
                      <a:r>
                        <a:rPr sz="800" b="0">
                          <a:solidFill>
                            <a:srgbClr val="3E444C"/>
                          </a:solidFill>
                          <a:latin typeface="Arial"/>
                        </a:rPr>
                        <a:t>~97% of extremes in 04/10/11 are isolated single cycles; 01 and 18 form long runs in 8-9 UAVs</a:t>
                      </a:r>
                    </a:p>
                  </a:txBody>
                  <a:tcPr anchor="ctr">
                    <a:solidFill>
                      <a:srgbClr val="ECF4FA"/>
                    </a:solidFill>
                  </a:tcPr>
                </a:tc>
                <a:tc>
                  <a:txBody>
                    <a:bodyPr wrap="square"/>
                    <a:lstStyle/>
                    <a:p>
                      <a:pPr algn="l">
                        <a:spcAft>
                          <a:spcPts val="0"/>
                        </a:spcAft>
                      </a:pPr>
                      <a:r>
                        <a:rPr sz="800" b="0">
                          <a:solidFill>
                            <a:srgbClr val="3E444C"/>
                          </a:solidFill>
                          <a:latin typeface="Arial"/>
                        </a:rPr>
                        <a:t>spike flags vs regime flags; bounds fitted inside each fold</a:t>
                      </a:r>
                    </a:p>
                  </a:txBody>
                  <a:tcPr anchor="ctr">
                    <a:solidFill>
                      <a:srgbClr val="ECF4FA"/>
                    </a:solidFill>
                  </a:tcPr>
                </a:tc>
              </a:tr>
              <a:tr h="292608">
                <a:tc>
                  <a:txBody>
                    <a:bodyPr wrap="square"/>
                    <a:lstStyle/>
                    <a:p>
                      <a:pPr algn="l">
                        <a:spcAft>
                          <a:spcPts val="0"/>
                        </a:spcAft>
                      </a:pPr>
                      <a:r>
                        <a:rPr sz="800" b="0">
                          <a:solidFill>
                            <a:srgbClr val="3E444C"/>
                          </a:solidFill>
                          <a:latin typeface="Arial"/>
                        </a:rPr>
                        <a:t>Row-level statistics</a:t>
                      </a:r>
                    </a:p>
                  </a:txBody>
                  <a:tcPr anchor="ctr">
                    <a:solidFill>
                      <a:srgbClr val="FFFFFF"/>
                    </a:solidFill>
                  </a:tcPr>
                </a:tc>
                <a:tc>
                  <a:txBody>
                    <a:bodyPr wrap="square"/>
                    <a:lstStyle/>
                    <a:p>
                      <a:pPr algn="l">
                        <a:spcAft>
                          <a:spcPts val="0"/>
                        </a:spcAft>
                      </a:pPr>
                      <a:r>
                        <a:rPr sz="800" b="0">
                          <a:solidFill>
                            <a:srgbClr val="3E444C"/>
                          </a:solidFill>
                          <a:latin typeface="Arial"/>
                        </a:rPr>
                        <a:t>asymmetry concentrated in 07, 16, 18, 23, 25</a:t>
                      </a:r>
                    </a:p>
                  </a:txBody>
                  <a:tcPr anchor="ctr">
                    <a:solidFill>
                      <a:srgbClr val="FFFFFF"/>
                    </a:solidFill>
                  </a:tcPr>
                </a:tc>
                <a:tc>
                  <a:txBody>
                    <a:bodyPr wrap="square"/>
                    <a:lstStyle/>
                    <a:p>
                      <a:pPr algn="l">
                        <a:spcAft>
                          <a:spcPts val="0"/>
                        </a:spcAft>
                      </a:pPr>
                      <a:r>
                        <a:rPr sz="800" b="0">
                          <a:solidFill>
                            <a:srgbClr val="3E444C"/>
                          </a:solidFill>
                          <a:latin typeface="Arial"/>
                        </a:rPr>
                        <a:t>robust scaling or Yeo-Johnson for linear and neural models</a:t>
                      </a:r>
                    </a:p>
                  </a:txBody>
                  <a:tcPr anchor="ctr">
                    <a:solidFill>
                      <a:srgbClr val="FFFFFF"/>
                    </a:solidFill>
                  </a:tcPr>
                </a:tc>
              </a:tr>
              <a:tr h="292608">
                <a:tc>
                  <a:txBody>
                    <a:bodyPr wrap="square"/>
                    <a:lstStyle/>
                    <a:p>
                      <a:pPr algn="l">
                        <a:spcAft>
                          <a:spcPts val="0"/>
                        </a:spcAft>
                      </a:pPr>
                      <a:r>
                        <a:rPr sz="800" b="0">
                          <a:solidFill>
                            <a:srgbClr val="3E444C"/>
                          </a:solidFill>
                          <a:latin typeface="Arial"/>
                        </a:rPr>
                        <a:t>UAV-level statistics</a:t>
                      </a:r>
                    </a:p>
                  </a:txBody>
                  <a:tcPr anchor="ctr">
                    <a:solidFill>
                      <a:srgbClr val="ECF4FA"/>
                    </a:solidFill>
                  </a:tcPr>
                </a:tc>
                <a:tc>
                  <a:txBody>
                    <a:bodyPr wrap="square"/>
                    <a:lstStyle/>
                    <a:p>
                      <a:pPr algn="l">
                        <a:spcAft>
                          <a:spcPts val="0"/>
                        </a:spcAft>
                      </a:pPr>
                      <a:r>
                        <a:rPr sz="800" b="0">
                          <a:solidFill>
                            <a:srgbClr val="3E444C"/>
                          </a:solidFill>
                          <a:latin typeface="Arial"/>
                        </a:rPr>
                        <a:t>01, 06, 12, 18, 26 differ strongly between UAVs</a:t>
                      </a:r>
                    </a:p>
                  </a:txBody>
                  <a:tcPr anchor="ctr">
                    <a:solidFill>
                      <a:srgbClr val="ECF4FA"/>
                    </a:solidFill>
                  </a:tcPr>
                </a:tc>
                <a:tc>
                  <a:txBody>
                    <a:bodyPr wrap="square"/>
                    <a:lstStyle/>
                    <a:p>
                      <a:pPr algn="l">
                        <a:spcAft>
                          <a:spcPts val="0"/>
                        </a:spcAft>
                      </a:pPr>
                      <a:r>
                        <a:rPr sz="800" b="0">
                          <a:solidFill>
                            <a:srgbClr val="3E444C"/>
                          </a:solidFill>
                          <a:latin typeface="Arial"/>
                        </a:rPr>
                        <a:t>candidates for context and baseline features</a:t>
                      </a:r>
                    </a:p>
                  </a:txBody>
                  <a:tcPr anchor="ctr">
                    <a:solidFill>
                      <a:srgbClr val="ECF4FA"/>
                    </a:solidFill>
                  </a:tcPr>
                </a:tc>
              </a:tr>
              <a:tr h="292608">
                <a:tc>
                  <a:txBody>
                    <a:bodyPr wrap="square"/>
                    <a:lstStyle/>
                    <a:p>
                      <a:pPr algn="l">
                        <a:spcAft>
                          <a:spcPts val="0"/>
                        </a:spcAft>
                      </a:pPr>
                      <a:r>
                        <a:rPr sz="800" b="0">
                          <a:solidFill>
                            <a:srgbClr val="3E444C"/>
                          </a:solidFill>
                          <a:latin typeface="Arial"/>
                        </a:rPr>
                        <a:t>Age-band statistics</a:t>
                      </a:r>
                    </a:p>
                  </a:txBody>
                  <a:tcPr anchor="ctr">
                    <a:solidFill>
                      <a:srgbClr val="FFFFFF"/>
                    </a:solidFill>
                  </a:tcPr>
                </a:tc>
                <a:tc>
                  <a:txBody>
                    <a:bodyPr wrap="square"/>
                    <a:lstStyle/>
                    <a:p>
                      <a:pPr algn="l">
                        <a:spcAft>
                          <a:spcPts val="0"/>
                        </a:spcAft>
                      </a:pPr>
                      <a:r>
                        <a:rPr sz="800" b="0">
                          <a:solidFill>
                            <a:srgbClr val="3E444C"/>
                          </a:solidFill>
                          <a:latin typeface="Arial"/>
                        </a:rPr>
                        <a:t>14 channels change monotonically across the 1-50 / 51-100 / 101-200 / &gt;200 bands</a:t>
                      </a:r>
                    </a:p>
                  </a:txBody>
                  <a:tcPr anchor="ctr">
                    <a:solidFill>
                      <a:srgbClr val="FFFFFF"/>
                    </a:solidFill>
                  </a:tcPr>
                </a:tc>
                <a:tc>
                  <a:txBody>
                    <a:bodyPr wrap="square"/>
                    <a:lstStyle/>
                    <a:p>
                      <a:pPr algn="l">
                        <a:spcAft>
                          <a:spcPts val="0"/>
                        </a:spcAft>
                      </a:pPr>
                      <a:r>
                        <a:rPr sz="800" b="0">
                          <a:solidFill>
                            <a:srgbClr val="3E444C"/>
                          </a:solidFill>
                          <a:latin typeface="Arial"/>
                        </a:rPr>
                        <a:t>prioritised for temporal features; report metrics by band</a:t>
                      </a:r>
                    </a:p>
                  </a:txBody>
                  <a:tcPr anchor="ctr">
                    <a:solidFill>
                      <a:srgbClr val="FFFFFF"/>
                    </a:solidFill>
                  </a:tcPr>
                </a:tc>
              </a:tr>
              <a:tr h="292608">
                <a:tc>
                  <a:txBody>
                    <a:bodyPr wrap="square"/>
                    <a:lstStyle/>
                    <a:p>
                      <a:pPr algn="l">
                        <a:spcAft>
                          <a:spcPts val="0"/>
                        </a:spcAft>
                      </a:pPr>
                      <a:r>
                        <a:rPr sz="800" b="0">
                          <a:solidFill>
                            <a:srgbClr val="3E444C"/>
                          </a:solidFill>
                          <a:latin typeface="Arial"/>
                        </a:rPr>
                        <a:t>Histograms and box plots</a:t>
                      </a:r>
                    </a:p>
                  </a:txBody>
                  <a:tcPr anchor="ctr">
                    <a:solidFill>
                      <a:srgbClr val="ECF4FA"/>
                    </a:solidFill>
                  </a:tcPr>
                </a:tc>
                <a:tc>
                  <a:txBody>
                    <a:bodyPr wrap="square"/>
                    <a:lstStyle/>
                    <a:p>
                      <a:pPr algn="l">
                        <a:spcAft>
                          <a:spcPts val="0"/>
                        </a:spcAft>
                      </a:pPr>
                      <a:r>
                        <a:rPr sz="800" b="0">
                          <a:solidFill>
                            <a:srgbClr val="3E444C"/>
                          </a:solidFill>
                          <a:latin typeface="Arial"/>
                        </a:rPr>
                        <a:t>05, 07, 16, 18 are discrete or regime-like</a:t>
                      </a:r>
                    </a:p>
                  </a:txBody>
                  <a:tcPr anchor="ctr">
                    <a:solidFill>
                      <a:srgbClr val="ECF4FA"/>
                    </a:solidFill>
                  </a:tcPr>
                </a:tc>
                <a:tc>
                  <a:txBody>
                    <a:bodyPr wrap="square"/>
                    <a:lstStyle/>
                    <a:p>
                      <a:pPr algn="l">
                        <a:spcAft>
                          <a:spcPts val="0"/>
                        </a:spcAft>
                      </a:pPr>
                      <a:r>
                        <a:rPr sz="800" b="0">
                          <a:solidFill>
                            <a:srgbClr val="3E444C"/>
                          </a:solidFill>
                          <a:latin typeface="Arial"/>
                        </a:rPr>
                        <a:t>operating-state features rather than smooth sensors</a:t>
                      </a:r>
                    </a:p>
                  </a:txBody>
                  <a:tcPr anchor="ctr">
                    <a:solidFill>
                      <a:srgbClr val="ECF4FA"/>
                    </a:solidFill>
                  </a:tcPr>
                </a:tc>
              </a:tr>
              <a:tr h="292608">
                <a:tc>
                  <a:txBody>
                    <a:bodyPr wrap="square"/>
                    <a:lstStyle/>
                    <a:p>
                      <a:pPr algn="l">
                        <a:spcAft>
                          <a:spcPts val="0"/>
                        </a:spcAft>
                      </a:pPr>
                      <a:r>
                        <a:rPr sz="800" b="0">
                          <a:solidFill>
                            <a:srgbClr val="3E444C"/>
                          </a:solidFill>
                          <a:latin typeface="Arial"/>
                        </a:rPr>
                        <a:t>Flatline duration</a:t>
                      </a:r>
                    </a:p>
                  </a:txBody>
                  <a:tcPr anchor="ctr">
                    <a:solidFill>
                      <a:srgbClr val="FFFFFF"/>
                    </a:solidFill>
                  </a:tcPr>
                </a:tc>
                <a:tc>
                  <a:txBody>
                    <a:bodyPr wrap="square"/>
                    <a:lstStyle/>
                    <a:p>
                      <a:pPr algn="l">
                        <a:spcAft>
                          <a:spcPts val="0"/>
                        </a:spcAft>
                      </a:pPr>
                      <a:r>
                        <a:rPr sz="800" b="0">
                          <a:solidFill>
                            <a:srgbClr val="3E444C"/>
                          </a:solidFill>
                          <a:latin typeface="Arial"/>
                        </a:rPr>
                        <a:t>20 and 27 are 100% flatlined; 03/08/14/17 above 92%; 07 at 96.5%</a:t>
                      </a:r>
                    </a:p>
                  </a:txBody>
                  <a:tcPr anchor="ctr">
                    <a:solidFill>
                      <a:srgbClr val="FFFFFF"/>
                    </a:solidFill>
                  </a:tcPr>
                </a:tc>
                <a:tc>
                  <a:txBody>
                    <a:bodyPr wrap="square"/>
                    <a:lstStyle/>
                    <a:p>
                      <a:pPr algn="l">
                        <a:spcAft>
                          <a:spcPts val="0"/>
                        </a:spcAft>
                      </a:pPr>
                      <a:r>
                        <a:rPr sz="800" b="0">
                          <a:solidFill>
                            <a:srgbClr val="3E444C"/>
                          </a:solidFill>
                          <a:latin typeface="Arial"/>
                        </a:rPr>
                        <a:t>removal for the six; state features for 07 and 16</a:t>
                      </a:r>
                    </a:p>
                  </a:txBody>
                  <a:tcPr anchor="ctr">
                    <a:solidFill>
                      <a:srgbClr val="FFFFFF"/>
                    </a:solidFill>
                  </a:tcPr>
                </a:tc>
              </a:tr>
            </a:tbl>
          </a:graphicData>
        </a:graphic>
      </p:graphicFrame>
      <p:sp>
        <p:nvSpPr>
          <p:cNvPr id="12" name="TextBox 11"/>
          <p:cNvSpPr txBox="1"/>
          <p:nvPr/>
        </p:nvSpPr>
        <p:spPr>
          <a:xfrm>
            <a:off x="466344" y="3767328"/>
            <a:ext cx="8247888" cy="548640"/>
          </a:xfrm>
          <a:prstGeom prst="rect">
            <a:avLst/>
          </a:prstGeom>
          <a:noFill/>
        </p:spPr>
        <p:txBody>
          <a:bodyPr wrap="square">
            <a:spAutoFit/>
          </a:bodyPr>
          <a:lstStyle/>
          <a:p>
            <a:pPr algn="l">
              <a:spcAft>
                <a:spcPts val="400"/>
              </a:spcAft>
            </a:pPr>
            <a:r>
              <a:rPr sz="950" b="0">
                <a:solidFill>
                  <a:srgbClr val="3E444C"/>
                </a:solidFill>
                <a:latin typeface="Arial"/>
              </a:rPr>
              <a:t>No channel was removed on distribution evidence alone. Skewness, extremes, flatlines and regimes are reasons to represent a channel differently; only UAV-grouped validation decides whether it earns its place.</a:t>
            </a:r>
          </a:p>
        </p:txBody>
      </p:sp>
      <p:sp>
        <p:nvSpPr>
          <p:cNvPr id="13" name="TextBox 12"/>
          <p:cNvSpPr txBox="1"/>
          <p:nvPr/>
        </p:nvSpPr>
        <p:spPr>
          <a:xfrm>
            <a:off x="466344" y="4535424"/>
            <a:ext cx="8247888" cy="164592"/>
          </a:xfrm>
          <a:prstGeom prst="rect">
            <a:avLst/>
          </a:prstGeom>
          <a:noFill/>
        </p:spPr>
        <p:txBody>
          <a:bodyPr wrap="square">
            <a:spAutoFit/>
          </a:bodyPr>
          <a:lstStyle/>
          <a:p>
            <a:pPr algn="l">
              <a:spcAft>
                <a:spcPts val="400"/>
              </a:spcAft>
            </a:pPr>
            <a:r>
              <a:rPr sz="900" b="0">
                <a:solidFill>
                  <a:srgbClr val="9F9998"/>
                </a:solidFill>
                <a:latin typeface="Arial"/>
              </a:rPr>
              <a:t>Source: literature_and_planning/development_documentation/phase_0_dataAnalysis.md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a:spcAft>
                <a:spcPts val="400"/>
              </a:spcAft>
            </a:pPr>
            <a:r>
              <a:rPr sz="1800" b="1">
                <a:solidFill>
                  <a:srgbClr val="3E444C"/>
                </a:solidFill>
                <a:latin typeface="Arial"/>
              </a:rPr>
              <a:t>Backup: redundancy, anomalies, and what was not removed</a:t>
            </a:r>
          </a:p>
        </p:txBody>
      </p:sp>
      <p:sp>
        <p:nvSpPr>
          <p:cNvPr id="3" name="Text Placeholder 2"/>
          <p:cNvSpPr>
            <a:spLocks noGrp="1"/>
          </p:cNvSpPr>
          <p:nvPr>
            <p:ph type="body" idx="13" sz="quarter"/>
          </p:nvPr>
        </p:nvSpPr>
        <p:spPr/>
        <p:txBody>
          <a:bodyPr wrap="square"/>
          <a:lstStyle/>
          <a:p>
            <a:pPr algn="l">
              <a:spcAft>
                <a:spcPts val="400"/>
              </a:spcAft>
            </a:pPr>
            <a:r>
              <a:rPr sz="1400" b="0">
                <a:solidFill>
                  <a:srgbClr val="9F9998"/>
                </a:solidFill>
                <a:latin typeface="Arial"/>
              </a:rPr>
              <a:t>The strongest correlated pairs and the anomaly rates; every warning became an experiment</a:t>
            </a:r>
          </a:p>
        </p:txBody>
      </p:sp>
      <p:sp>
        <p:nvSpPr>
          <p:cNvPr id="7" name="Datumsplatzhalter 6">
            <a:extLst>
              <a:ext uri="{FF2B5EF4-FFF2-40B4-BE49-F238E27FC236}">
                <a16:creationId xmlns:a16="http://schemas.microsoft.com/office/drawing/2014/main" id="{124A6A03-5D2E-417E-9A62-737D1DBC92ED}"/>
              </a:ext>
              <a:ext uri="{C183D7F6-B498-43B3-948B-1728B52AA6E4}">
                <adec:decorative xmlns:adec="http://schemas.microsoft.com/office/drawing/2017/decorative" val="1"/>
              </a:ext>
            </a:extLst>
          </p:cNvPr>
          <p:cNvSpPr>
            <a:spLocks noGrp="1"/>
          </p:cNvSpPr>
          <p:nvPr>
            <p:ph type="dt" sz="half" idx="14"/>
          </p:nvPr>
        </p:nvSpPr>
        <p:spPr>
          <a:xfrm>
            <a:off x="6492240" y="4873752"/>
            <a:ext cx="1737360" cy="146304"/>
          </a:xfrm>
        </p:spPr>
        <p:txBody>
          <a:bodyPr/>
          <a:lstStyle/>
          <a:p>
            <a:pPr algn="r"/>
            <a:r>
              <a:rPr lang="de-DE"/>
              <a:t>9 September 2026</a:t>
            </a:r>
            <a:endParaRPr lang="en-US" dirty="0"/>
          </a:p>
        </p:txBody>
      </p:sp>
      <p:sp>
        <p:nvSpPr>
          <p:cNvPr id="8" name="Fußzeilenplatzhalter 7">
            <a:extLst>
              <a:ext uri="{FF2B5EF4-FFF2-40B4-BE49-F238E27FC236}">
                <a16:creationId xmlns:a16="http://schemas.microsoft.com/office/drawing/2014/main" id="{90427F68-7D65-4111-9D28-F407D044A73B}"/>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UAV remaining useful life estimation</a:t>
            </a:r>
            <a:endParaRPr lang="en-US" dirty="0"/>
          </a:p>
        </p:txBody>
      </p:sp>
      <p:sp>
        <p:nvSpPr>
          <p:cNvPr id="10" name="Foliennummernplatzhalter 9">
            <a:extLst>
              <a:ext uri="{FF2B5EF4-FFF2-40B4-BE49-F238E27FC236}">
                <a16:creationId xmlns:a16="http://schemas.microsoft.com/office/drawing/2014/main" id="{BC2B8577-8AB8-42B5-8BA8-1751A412246A}"/>
              </a:ext>
              <a:ext uri="{C183D7F6-B498-43B3-948B-1728B52AA6E4}">
                <adec:decorative xmlns:adec="http://schemas.microsoft.com/office/drawing/2017/decorative" val="1"/>
              </a:ext>
            </a:extLst>
          </p:cNvPr>
          <p:cNvSpPr>
            <a:spLocks noGrp="1"/>
          </p:cNvSpPr>
          <p:nvPr>
            <p:ph type="sldNum" sz="quarter" idx="16"/>
          </p:nvPr>
        </p:nvSpPr>
        <p:spPr/>
        <p:txBody>
          <a:bodyPr/>
          <a:lstStyle/>
          <a:p>
            <a:fld id="{9E82CC3C-1DC0-4FDA-9590-6CC506AB67F8}" type="slidenum">
              <a:rPr lang="en-US" smtClean="0"/>
              <a:pPr/>
              <a:t>‹Nr.›</a:t>
            </a:fld>
            <a:endParaRPr lang="en-US" dirty="0"/>
          </a:p>
        </p:txBody>
      </p:sp>
      <p:sp>
        <p:nvSpPr>
          <p:cNvPr id="11" name="TextBox 10"/>
          <p:cNvSpPr txBox="1"/>
          <p:nvPr/>
        </p:nvSpPr>
        <p:spPr>
          <a:xfrm>
            <a:off x="466344" y="1005840"/>
            <a:ext cx="3986783" cy="201168"/>
          </a:xfrm>
          <a:prstGeom prst="rect">
            <a:avLst/>
          </a:prstGeom>
          <a:noFill/>
        </p:spPr>
        <p:txBody>
          <a:bodyPr wrap="square">
            <a:spAutoFit/>
          </a:bodyPr>
          <a:lstStyle/>
          <a:p>
            <a:pPr algn="l">
              <a:spcAft>
                <a:spcPts val="400"/>
              </a:spcAft>
            </a:pPr>
            <a:r>
              <a:rPr sz="1050" b="1">
                <a:solidFill>
                  <a:srgbClr val="00519E"/>
                </a:solidFill>
                <a:latin typeface="Arial"/>
              </a:rPr>
              <a:t>Strongest correlated pairs</a:t>
            </a:r>
          </a:p>
        </p:txBody>
      </p:sp>
      <p:graphicFrame>
        <p:nvGraphicFramePr>
          <p:cNvPr id="12" name="Table 11"/>
          <p:cNvGraphicFramePr>
            <a:graphicFrameLocks noGrp="1"/>
          </p:cNvGraphicFramePr>
          <p:nvPr/>
        </p:nvGraphicFramePr>
        <p:xfrm>
          <a:off x="466344" y="1243584"/>
          <a:ext cx="3986784" cy="1664208"/>
        </p:xfrm>
        <a:graphic>
          <a:graphicData uri="http://schemas.openxmlformats.org/drawingml/2006/table">
            <a:tbl>
              <a:tblPr firstRow="1" bandRow="1">
                <a:tableStyleId>{5C22544A-7EE6-4342-B048-85BDC9FD1C3A}</a:tableStyleId>
              </a:tblPr>
              <a:tblGrid>
                <a:gridCol w="1481328"/>
                <a:gridCol w="841248"/>
                <a:gridCol w="841248"/>
                <a:gridCol w="822960"/>
              </a:tblGrid>
              <a:tr h="237744">
                <a:tc>
                  <a:txBody>
                    <a:bodyPr wrap="square"/>
                    <a:lstStyle/>
                    <a:p>
                      <a:pPr algn="l">
                        <a:spcAft>
                          <a:spcPts val="0"/>
                        </a:spcAft>
                      </a:pPr>
                      <a:r>
                        <a:rPr sz="900" b="1">
                          <a:solidFill>
                            <a:srgbClr val="FFFFFF"/>
                          </a:solidFill>
                          <a:latin typeface="Arial"/>
                        </a:rPr>
                        <a:t>pair</a:t>
                      </a:r>
                    </a:p>
                  </a:txBody>
                  <a:tcPr anchor="ctr">
                    <a:solidFill>
                      <a:srgbClr val="00519E"/>
                    </a:solidFill>
                  </a:tcPr>
                </a:tc>
                <a:tc>
                  <a:txBody>
                    <a:bodyPr wrap="square"/>
                    <a:lstStyle/>
                    <a:p>
                      <a:pPr algn="l">
                        <a:spcAft>
                          <a:spcPts val="0"/>
                        </a:spcAft>
                      </a:pPr>
                      <a:r>
                        <a:rPr sz="900" b="1">
                          <a:solidFill>
                            <a:srgbClr val="FFFFFF"/>
                          </a:solidFill>
                          <a:latin typeface="Arial"/>
                        </a:rPr>
                        <a:t>row r</a:t>
                      </a:r>
                    </a:p>
                  </a:txBody>
                  <a:tcPr anchor="ctr">
                    <a:solidFill>
                      <a:srgbClr val="00519E"/>
                    </a:solidFill>
                  </a:tcPr>
                </a:tc>
                <a:tc>
                  <a:txBody>
                    <a:bodyPr wrap="square"/>
                    <a:lstStyle/>
                    <a:p>
                      <a:pPr algn="l">
                        <a:spcAft>
                          <a:spcPts val="0"/>
                        </a:spcAft>
                      </a:pPr>
                      <a:r>
                        <a:rPr sz="900" b="1">
                          <a:solidFill>
                            <a:srgbClr val="FFFFFF"/>
                          </a:solidFill>
                          <a:latin typeface="Arial"/>
                        </a:rPr>
                        <a:t>UAV r</a:t>
                      </a:r>
                    </a:p>
                  </a:txBody>
                  <a:tcPr anchor="ctr">
                    <a:solidFill>
                      <a:srgbClr val="00519E"/>
                    </a:solidFill>
                  </a:tcPr>
                </a:tc>
                <a:tc>
                  <a:txBody>
                    <a:bodyPr wrap="square"/>
                    <a:lstStyle/>
                    <a:p>
                      <a:pPr algn="l">
                        <a:spcAft>
                          <a:spcPts val="0"/>
                        </a:spcAft>
                      </a:pPr>
                      <a:r>
                        <a:rPr sz="900" b="1">
                          <a:solidFill>
                            <a:srgbClr val="FFFFFF"/>
                          </a:solidFill>
                          <a:latin typeface="Arial"/>
                        </a:rPr>
                        <a:t>group</a:t>
                      </a:r>
                    </a:p>
                  </a:txBody>
                  <a:tcPr anchor="ctr">
                    <a:solidFill>
                      <a:srgbClr val="00519E"/>
                    </a:solidFill>
                  </a:tcPr>
                </a:tc>
              </a:tr>
              <a:tr h="237744">
                <a:tc>
                  <a:txBody>
                    <a:bodyPr wrap="square"/>
                    <a:lstStyle/>
                    <a:p>
                      <a:pPr algn="l">
                        <a:spcAft>
                          <a:spcPts val="0"/>
                        </a:spcAft>
                      </a:pPr>
                      <a:r>
                        <a:rPr sz="900" b="0">
                          <a:solidFill>
                            <a:srgbClr val="3E444C"/>
                          </a:solidFill>
                          <a:latin typeface="Arial"/>
                        </a:rPr>
                        <a:t>telemetry_19 / 21</a:t>
                      </a:r>
                    </a:p>
                  </a:txBody>
                  <a:tcPr anchor="ctr">
                    <a:solidFill>
                      <a:srgbClr val="ECF4FA"/>
                    </a:solidFill>
                  </a:tcPr>
                </a:tc>
                <a:tc>
                  <a:txBody>
                    <a:bodyPr wrap="square"/>
                    <a:lstStyle/>
                    <a:p>
                      <a:pPr algn="l">
                        <a:spcAft>
                          <a:spcPts val="0"/>
                        </a:spcAft>
                      </a:pPr>
                      <a:r>
                        <a:rPr sz="900" b="0">
                          <a:solidFill>
                            <a:srgbClr val="3E444C"/>
                          </a:solidFill>
                          <a:latin typeface="Arial"/>
                        </a:rPr>
                        <a:t>0.963</a:t>
                      </a:r>
                    </a:p>
                  </a:txBody>
                  <a:tcPr anchor="ctr">
                    <a:solidFill>
                      <a:srgbClr val="ECF4FA"/>
                    </a:solidFill>
                  </a:tcPr>
                </a:tc>
                <a:tc>
                  <a:txBody>
                    <a:bodyPr wrap="square"/>
                    <a:lstStyle/>
                    <a:p>
                      <a:pPr algn="l">
                        <a:spcAft>
                          <a:spcPts val="0"/>
                        </a:spcAft>
                      </a:pPr>
                      <a:r>
                        <a:rPr sz="900" b="0">
                          <a:solidFill>
                            <a:srgbClr val="3E444C"/>
                          </a:solidFill>
                          <a:latin typeface="Arial"/>
                        </a:rPr>
                        <a:t>0.999</a:t>
                      </a:r>
                    </a:p>
                  </a:txBody>
                  <a:tcPr anchor="ctr">
                    <a:solidFill>
                      <a:srgbClr val="ECF4FA"/>
                    </a:solidFill>
                  </a:tcPr>
                </a:tc>
                <a:tc>
                  <a:txBody>
                    <a:bodyPr wrap="square"/>
                    <a:lstStyle/>
                    <a:p>
                      <a:pPr algn="l">
                        <a:spcAft>
                          <a:spcPts val="0"/>
                        </a:spcAft>
                      </a:pPr>
                      <a:r>
                        <a:rPr sz="900" b="0">
                          <a:solidFill>
                            <a:srgbClr val="3E444C"/>
                          </a:solidFill>
                          <a:latin typeface="Arial"/>
                        </a:rPr>
                        <a:t>1</a:t>
                      </a:r>
                    </a:p>
                  </a:txBody>
                  <a:tcPr anchor="ctr">
                    <a:solidFill>
                      <a:srgbClr val="ECF4FA"/>
                    </a:solidFill>
                  </a:tcPr>
                </a:tc>
              </a:tr>
              <a:tr h="237744">
                <a:tc>
                  <a:txBody>
                    <a:bodyPr wrap="square"/>
                    <a:lstStyle/>
                    <a:p>
                      <a:pPr algn="l">
                        <a:spcAft>
                          <a:spcPts val="0"/>
                        </a:spcAft>
                      </a:pPr>
                      <a:r>
                        <a:rPr sz="900" b="0">
                          <a:solidFill>
                            <a:srgbClr val="3E444C"/>
                          </a:solidFill>
                          <a:latin typeface="Arial"/>
                        </a:rPr>
                        <a:t>telemetry_06 / 12</a:t>
                      </a:r>
                    </a:p>
                  </a:txBody>
                  <a:tcPr anchor="ctr">
                    <a:solidFill>
                      <a:srgbClr val="FFFFFF"/>
                    </a:solidFill>
                  </a:tcPr>
                </a:tc>
                <a:tc>
                  <a:txBody>
                    <a:bodyPr wrap="square"/>
                    <a:lstStyle/>
                    <a:p>
                      <a:pPr algn="l">
                        <a:spcAft>
                          <a:spcPts val="0"/>
                        </a:spcAft>
                      </a:pPr>
                      <a:r>
                        <a:rPr sz="900" b="0">
                          <a:solidFill>
                            <a:srgbClr val="3E444C"/>
                          </a:solidFill>
                          <a:latin typeface="Arial"/>
                        </a:rPr>
                        <a:t>-0.839</a:t>
                      </a:r>
                    </a:p>
                  </a:txBody>
                  <a:tcPr anchor="ctr">
                    <a:solidFill>
                      <a:srgbClr val="FFFFFF"/>
                    </a:solidFill>
                  </a:tcPr>
                </a:tc>
                <a:tc>
                  <a:txBody>
                    <a:bodyPr wrap="square"/>
                    <a:lstStyle/>
                    <a:p>
                      <a:pPr algn="l">
                        <a:spcAft>
                          <a:spcPts val="0"/>
                        </a:spcAft>
                      </a:pPr>
                      <a:r>
                        <a:rPr sz="900" b="0">
                          <a:solidFill>
                            <a:srgbClr val="3E444C"/>
                          </a:solidFill>
                          <a:latin typeface="Arial"/>
                        </a:rPr>
                        <a:t>-0.999</a:t>
                      </a:r>
                    </a:p>
                  </a:txBody>
                  <a:tcPr anchor="ctr">
                    <a:solidFill>
                      <a:srgbClr val="FFFFFF"/>
                    </a:solidFill>
                  </a:tcPr>
                </a:tc>
                <a:tc>
                  <a:txBody>
                    <a:bodyPr wrap="square"/>
                    <a:lstStyle/>
                    <a:p>
                      <a:pPr algn="l">
                        <a:spcAft>
                          <a:spcPts val="0"/>
                        </a:spcAft>
                      </a:pPr>
                      <a:r>
                        <a:rPr sz="900" b="0">
                          <a:solidFill>
                            <a:srgbClr val="3E444C"/>
                          </a:solidFill>
                          <a:latin typeface="Arial"/>
                        </a:rPr>
                        <a:t>4</a:t>
                      </a:r>
                    </a:p>
                  </a:txBody>
                  <a:tcPr anchor="ctr">
                    <a:solidFill>
                      <a:srgbClr val="FFFFFF"/>
                    </a:solidFill>
                  </a:tcPr>
                </a:tc>
              </a:tr>
              <a:tr h="237744">
                <a:tc>
                  <a:txBody>
                    <a:bodyPr wrap="square"/>
                    <a:lstStyle/>
                    <a:p>
                      <a:pPr algn="l">
                        <a:spcAft>
                          <a:spcPts val="0"/>
                        </a:spcAft>
                      </a:pPr>
                      <a:r>
                        <a:rPr sz="900" b="0">
                          <a:solidFill>
                            <a:srgbClr val="3E444C"/>
                          </a:solidFill>
                          <a:latin typeface="Arial"/>
                        </a:rPr>
                        <a:t>telemetry_13 / 28</a:t>
                      </a:r>
                    </a:p>
                  </a:txBody>
                  <a:tcPr anchor="ctr">
                    <a:solidFill>
                      <a:srgbClr val="ECF4FA"/>
                    </a:solidFill>
                  </a:tcPr>
                </a:tc>
                <a:tc>
                  <a:txBody>
                    <a:bodyPr wrap="square"/>
                    <a:lstStyle/>
                    <a:p>
                      <a:pPr algn="l">
                        <a:spcAft>
                          <a:spcPts val="0"/>
                        </a:spcAft>
                      </a:pPr>
                      <a:r>
                        <a:rPr sz="900" b="0">
                          <a:solidFill>
                            <a:srgbClr val="3E444C"/>
                          </a:solidFill>
                          <a:latin typeface="Arial"/>
                        </a:rPr>
                        <a:t>-0.744</a:t>
                      </a:r>
                    </a:p>
                  </a:txBody>
                  <a:tcPr anchor="ctr">
                    <a:solidFill>
                      <a:srgbClr val="ECF4FA"/>
                    </a:solidFill>
                  </a:tcPr>
                </a:tc>
                <a:tc>
                  <a:txBody>
                    <a:bodyPr wrap="square"/>
                    <a:lstStyle/>
                    <a:p>
                      <a:pPr algn="l">
                        <a:spcAft>
                          <a:spcPts val="0"/>
                        </a:spcAft>
                      </a:pPr>
                      <a:r>
                        <a:rPr sz="900" b="0">
                          <a:solidFill>
                            <a:srgbClr val="3E444C"/>
                          </a:solidFill>
                          <a:latin typeface="Arial"/>
                        </a:rPr>
                        <a:t>-0.995</a:t>
                      </a:r>
                    </a:p>
                  </a:txBody>
                  <a:tcPr anchor="ctr">
                    <a:solidFill>
                      <a:srgbClr val="ECF4FA"/>
                    </a:solidFill>
                  </a:tcPr>
                </a:tc>
                <a:tc>
                  <a:txBody>
                    <a:bodyPr wrap="square"/>
                    <a:lstStyle/>
                    <a:p>
                      <a:pPr algn="l">
                        <a:spcAft>
                          <a:spcPts val="0"/>
                        </a:spcAft>
                      </a:pPr>
                      <a:r>
                        <a:rPr sz="900" b="0">
                          <a:solidFill>
                            <a:srgbClr val="3E444C"/>
                          </a:solidFill>
                          <a:latin typeface="Arial"/>
                        </a:rPr>
                        <a:t>3</a:t>
                      </a:r>
                    </a:p>
                  </a:txBody>
                  <a:tcPr anchor="ctr">
                    <a:solidFill>
                      <a:srgbClr val="ECF4FA"/>
                    </a:solidFill>
                  </a:tcPr>
                </a:tc>
              </a:tr>
              <a:tr h="237744">
                <a:tc>
                  <a:txBody>
                    <a:bodyPr wrap="square"/>
                    <a:lstStyle/>
                    <a:p>
                      <a:pPr algn="l">
                        <a:spcAft>
                          <a:spcPts val="0"/>
                        </a:spcAft>
                      </a:pPr>
                      <a:r>
                        <a:rPr sz="900" b="0">
                          <a:solidFill>
                            <a:srgbClr val="3E444C"/>
                          </a:solidFill>
                          <a:latin typeface="Arial"/>
                        </a:rPr>
                        <a:t>telemetry_25 / 28</a:t>
                      </a:r>
                    </a:p>
                  </a:txBody>
                  <a:tcPr anchor="ctr">
                    <a:solidFill>
                      <a:srgbClr val="FFFFFF"/>
                    </a:solidFill>
                  </a:tcPr>
                </a:tc>
                <a:tc>
                  <a:txBody>
                    <a:bodyPr wrap="square"/>
                    <a:lstStyle/>
                    <a:p>
                      <a:pPr algn="l">
                        <a:spcAft>
                          <a:spcPts val="0"/>
                        </a:spcAft>
                      </a:pPr>
                      <a:r>
                        <a:rPr sz="900" b="0">
                          <a:solidFill>
                            <a:srgbClr val="3E444C"/>
                          </a:solidFill>
                          <a:latin typeface="Arial"/>
                        </a:rPr>
                        <a:t>0.853</a:t>
                      </a:r>
                    </a:p>
                  </a:txBody>
                  <a:tcPr anchor="ctr">
                    <a:solidFill>
                      <a:srgbClr val="FFFFFF"/>
                    </a:solidFill>
                  </a:tcPr>
                </a:tc>
                <a:tc>
                  <a:txBody>
                    <a:bodyPr wrap="square"/>
                    <a:lstStyle/>
                    <a:p>
                      <a:pPr algn="l">
                        <a:spcAft>
                          <a:spcPts val="0"/>
                        </a:spcAft>
                      </a:pPr>
                      <a:r>
                        <a:rPr sz="900" b="0">
                          <a:solidFill>
                            <a:srgbClr val="3E444C"/>
                          </a:solidFill>
                          <a:latin typeface="Arial"/>
                        </a:rPr>
                        <a:t>0.993</a:t>
                      </a:r>
                    </a:p>
                  </a:txBody>
                  <a:tcPr anchor="ctr">
                    <a:solidFill>
                      <a:srgbClr val="FFFFFF"/>
                    </a:solidFill>
                  </a:tcPr>
                </a:tc>
                <a:tc>
                  <a:txBody>
                    <a:bodyPr wrap="square"/>
                    <a:lstStyle/>
                    <a:p>
                      <a:pPr algn="l">
                        <a:spcAft>
                          <a:spcPts val="0"/>
                        </a:spcAft>
                      </a:pPr>
                      <a:r>
                        <a:rPr sz="900" b="0">
                          <a:solidFill>
                            <a:srgbClr val="3E444C"/>
                          </a:solidFill>
                          <a:latin typeface="Arial"/>
                        </a:rPr>
                        <a:t>3</a:t>
                      </a:r>
                    </a:p>
                  </a:txBody>
                  <a:tcPr anchor="ctr">
                    <a:solidFill>
                      <a:srgbClr val="FFFFFF"/>
                    </a:solidFill>
                  </a:tcPr>
                </a:tc>
              </a:tr>
              <a:tr h="237744">
                <a:tc>
                  <a:txBody>
                    <a:bodyPr wrap="square"/>
                    <a:lstStyle/>
                    <a:p>
                      <a:pPr algn="l">
                        <a:spcAft>
                          <a:spcPts val="0"/>
                        </a:spcAft>
                      </a:pPr>
                      <a:r>
                        <a:rPr sz="900" b="0">
                          <a:solidFill>
                            <a:srgbClr val="3E444C"/>
                          </a:solidFill>
                          <a:latin typeface="Arial"/>
                        </a:rPr>
                        <a:t>telemetry_16 / 22</a:t>
                      </a:r>
                    </a:p>
                  </a:txBody>
                  <a:tcPr anchor="ctr">
                    <a:solidFill>
                      <a:srgbClr val="ECF4FA"/>
                    </a:solidFill>
                  </a:tcPr>
                </a:tc>
                <a:tc>
                  <a:txBody>
                    <a:bodyPr wrap="square"/>
                    <a:lstStyle/>
                    <a:p>
                      <a:pPr algn="l">
                        <a:spcAft>
                          <a:spcPts val="0"/>
                        </a:spcAft>
                      </a:pPr>
                      <a:r>
                        <a:rPr sz="900" b="0">
                          <a:solidFill>
                            <a:srgbClr val="3E444C"/>
                          </a:solidFill>
                          <a:latin typeface="Arial"/>
                        </a:rPr>
                        <a:t>-0.677</a:t>
                      </a:r>
                    </a:p>
                  </a:txBody>
                  <a:tcPr anchor="ctr">
                    <a:solidFill>
                      <a:srgbClr val="ECF4FA"/>
                    </a:solidFill>
                  </a:tcPr>
                </a:tc>
                <a:tc>
                  <a:txBody>
                    <a:bodyPr wrap="square"/>
                    <a:lstStyle/>
                    <a:p>
                      <a:pPr algn="l">
                        <a:spcAft>
                          <a:spcPts val="0"/>
                        </a:spcAft>
                      </a:pPr>
                      <a:r>
                        <a:rPr sz="900" b="0">
                          <a:solidFill>
                            <a:srgbClr val="3E444C"/>
                          </a:solidFill>
                          <a:latin typeface="Arial"/>
                        </a:rPr>
                        <a:t>-0.992</a:t>
                      </a:r>
                    </a:p>
                  </a:txBody>
                  <a:tcPr anchor="ctr">
                    <a:solidFill>
                      <a:srgbClr val="ECF4FA"/>
                    </a:solidFill>
                  </a:tcPr>
                </a:tc>
                <a:tc>
                  <a:txBody>
                    <a:bodyPr wrap="square"/>
                    <a:lstStyle/>
                    <a:p>
                      <a:pPr algn="l">
                        <a:spcAft>
                          <a:spcPts val="0"/>
                        </a:spcAft>
                      </a:pPr>
                      <a:r>
                        <a:rPr sz="900" b="0">
                          <a:solidFill>
                            <a:srgbClr val="3E444C"/>
                          </a:solidFill>
                          <a:latin typeface="Arial"/>
                        </a:rPr>
                        <a:t>3</a:t>
                      </a:r>
                    </a:p>
                  </a:txBody>
                  <a:tcPr anchor="ctr">
                    <a:solidFill>
                      <a:srgbClr val="ECF4FA"/>
                    </a:solidFill>
                  </a:tcPr>
                </a:tc>
              </a:tr>
              <a:tr h="237744">
                <a:tc>
                  <a:txBody>
                    <a:bodyPr wrap="square"/>
                    <a:lstStyle/>
                    <a:p>
                      <a:pPr algn="l">
                        <a:spcAft>
                          <a:spcPts val="0"/>
                        </a:spcAft>
                      </a:pPr>
                      <a:r>
                        <a:rPr sz="900" b="0">
                          <a:solidFill>
                            <a:srgbClr val="3E444C"/>
                          </a:solidFill>
                          <a:latin typeface="Arial"/>
                        </a:rPr>
                        <a:t>telemetry_15 / 23</a:t>
                      </a:r>
                    </a:p>
                  </a:txBody>
                  <a:tcPr anchor="ctr">
                    <a:solidFill>
                      <a:srgbClr val="FFFFFF"/>
                    </a:solidFill>
                  </a:tcPr>
                </a:tc>
                <a:tc>
                  <a:txBody>
                    <a:bodyPr wrap="square"/>
                    <a:lstStyle/>
                    <a:p>
                      <a:pPr algn="l">
                        <a:spcAft>
                          <a:spcPts val="0"/>
                        </a:spcAft>
                      </a:pPr>
                      <a:r>
                        <a:rPr sz="900" b="0">
                          <a:solidFill>
                            <a:srgbClr val="3E444C"/>
                          </a:solidFill>
                          <a:latin typeface="Arial"/>
                        </a:rPr>
                        <a:t>-0.954</a:t>
                      </a:r>
                    </a:p>
                  </a:txBody>
                  <a:tcPr anchor="ctr">
                    <a:solidFill>
                      <a:srgbClr val="FFFFFF"/>
                    </a:solidFill>
                  </a:tcPr>
                </a:tc>
                <a:tc>
                  <a:txBody>
                    <a:bodyPr wrap="square"/>
                    <a:lstStyle/>
                    <a:p>
                      <a:pPr algn="l">
                        <a:spcAft>
                          <a:spcPts val="0"/>
                        </a:spcAft>
                      </a:pPr>
                      <a:r>
                        <a:rPr sz="900" b="0">
                          <a:solidFill>
                            <a:srgbClr val="3E444C"/>
                          </a:solidFill>
                          <a:latin typeface="Arial"/>
                        </a:rPr>
                        <a:t>-0.983</a:t>
                      </a:r>
                    </a:p>
                  </a:txBody>
                  <a:tcPr anchor="ctr">
                    <a:solidFill>
                      <a:srgbClr val="FFFFFF"/>
                    </a:solidFill>
                  </a:tcPr>
                </a:tc>
                <a:tc>
                  <a:txBody>
                    <a:bodyPr wrap="square"/>
                    <a:lstStyle/>
                    <a:p>
                      <a:pPr algn="l">
                        <a:spcAft>
                          <a:spcPts val="0"/>
                        </a:spcAft>
                      </a:pPr>
                      <a:r>
                        <a:rPr sz="900" b="0">
                          <a:solidFill>
                            <a:srgbClr val="3E444C"/>
                          </a:solidFill>
                          <a:latin typeface="Arial"/>
                        </a:rPr>
                        <a:t>2</a:t>
                      </a:r>
                    </a:p>
                  </a:txBody>
                  <a:tcPr anchor="ctr">
                    <a:solidFill>
                      <a:srgbClr val="FFFFFF"/>
                    </a:solidFill>
                  </a:tcPr>
                </a:tc>
              </a:tr>
            </a:tbl>
          </a:graphicData>
        </a:graphic>
      </p:graphicFrame>
      <p:sp>
        <p:nvSpPr>
          <p:cNvPr id="13" name="TextBox 12"/>
          <p:cNvSpPr txBox="1"/>
          <p:nvPr/>
        </p:nvSpPr>
        <p:spPr>
          <a:xfrm>
            <a:off x="466344" y="2980944"/>
            <a:ext cx="3986783" cy="731520"/>
          </a:xfrm>
          <a:prstGeom prst="rect">
            <a:avLst/>
          </a:prstGeom>
          <a:noFill/>
        </p:spPr>
        <p:txBody>
          <a:bodyPr wrap="square">
            <a:spAutoFit/>
          </a:bodyPr>
          <a:lstStyle/>
          <a:p>
            <a:pPr algn="l">
              <a:spcAft>
                <a:spcPts val="400"/>
              </a:spcAft>
            </a:pPr>
            <a:r>
              <a:rPr sz="900" b="0">
                <a:solidFill>
                  <a:srgbClr val="3E444C"/>
                </a:solidFill>
                <a:latin typeface="Arial"/>
              </a:rPr>
              <a:t>Groups: 1 = 19/21 · 2 = 15/23 · 3 = 13/16/22/25/28 · 4 = 06/07/11/12/24.</a:t>
            </a:r>
          </a:p>
          <a:p>
            <a:pPr algn="l">
              <a:spcAft>
                <a:spcPts val="400"/>
              </a:spcAft>
            </a:pPr>
            <a:r>
              <a:rPr sz="900" b="0">
                <a:solidFill>
                  <a:srgbClr val="3E444C"/>
                </a:solidFill>
                <a:latin typeface="Arial"/>
              </a:rPr>
              <a:t>Fourteen of the twenty-two channels have a peer above 0.90 in at least one correlation view. None was removed here.</a:t>
            </a:r>
          </a:p>
        </p:txBody>
      </p:sp>
      <p:sp>
        <p:nvSpPr>
          <p:cNvPr id="14" name="TextBox 13"/>
          <p:cNvSpPr txBox="1"/>
          <p:nvPr/>
        </p:nvSpPr>
        <p:spPr>
          <a:xfrm>
            <a:off x="4727447" y="1005840"/>
            <a:ext cx="3986783" cy="201168"/>
          </a:xfrm>
          <a:prstGeom prst="rect">
            <a:avLst/>
          </a:prstGeom>
          <a:noFill/>
        </p:spPr>
        <p:txBody>
          <a:bodyPr wrap="square">
            <a:spAutoFit/>
          </a:bodyPr>
          <a:lstStyle/>
          <a:p>
            <a:pPr algn="l">
              <a:spcAft>
                <a:spcPts val="400"/>
              </a:spcAft>
            </a:pPr>
            <a:r>
              <a:rPr sz="1050" b="1">
                <a:solidFill>
                  <a:srgbClr val="00519E"/>
                </a:solidFill>
                <a:latin typeface="Arial"/>
              </a:rPr>
              <a:t>Anomaly diagnostics, training split</a:t>
            </a:r>
          </a:p>
        </p:txBody>
      </p:sp>
      <p:graphicFrame>
        <p:nvGraphicFramePr>
          <p:cNvPr id="15" name="Table 14"/>
          <p:cNvGraphicFramePr>
            <a:graphicFrameLocks noGrp="1"/>
          </p:cNvGraphicFramePr>
          <p:nvPr/>
        </p:nvGraphicFramePr>
        <p:xfrm>
          <a:off x="4727447" y="1243584"/>
          <a:ext cx="3986784" cy="1664208"/>
        </p:xfrm>
        <a:graphic>
          <a:graphicData uri="http://schemas.openxmlformats.org/drawingml/2006/table">
            <a:tbl>
              <a:tblPr firstRow="1" bandRow="1">
                <a:tableStyleId>{5C22544A-7EE6-4342-B048-85BDC9FD1C3A}</a:tableStyleId>
              </a:tblPr>
              <a:tblGrid>
                <a:gridCol w="1060704"/>
                <a:gridCol w="969264"/>
                <a:gridCol w="566928"/>
                <a:gridCol w="822960"/>
                <a:gridCol w="566928"/>
              </a:tblGrid>
              <a:tr h="237744">
                <a:tc>
                  <a:txBody>
                    <a:bodyPr wrap="square"/>
                    <a:lstStyle/>
                    <a:p>
                      <a:pPr algn="l">
                        <a:spcAft>
                          <a:spcPts val="0"/>
                        </a:spcAft>
                      </a:pPr>
                      <a:r>
                        <a:rPr sz="900" b="1">
                          <a:solidFill>
                            <a:srgbClr val="FFFFFF"/>
                          </a:solidFill>
                          <a:latin typeface="Arial"/>
                        </a:rPr>
                        <a:t>channel</a:t>
                      </a:r>
                    </a:p>
                  </a:txBody>
                  <a:tcPr anchor="ctr">
                    <a:solidFill>
                      <a:srgbClr val="00519E"/>
                    </a:solidFill>
                  </a:tcPr>
                </a:tc>
                <a:tc>
                  <a:txBody>
                    <a:bodyPr wrap="square"/>
                    <a:lstStyle/>
                    <a:p>
                      <a:pPr algn="l">
                        <a:spcAft>
                          <a:spcPts val="0"/>
                        </a:spcAft>
                      </a:pPr>
                      <a:r>
                        <a:rPr sz="900" b="1">
                          <a:solidFill>
                            <a:srgbClr val="FFFFFF"/>
                          </a:solidFill>
                          <a:latin typeface="Arial"/>
                        </a:rPr>
                        <a:t>extreme rows</a:t>
                      </a:r>
                    </a:p>
                  </a:txBody>
                  <a:tcPr anchor="ctr">
                    <a:solidFill>
                      <a:srgbClr val="00519E"/>
                    </a:solidFill>
                  </a:tcPr>
                </a:tc>
                <a:tc>
                  <a:txBody>
                    <a:bodyPr wrap="square"/>
                    <a:lstStyle/>
                    <a:p>
                      <a:pPr algn="l">
                        <a:spcAft>
                          <a:spcPts val="0"/>
                        </a:spcAft>
                      </a:pPr>
                      <a:r>
                        <a:rPr sz="900" b="1">
                          <a:solidFill>
                            <a:srgbClr val="FFFFFF"/>
                          </a:solidFill>
                          <a:latin typeface="Arial"/>
                        </a:rPr>
                        <a:t>UAVs</a:t>
                      </a:r>
                    </a:p>
                  </a:txBody>
                  <a:tcPr anchor="ctr">
                    <a:solidFill>
                      <a:srgbClr val="00519E"/>
                    </a:solidFill>
                  </a:tcPr>
                </a:tc>
                <a:tc>
                  <a:txBody>
                    <a:bodyPr wrap="square"/>
                    <a:lstStyle/>
                    <a:p>
                      <a:pPr algn="l">
                        <a:spcAft>
                          <a:spcPts val="0"/>
                        </a:spcAft>
                      </a:pPr>
                      <a:r>
                        <a:rPr sz="900" b="1">
                          <a:solidFill>
                            <a:srgbClr val="FFFFFF"/>
                          </a:solidFill>
                          <a:latin typeface="Arial"/>
                        </a:rPr>
                        <a:t>jump rows</a:t>
                      </a:r>
                    </a:p>
                  </a:txBody>
                  <a:tcPr anchor="ctr">
                    <a:solidFill>
                      <a:srgbClr val="00519E"/>
                    </a:solidFill>
                  </a:tcPr>
                </a:tc>
                <a:tc>
                  <a:txBody>
                    <a:bodyPr wrap="square"/>
                    <a:lstStyle/>
                    <a:p>
                      <a:pPr algn="l">
                        <a:spcAft>
                          <a:spcPts val="0"/>
                        </a:spcAft>
                      </a:pPr>
                      <a:r>
                        <a:rPr sz="900" b="1">
                          <a:solidFill>
                            <a:srgbClr val="FFFFFF"/>
                          </a:solidFill>
                          <a:latin typeface="Arial"/>
                        </a:rPr>
                        <a:t>UAVs</a:t>
                      </a:r>
                    </a:p>
                  </a:txBody>
                  <a:tcPr anchor="ctr">
                    <a:solidFill>
                      <a:srgbClr val="00519E"/>
                    </a:solidFill>
                  </a:tcPr>
                </a:tc>
              </a:tr>
              <a:tr h="237744">
                <a:tc>
                  <a:txBody>
                    <a:bodyPr wrap="square"/>
                    <a:lstStyle/>
                    <a:p>
                      <a:pPr algn="l">
                        <a:spcAft>
                          <a:spcPts val="0"/>
                        </a:spcAft>
                      </a:pPr>
                      <a:r>
                        <a:rPr sz="900" b="0">
                          <a:solidFill>
                            <a:srgbClr val="3E444C"/>
                          </a:solidFill>
                          <a:latin typeface="Arial"/>
                        </a:rPr>
                        <a:t>telemetry_26</a:t>
                      </a:r>
                    </a:p>
                  </a:txBody>
                  <a:tcPr anchor="ctr">
                    <a:solidFill>
                      <a:srgbClr val="ECF4FA"/>
                    </a:solidFill>
                  </a:tcPr>
                </a:tc>
                <a:tc>
                  <a:txBody>
                    <a:bodyPr wrap="square"/>
                    <a:lstStyle/>
                    <a:p>
                      <a:pPr algn="l">
                        <a:spcAft>
                          <a:spcPts val="0"/>
                        </a:spcAft>
                      </a:pPr>
                      <a:r>
                        <a:rPr sz="900" b="0">
                          <a:solidFill>
                            <a:srgbClr val="3E444C"/>
                          </a:solidFill>
                          <a:latin typeface="Arial"/>
                        </a:rPr>
                        <a:t>8.45%</a:t>
                      </a:r>
                    </a:p>
                  </a:txBody>
                  <a:tcPr anchor="ctr">
                    <a:solidFill>
                      <a:srgbClr val="ECF4FA"/>
                    </a:solidFill>
                  </a:tcPr>
                </a:tc>
                <a:tc>
                  <a:txBody>
                    <a:bodyPr wrap="square"/>
                    <a:lstStyle/>
                    <a:p>
                      <a:pPr algn="l">
                        <a:spcAft>
                          <a:spcPts val="0"/>
                        </a:spcAft>
                      </a:pPr>
                      <a:r>
                        <a:rPr sz="900" b="0">
                          <a:solidFill>
                            <a:srgbClr val="3E444C"/>
                          </a:solidFill>
                          <a:latin typeface="Arial"/>
                        </a:rPr>
                        <a:t>48</a:t>
                      </a:r>
                    </a:p>
                  </a:txBody>
                  <a:tcPr anchor="ctr">
                    <a:solidFill>
                      <a:srgbClr val="ECF4FA"/>
                    </a:solidFill>
                  </a:tcPr>
                </a:tc>
                <a:tc>
                  <a:txBody>
                    <a:bodyPr wrap="square"/>
                    <a:lstStyle/>
                    <a:p>
                      <a:pPr algn="l">
                        <a:spcAft>
                          <a:spcPts val="0"/>
                        </a:spcAft>
                      </a:pPr>
                      <a:r>
                        <a:rPr sz="900" b="0">
                          <a:solidFill>
                            <a:srgbClr val="3E444C"/>
                          </a:solidFill>
                          <a:latin typeface="Arial"/>
                        </a:rPr>
                        <a:t>2.02%</a:t>
                      </a:r>
                    </a:p>
                  </a:txBody>
                  <a:tcPr anchor="ctr">
                    <a:solidFill>
                      <a:srgbClr val="ECF4FA"/>
                    </a:solidFill>
                  </a:tcPr>
                </a:tc>
                <a:tc>
                  <a:txBody>
                    <a:bodyPr wrap="square"/>
                    <a:lstStyle/>
                    <a:p>
                      <a:pPr algn="l">
                        <a:spcAft>
                          <a:spcPts val="0"/>
                        </a:spcAft>
                      </a:pPr>
                      <a:r>
                        <a:rPr sz="900" b="0">
                          <a:solidFill>
                            <a:srgbClr val="3E444C"/>
                          </a:solidFill>
                          <a:latin typeface="Arial"/>
                        </a:rPr>
                        <a:t>8</a:t>
                      </a:r>
                    </a:p>
                  </a:txBody>
                  <a:tcPr anchor="ctr">
                    <a:solidFill>
                      <a:srgbClr val="ECF4FA"/>
                    </a:solidFill>
                  </a:tcPr>
                </a:tc>
              </a:tr>
              <a:tr h="237744">
                <a:tc>
                  <a:txBody>
                    <a:bodyPr wrap="square"/>
                    <a:lstStyle/>
                    <a:p>
                      <a:pPr algn="l">
                        <a:spcAft>
                          <a:spcPts val="0"/>
                        </a:spcAft>
                      </a:pPr>
                      <a:r>
                        <a:rPr sz="900" b="0">
                          <a:solidFill>
                            <a:srgbClr val="3E444C"/>
                          </a:solidFill>
                          <a:latin typeface="Arial"/>
                        </a:rPr>
                        <a:t>telemetry_18</a:t>
                      </a:r>
                    </a:p>
                  </a:txBody>
                  <a:tcPr anchor="ctr">
                    <a:solidFill>
                      <a:srgbClr val="FFFFFF"/>
                    </a:solidFill>
                  </a:tcPr>
                </a:tc>
                <a:tc>
                  <a:txBody>
                    <a:bodyPr wrap="square"/>
                    <a:lstStyle/>
                    <a:p>
                      <a:pPr algn="l">
                        <a:spcAft>
                          <a:spcPts val="0"/>
                        </a:spcAft>
                      </a:pPr>
                      <a:r>
                        <a:rPr sz="900" b="0">
                          <a:solidFill>
                            <a:srgbClr val="3E444C"/>
                          </a:solidFill>
                          <a:latin typeface="Arial"/>
                        </a:rPr>
                        <a:t>7.25%</a:t>
                      </a:r>
                    </a:p>
                  </a:txBody>
                  <a:tcPr anchor="ctr">
                    <a:solidFill>
                      <a:srgbClr val="FFFFFF"/>
                    </a:solidFill>
                  </a:tcPr>
                </a:tc>
                <a:tc>
                  <a:txBody>
                    <a:bodyPr wrap="square"/>
                    <a:lstStyle/>
                    <a:p>
                      <a:pPr algn="l">
                        <a:spcAft>
                          <a:spcPts val="0"/>
                        </a:spcAft>
                      </a:pPr>
                      <a:r>
                        <a:rPr sz="900" b="0">
                          <a:solidFill>
                            <a:srgbClr val="3E444C"/>
                          </a:solidFill>
                          <a:latin typeface="Arial"/>
                        </a:rPr>
                        <a:t>9</a:t>
                      </a:r>
                    </a:p>
                  </a:txBody>
                  <a:tcPr anchor="ctr">
                    <a:solidFill>
                      <a:srgbClr val="FFFFFF"/>
                    </a:solidFill>
                  </a:tcPr>
                </a:tc>
                <a:tc>
                  <a:txBody>
                    <a:bodyPr wrap="square"/>
                    <a:lstStyle/>
                    <a:p>
                      <a:pPr algn="l">
                        <a:spcAft>
                          <a:spcPts val="0"/>
                        </a:spcAft>
                      </a:pPr>
                      <a:r>
                        <a:rPr sz="900" b="0">
                          <a:solidFill>
                            <a:srgbClr val="3E444C"/>
                          </a:solidFill>
                          <a:latin typeface="Arial"/>
                        </a:rPr>
                        <a:t>19.48%</a:t>
                      </a:r>
                    </a:p>
                  </a:txBody>
                  <a:tcPr anchor="ctr">
                    <a:solidFill>
                      <a:srgbClr val="FFFFFF"/>
                    </a:solidFill>
                  </a:tcPr>
                </a:tc>
                <a:tc>
                  <a:txBody>
                    <a:bodyPr wrap="square"/>
                    <a:lstStyle/>
                    <a:p>
                      <a:pPr algn="l">
                        <a:spcAft>
                          <a:spcPts val="0"/>
                        </a:spcAft>
                      </a:pPr>
                      <a:r>
                        <a:rPr sz="900" b="0">
                          <a:solidFill>
                            <a:srgbClr val="3E444C"/>
                          </a:solidFill>
                          <a:latin typeface="Arial"/>
                        </a:rPr>
                        <a:t>84</a:t>
                      </a:r>
                    </a:p>
                  </a:txBody>
                  <a:tcPr anchor="ctr">
                    <a:solidFill>
                      <a:srgbClr val="FFFFFF"/>
                    </a:solidFill>
                  </a:tcPr>
                </a:tc>
              </a:tr>
              <a:tr h="237744">
                <a:tc>
                  <a:txBody>
                    <a:bodyPr wrap="square"/>
                    <a:lstStyle/>
                    <a:p>
                      <a:pPr algn="l">
                        <a:spcAft>
                          <a:spcPts val="0"/>
                        </a:spcAft>
                      </a:pPr>
                      <a:r>
                        <a:rPr sz="900" b="0">
                          <a:solidFill>
                            <a:srgbClr val="3E444C"/>
                          </a:solidFill>
                          <a:latin typeface="Arial"/>
                        </a:rPr>
                        <a:t>telemetry_01</a:t>
                      </a:r>
                    </a:p>
                  </a:txBody>
                  <a:tcPr anchor="ctr">
                    <a:solidFill>
                      <a:srgbClr val="ECF4FA"/>
                    </a:solidFill>
                  </a:tcPr>
                </a:tc>
                <a:tc>
                  <a:txBody>
                    <a:bodyPr wrap="square"/>
                    <a:lstStyle/>
                    <a:p>
                      <a:pPr algn="l">
                        <a:spcAft>
                          <a:spcPts val="0"/>
                        </a:spcAft>
                      </a:pPr>
                      <a:r>
                        <a:rPr sz="900" b="0">
                          <a:solidFill>
                            <a:srgbClr val="3E444C"/>
                          </a:solidFill>
                          <a:latin typeface="Arial"/>
                        </a:rPr>
                        <a:t>5.28%</a:t>
                      </a:r>
                    </a:p>
                  </a:txBody>
                  <a:tcPr anchor="ctr">
                    <a:solidFill>
                      <a:srgbClr val="ECF4FA"/>
                    </a:solidFill>
                  </a:tcPr>
                </a:tc>
                <a:tc>
                  <a:txBody>
                    <a:bodyPr wrap="square"/>
                    <a:lstStyle/>
                    <a:p>
                      <a:pPr algn="l">
                        <a:spcAft>
                          <a:spcPts val="0"/>
                        </a:spcAft>
                      </a:pPr>
                      <a:r>
                        <a:rPr sz="900" b="0">
                          <a:solidFill>
                            <a:srgbClr val="3E444C"/>
                          </a:solidFill>
                          <a:latin typeface="Arial"/>
                        </a:rPr>
                        <a:t>8</a:t>
                      </a:r>
                    </a:p>
                  </a:txBody>
                  <a:tcPr anchor="ctr">
                    <a:solidFill>
                      <a:srgbClr val="ECF4FA"/>
                    </a:solidFill>
                  </a:tcPr>
                </a:tc>
                <a:tc>
                  <a:txBody>
                    <a:bodyPr wrap="square"/>
                    <a:lstStyle/>
                    <a:p>
                      <a:pPr algn="l">
                        <a:spcAft>
                          <a:spcPts val="0"/>
                        </a:spcAft>
                      </a:pPr>
                      <a:r>
                        <a:rPr sz="900" b="0">
                          <a:solidFill>
                            <a:srgbClr val="3E444C"/>
                          </a:solidFill>
                          <a:latin typeface="Arial"/>
                        </a:rPr>
                        <a:t>0.00%</a:t>
                      </a:r>
                    </a:p>
                  </a:txBody>
                  <a:tcPr anchor="ctr">
                    <a:solidFill>
                      <a:srgbClr val="ECF4FA"/>
                    </a:solidFill>
                  </a:tcPr>
                </a:tc>
                <a:tc>
                  <a:txBody>
                    <a:bodyPr wrap="square"/>
                    <a:lstStyle/>
                    <a:p>
                      <a:pPr algn="l">
                        <a:spcAft>
                          <a:spcPts val="0"/>
                        </a:spcAft>
                      </a:pPr>
                      <a:r>
                        <a:rPr sz="900" b="0">
                          <a:solidFill>
                            <a:srgbClr val="3E444C"/>
                          </a:solidFill>
                          <a:latin typeface="Arial"/>
                        </a:rPr>
                        <a:t>0</a:t>
                      </a:r>
                    </a:p>
                  </a:txBody>
                  <a:tcPr anchor="ctr">
                    <a:solidFill>
                      <a:srgbClr val="ECF4FA"/>
                    </a:solidFill>
                  </a:tcPr>
                </a:tc>
              </a:tr>
              <a:tr h="237744">
                <a:tc>
                  <a:txBody>
                    <a:bodyPr wrap="square"/>
                    <a:lstStyle/>
                    <a:p>
                      <a:pPr algn="l">
                        <a:spcAft>
                          <a:spcPts val="0"/>
                        </a:spcAft>
                      </a:pPr>
                      <a:r>
                        <a:rPr sz="900" b="0">
                          <a:solidFill>
                            <a:srgbClr val="3E444C"/>
                          </a:solidFill>
                          <a:latin typeface="Arial"/>
                        </a:rPr>
                        <a:t>telemetry_24</a:t>
                      </a:r>
                    </a:p>
                  </a:txBody>
                  <a:tcPr anchor="ctr">
                    <a:solidFill>
                      <a:srgbClr val="FFFFFF"/>
                    </a:solidFill>
                  </a:tcPr>
                </a:tc>
                <a:tc>
                  <a:txBody>
                    <a:bodyPr wrap="square"/>
                    <a:lstStyle/>
                    <a:p>
                      <a:pPr algn="l">
                        <a:spcAft>
                          <a:spcPts val="0"/>
                        </a:spcAft>
                      </a:pPr>
                      <a:r>
                        <a:rPr sz="900" b="0">
                          <a:solidFill>
                            <a:srgbClr val="3E444C"/>
                          </a:solidFill>
                          <a:latin typeface="Arial"/>
                        </a:rPr>
                        <a:t>4.63%</a:t>
                      </a:r>
                    </a:p>
                  </a:txBody>
                  <a:tcPr anchor="ctr">
                    <a:solidFill>
                      <a:srgbClr val="FFFFFF"/>
                    </a:solidFill>
                  </a:tcPr>
                </a:tc>
                <a:tc>
                  <a:txBody>
                    <a:bodyPr wrap="square"/>
                    <a:lstStyle/>
                    <a:p>
                      <a:pPr algn="l">
                        <a:spcAft>
                          <a:spcPts val="0"/>
                        </a:spcAft>
                      </a:pPr>
                      <a:r>
                        <a:rPr sz="900" b="0">
                          <a:solidFill>
                            <a:srgbClr val="3E444C"/>
                          </a:solidFill>
                          <a:latin typeface="Arial"/>
                        </a:rPr>
                        <a:t>99</a:t>
                      </a:r>
                    </a:p>
                  </a:txBody>
                  <a:tcPr anchor="ctr">
                    <a:solidFill>
                      <a:srgbClr val="FFFFFF"/>
                    </a:solidFill>
                  </a:tcPr>
                </a:tc>
                <a:tc>
                  <a:txBody>
                    <a:bodyPr wrap="square"/>
                    <a:lstStyle/>
                    <a:p>
                      <a:pPr algn="l">
                        <a:spcAft>
                          <a:spcPts val="0"/>
                        </a:spcAft>
                      </a:pPr>
                      <a:r>
                        <a:rPr sz="900" b="0">
                          <a:solidFill>
                            <a:srgbClr val="3E444C"/>
                          </a:solidFill>
                          <a:latin typeface="Arial"/>
                        </a:rPr>
                        <a:t>3.54%</a:t>
                      </a:r>
                    </a:p>
                  </a:txBody>
                  <a:tcPr anchor="ctr">
                    <a:solidFill>
                      <a:srgbClr val="FFFFFF"/>
                    </a:solidFill>
                  </a:tcPr>
                </a:tc>
                <a:tc>
                  <a:txBody>
                    <a:bodyPr wrap="square"/>
                    <a:lstStyle/>
                    <a:p>
                      <a:pPr algn="l">
                        <a:spcAft>
                          <a:spcPts val="0"/>
                        </a:spcAft>
                      </a:pPr>
                      <a:r>
                        <a:rPr sz="900" b="0">
                          <a:solidFill>
                            <a:srgbClr val="3E444C"/>
                          </a:solidFill>
                          <a:latin typeface="Arial"/>
                        </a:rPr>
                        <a:t>99</a:t>
                      </a:r>
                    </a:p>
                  </a:txBody>
                  <a:tcPr anchor="ctr">
                    <a:solidFill>
                      <a:srgbClr val="FFFFFF"/>
                    </a:solidFill>
                  </a:tcPr>
                </a:tc>
              </a:tr>
              <a:tr h="237744">
                <a:tc>
                  <a:txBody>
                    <a:bodyPr wrap="square"/>
                    <a:lstStyle/>
                    <a:p>
                      <a:pPr algn="l">
                        <a:spcAft>
                          <a:spcPts val="0"/>
                        </a:spcAft>
                      </a:pPr>
                      <a:r>
                        <a:rPr sz="900" b="0">
                          <a:solidFill>
                            <a:srgbClr val="3E444C"/>
                          </a:solidFill>
                          <a:latin typeface="Arial"/>
                        </a:rPr>
                        <a:t>telemetry_10</a:t>
                      </a:r>
                    </a:p>
                  </a:txBody>
                  <a:tcPr anchor="ctr">
                    <a:solidFill>
                      <a:srgbClr val="ECF4FA"/>
                    </a:solidFill>
                  </a:tcPr>
                </a:tc>
                <a:tc>
                  <a:txBody>
                    <a:bodyPr wrap="square"/>
                    <a:lstStyle/>
                    <a:p>
                      <a:pPr algn="l">
                        <a:spcAft>
                          <a:spcPts val="0"/>
                        </a:spcAft>
                      </a:pPr>
                      <a:r>
                        <a:rPr sz="900" b="0">
                          <a:solidFill>
                            <a:srgbClr val="3E444C"/>
                          </a:solidFill>
                          <a:latin typeface="Arial"/>
                        </a:rPr>
                        <a:t>1.80%</a:t>
                      </a:r>
                    </a:p>
                  </a:txBody>
                  <a:tcPr anchor="ctr">
                    <a:solidFill>
                      <a:srgbClr val="ECF4FA"/>
                    </a:solidFill>
                  </a:tcPr>
                </a:tc>
                <a:tc>
                  <a:txBody>
                    <a:bodyPr wrap="square"/>
                    <a:lstStyle/>
                    <a:p>
                      <a:pPr algn="l">
                        <a:spcAft>
                          <a:spcPts val="0"/>
                        </a:spcAft>
                      </a:pPr>
                      <a:r>
                        <a:rPr sz="900" b="0">
                          <a:solidFill>
                            <a:srgbClr val="3E444C"/>
                          </a:solidFill>
                          <a:latin typeface="Arial"/>
                        </a:rPr>
                        <a:t>99</a:t>
                      </a:r>
                    </a:p>
                  </a:txBody>
                  <a:tcPr anchor="ctr">
                    <a:solidFill>
                      <a:srgbClr val="ECF4FA"/>
                    </a:solidFill>
                  </a:tcPr>
                </a:tc>
                <a:tc>
                  <a:txBody>
                    <a:bodyPr wrap="square"/>
                    <a:lstStyle/>
                    <a:p>
                      <a:pPr algn="l">
                        <a:spcAft>
                          <a:spcPts val="0"/>
                        </a:spcAft>
                      </a:pPr>
                      <a:r>
                        <a:rPr sz="900" b="0">
                          <a:solidFill>
                            <a:srgbClr val="3E444C"/>
                          </a:solidFill>
                          <a:latin typeface="Arial"/>
                        </a:rPr>
                        <a:t>3.43%</a:t>
                      </a:r>
                    </a:p>
                  </a:txBody>
                  <a:tcPr anchor="ctr">
                    <a:solidFill>
                      <a:srgbClr val="ECF4FA"/>
                    </a:solidFill>
                  </a:tcPr>
                </a:tc>
                <a:tc>
                  <a:txBody>
                    <a:bodyPr wrap="square"/>
                    <a:lstStyle/>
                    <a:p>
                      <a:pPr algn="l">
                        <a:spcAft>
                          <a:spcPts val="0"/>
                        </a:spcAft>
                      </a:pPr>
                      <a:r>
                        <a:rPr sz="900" b="0">
                          <a:solidFill>
                            <a:srgbClr val="3E444C"/>
                          </a:solidFill>
                          <a:latin typeface="Arial"/>
                        </a:rPr>
                        <a:t>99</a:t>
                      </a:r>
                    </a:p>
                  </a:txBody>
                  <a:tcPr anchor="ctr">
                    <a:solidFill>
                      <a:srgbClr val="ECF4FA"/>
                    </a:solidFill>
                  </a:tcPr>
                </a:tc>
              </a:tr>
              <a:tr h="237744">
                <a:tc>
                  <a:txBody>
                    <a:bodyPr wrap="square"/>
                    <a:lstStyle/>
                    <a:p>
                      <a:pPr algn="l">
                        <a:spcAft>
                          <a:spcPts val="0"/>
                        </a:spcAft>
                      </a:pPr>
                      <a:r>
                        <a:rPr sz="900" b="0">
                          <a:solidFill>
                            <a:srgbClr val="3E444C"/>
                          </a:solidFill>
                          <a:latin typeface="Arial"/>
                        </a:rPr>
                        <a:t>telemetry_04</a:t>
                      </a:r>
                    </a:p>
                  </a:txBody>
                  <a:tcPr anchor="ctr">
                    <a:solidFill>
                      <a:srgbClr val="FFFFFF"/>
                    </a:solidFill>
                  </a:tcPr>
                </a:tc>
                <a:tc>
                  <a:txBody>
                    <a:bodyPr wrap="square"/>
                    <a:lstStyle/>
                    <a:p>
                      <a:pPr algn="l">
                        <a:spcAft>
                          <a:spcPts val="0"/>
                        </a:spcAft>
                      </a:pPr>
                      <a:r>
                        <a:rPr sz="900" b="0">
                          <a:solidFill>
                            <a:srgbClr val="3E444C"/>
                          </a:solidFill>
                          <a:latin typeface="Arial"/>
                        </a:rPr>
                        <a:t>1.80%</a:t>
                      </a:r>
                    </a:p>
                  </a:txBody>
                  <a:tcPr anchor="ctr">
                    <a:solidFill>
                      <a:srgbClr val="FFFFFF"/>
                    </a:solidFill>
                  </a:tcPr>
                </a:tc>
                <a:tc>
                  <a:txBody>
                    <a:bodyPr wrap="square"/>
                    <a:lstStyle/>
                    <a:p>
                      <a:pPr algn="l">
                        <a:spcAft>
                          <a:spcPts val="0"/>
                        </a:spcAft>
                      </a:pPr>
                      <a:r>
                        <a:rPr sz="900" b="0">
                          <a:solidFill>
                            <a:srgbClr val="3E444C"/>
                          </a:solidFill>
                          <a:latin typeface="Arial"/>
                        </a:rPr>
                        <a:t>99</a:t>
                      </a:r>
                    </a:p>
                  </a:txBody>
                  <a:tcPr anchor="ctr">
                    <a:solidFill>
                      <a:srgbClr val="FFFFFF"/>
                    </a:solidFill>
                  </a:tcPr>
                </a:tc>
                <a:tc>
                  <a:txBody>
                    <a:bodyPr wrap="square"/>
                    <a:lstStyle/>
                    <a:p>
                      <a:pPr algn="l">
                        <a:spcAft>
                          <a:spcPts val="0"/>
                        </a:spcAft>
                      </a:pPr>
                      <a:r>
                        <a:rPr sz="900" b="0">
                          <a:solidFill>
                            <a:srgbClr val="3E444C"/>
                          </a:solidFill>
                          <a:latin typeface="Arial"/>
                        </a:rPr>
                        <a:t>3.41%</a:t>
                      </a:r>
                    </a:p>
                  </a:txBody>
                  <a:tcPr anchor="ctr">
                    <a:solidFill>
                      <a:srgbClr val="FFFFFF"/>
                    </a:solidFill>
                  </a:tcPr>
                </a:tc>
                <a:tc>
                  <a:txBody>
                    <a:bodyPr wrap="square"/>
                    <a:lstStyle/>
                    <a:p>
                      <a:pPr algn="l">
                        <a:spcAft>
                          <a:spcPts val="0"/>
                        </a:spcAft>
                      </a:pPr>
                      <a:r>
                        <a:rPr sz="900" b="0">
                          <a:solidFill>
                            <a:srgbClr val="3E444C"/>
                          </a:solidFill>
                          <a:latin typeface="Arial"/>
                        </a:rPr>
                        <a:t>99</a:t>
                      </a:r>
                    </a:p>
                  </a:txBody>
                  <a:tcPr anchor="ctr">
                    <a:solidFill>
                      <a:srgbClr val="FFFFFF"/>
                    </a:solidFill>
                  </a:tcPr>
                </a:tc>
              </a:tr>
            </a:tbl>
          </a:graphicData>
        </a:graphic>
      </p:graphicFrame>
      <p:sp>
        <p:nvSpPr>
          <p:cNvPr id="16" name="Rounded Rectangle 15"/>
          <p:cNvSpPr/>
          <p:nvPr/>
        </p:nvSpPr>
        <p:spPr>
          <a:xfrm>
            <a:off x="4727447" y="2980944"/>
            <a:ext cx="3986783" cy="1133856"/>
          </a:xfrm>
          <a:prstGeom prst="roundRect">
            <a:avLst/>
          </a:prstGeom>
          <a:solidFill>
            <a:srgbClr val="FFD5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spcAft>
                <a:spcPts val="300"/>
              </a:spcAft>
            </a:pPr>
            <a:r>
              <a:rPr sz="900" b="1">
                <a:solidFill>
                  <a:srgbClr val="3E444C"/>
                </a:solidFill>
                <a:latin typeface="Arial"/>
              </a:rPr>
              <a:t>Nothing was deleted</a:t>
            </a:r>
          </a:p>
          <a:p>
            <a:pPr algn="l">
              <a:spcAft>
                <a:spcPts val="300"/>
              </a:spcAft>
            </a:pPr>
            <a:r>
              <a:rPr sz="900" b="0">
                <a:solidFill>
                  <a:srgbClr val="3E444C"/>
                </a:solidFill>
                <a:latin typeface="Arial"/>
              </a:rPr>
              <a:t>Extremes in 04, 10 and 24 occur in almost every UAV, which reads as normal operating behaviour. Those in 01 and 18 sit in 8 and 9 UAVs, so they read as UAV-specific regimes. Persistent shifts appear only in 19 and 21, five UAVs each, and became candidate change-point features.</a:t>
            </a:r>
          </a:p>
        </p:txBody>
      </p:sp>
      <p:sp>
        <p:nvSpPr>
          <p:cNvPr id="17" name="TextBox 16"/>
          <p:cNvSpPr txBox="1"/>
          <p:nvPr/>
        </p:nvSpPr>
        <p:spPr>
          <a:xfrm>
            <a:off x="466344" y="4535424"/>
            <a:ext cx="8247888" cy="164592"/>
          </a:xfrm>
          <a:prstGeom prst="rect">
            <a:avLst/>
          </a:prstGeom>
          <a:noFill/>
        </p:spPr>
        <p:txBody>
          <a:bodyPr wrap="square">
            <a:spAutoFit/>
          </a:bodyPr>
          <a:lstStyle/>
          <a:p>
            <a:pPr algn="l">
              <a:spcAft>
                <a:spcPts val="400"/>
              </a:spcAft>
            </a:pPr>
            <a:r>
              <a:rPr sz="900" b="0">
                <a:solidFill>
                  <a:srgbClr val="9F9998"/>
                </a:solidFill>
                <a:latin typeface="Arial"/>
              </a:rPr>
              <a:t>Source: 0_data_analysis/core_data_analysis/figures/feature_redundancy and figures/anomalies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a:spcAft>
                <a:spcPts val="400"/>
              </a:spcAft>
            </a:pPr>
            <a:r>
              <a:rPr sz="1800" b="1">
                <a:solidFill>
                  <a:srgbClr val="3E444C"/>
                </a:solidFill>
                <a:latin typeface="Arial"/>
              </a:rPr>
              <a:t>Backup: the 27 features derived from every channel</a:t>
            </a:r>
          </a:p>
        </p:txBody>
      </p:sp>
      <p:sp>
        <p:nvSpPr>
          <p:cNvPr id="3" name="Text Placeholder 2"/>
          <p:cNvSpPr>
            <a:spLocks noGrp="1"/>
          </p:cNvSpPr>
          <p:nvPr>
            <p:ph type="body" idx="13" sz="quarter"/>
          </p:nvPr>
        </p:nvSpPr>
        <p:spPr/>
        <p:txBody>
          <a:bodyPr wrap="square"/>
          <a:lstStyle/>
          <a:p>
            <a:pPr algn="l">
              <a:spcAft>
                <a:spcPts val="400"/>
              </a:spcAft>
            </a:pPr>
            <a:r>
              <a:rPr sz="1400" b="0">
                <a:solidFill>
                  <a:srgbClr val="9F9998"/>
                </a:solidFill>
                <a:latin typeface="Arial"/>
              </a:rPr>
              <a:t>All computed from cycles at or before the cutoff; verified by the prefix-causality assertion</a:t>
            </a:r>
          </a:p>
        </p:txBody>
      </p:sp>
      <p:sp>
        <p:nvSpPr>
          <p:cNvPr id="7" name="Datumsplatzhalter 6">
            <a:extLst>
              <a:ext uri="{FF2B5EF4-FFF2-40B4-BE49-F238E27FC236}">
                <a16:creationId xmlns:a16="http://schemas.microsoft.com/office/drawing/2014/main" id="{124A6A03-5D2E-417E-9A62-737D1DBC92ED}"/>
              </a:ext>
              <a:ext uri="{C183D7F6-B498-43B3-948B-1728B52AA6E4}">
                <adec:decorative xmlns:adec="http://schemas.microsoft.com/office/drawing/2017/decorative" val="1"/>
              </a:ext>
            </a:extLst>
          </p:cNvPr>
          <p:cNvSpPr>
            <a:spLocks noGrp="1"/>
          </p:cNvSpPr>
          <p:nvPr>
            <p:ph type="dt" sz="half" idx="14"/>
          </p:nvPr>
        </p:nvSpPr>
        <p:spPr>
          <a:xfrm>
            <a:off x="6492240" y="4873752"/>
            <a:ext cx="1737360" cy="146304"/>
          </a:xfrm>
        </p:spPr>
        <p:txBody>
          <a:bodyPr/>
          <a:lstStyle/>
          <a:p>
            <a:pPr algn="r"/>
            <a:r>
              <a:rPr lang="de-DE"/>
              <a:t>9 September 2026</a:t>
            </a:r>
            <a:endParaRPr lang="en-US" dirty="0"/>
          </a:p>
        </p:txBody>
      </p:sp>
      <p:sp>
        <p:nvSpPr>
          <p:cNvPr id="8" name="Fußzeilenplatzhalter 7">
            <a:extLst>
              <a:ext uri="{FF2B5EF4-FFF2-40B4-BE49-F238E27FC236}">
                <a16:creationId xmlns:a16="http://schemas.microsoft.com/office/drawing/2014/main" id="{90427F68-7D65-4111-9D28-F407D044A73B}"/>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UAV remaining useful life estimation</a:t>
            </a:r>
            <a:endParaRPr lang="en-US" dirty="0"/>
          </a:p>
        </p:txBody>
      </p:sp>
      <p:sp>
        <p:nvSpPr>
          <p:cNvPr id="10" name="Foliennummernplatzhalter 9">
            <a:extLst>
              <a:ext uri="{FF2B5EF4-FFF2-40B4-BE49-F238E27FC236}">
                <a16:creationId xmlns:a16="http://schemas.microsoft.com/office/drawing/2014/main" id="{BC2B8577-8AB8-42B5-8BA8-1751A412246A}"/>
              </a:ext>
              <a:ext uri="{C183D7F6-B498-43B3-948B-1728B52AA6E4}">
                <adec:decorative xmlns:adec="http://schemas.microsoft.com/office/drawing/2017/decorative" val="1"/>
              </a:ext>
            </a:extLst>
          </p:cNvPr>
          <p:cNvSpPr>
            <a:spLocks noGrp="1"/>
          </p:cNvSpPr>
          <p:nvPr>
            <p:ph type="sldNum" sz="quarter" idx="16"/>
          </p:nvPr>
        </p:nvSpPr>
        <p:spPr/>
        <p:txBody>
          <a:bodyPr/>
          <a:lstStyle/>
          <a:p>
            <a:fld id="{9E82CC3C-1DC0-4FDA-9590-6CC506AB67F8}" type="slidenum">
              <a:rPr lang="en-US" smtClean="0"/>
              <a:pPr/>
              <a:t>‹Nr.›</a:t>
            </a:fld>
            <a:endParaRPr lang="en-US" dirty="0"/>
          </a:p>
        </p:txBody>
      </p:sp>
      <p:graphicFrame>
        <p:nvGraphicFramePr>
          <p:cNvPr id="11" name="Table 10"/>
          <p:cNvGraphicFramePr>
            <a:graphicFrameLocks noGrp="1"/>
          </p:cNvGraphicFramePr>
          <p:nvPr/>
        </p:nvGraphicFramePr>
        <p:xfrm>
          <a:off x="466344" y="1024128"/>
          <a:ext cx="5230368" cy="2633472"/>
        </p:xfrm>
        <a:graphic>
          <a:graphicData uri="http://schemas.openxmlformats.org/drawingml/2006/table">
            <a:tbl>
              <a:tblPr firstRow="1" bandRow="1">
                <a:tableStyleId>{5C22544A-7EE6-4342-B048-85BDC9FD1C3A}</a:tableStyleId>
              </a:tblPr>
              <a:tblGrid>
                <a:gridCol w="1060704"/>
                <a:gridCol w="2011680"/>
                <a:gridCol w="2157984"/>
              </a:tblGrid>
              <a:tr h="329184">
                <a:tc>
                  <a:txBody>
                    <a:bodyPr wrap="square"/>
                    <a:lstStyle/>
                    <a:p>
                      <a:pPr algn="l">
                        <a:spcAft>
                          <a:spcPts val="0"/>
                        </a:spcAft>
                      </a:pPr>
                      <a:r>
                        <a:rPr sz="850" b="1">
                          <a:solidFill>
                            <a:srgbClr val="FFFFFF"/>
                          </a:solidFill>
                          <a:latin typeface="Arial"/>
                        </a:rPr>
                        <a:t>group</a:t>
                      </a:r>
                    </a:p>
                  </a:txBody>
                  <a:tcPr anchor="ctr">
                    <a:solidFill>
                      <a:srgbClr val="00519E"/>
                    </a:solidFill>
                  </a:tcPr>
                </a:tc>
                <a:tc>
                  <a:txBody>
                    <a:bodyPr wrap="square"/>
                    <a:lstStyle/>
                    <a:p>
                      <a:pPr algn="l">
                        <a:spcAft>
                          <a:spcPts val="0"/>
                        </a:spcAft>
                      </a:pPr>
                      <a:r>
                        <a:rPr sz="850" b="1">
                          <a:solidFill>
                            <a:srgbClr val="FFFFFF"/>
                          </a:solidFill>
                          <a:latin typeface="Arial"/>
                        </a:rPr>
                        <a:t>features</a:t>
                      </a:r>
                    </a:p>
                  </a:txBody>
                  <a:tcPr anchor="ctr">
                    <a:solidFill>
                      <a:srgbClr val="00519E"/>
                    </a:solidFill>
                  </a:tcPr>
                </a:tc>
                <a:tc>
                  <a:txBody>
                    <a:bodyPr wrap="square"/>
                    <a:lstStyle/>
                    <a:p>
                      <a:pPr algn="l">
                        <a:spcAft>
                          <a:spcPts val="0"/>
                        </a:spcAft>
                      </a:pPr>
                      <a:r>
                        <a:rPr sz="850" b="1">
                          <a:solidFill>
                            <a:srgbClr val="FFFFFF"/>
                          </a:solidFill>
                          <a:latin typeface="Arial"/>
                        </a:rPr>
                        <a:t>what it tells the model</a:t>
                      </a:r>
                    </a:p>
                  </a:txBody>
                  <a:tcPr anchor="ctr">
                    <a:solidFill>
                      <a:srgbClr val="00519E"/>
                    </a:solidFill>
                  </a:tcPr>
                </a:tc>
              </a:tr>
              <a:tr h="329184">
                <a:tc>
                  <a:txBody>
                    <a:bodyPr wrap="square"/>
                    <a:lstStyle/>
                    <a:p>
                      <a:pPr algn="l">
                        <a:spcAft>
                          <a:spcPts val="0"/>
                        </a:spcAft>
                      </a:pPr>
                      <a:r>
                        <a:rPr sz="850" b="0">
                          <a:solidFill>
                            <a:srgbClr val="3E444C"/>
                          </a:solidFill>
                          <a:latin typeface="Arial"/>
                        </a:rPr>
                        <a:t>Age</a:t>
                      </a:r>
                    </a:p>
                  </a:txBody>
                  <a:tcPr anchor="ctr">
                    <a:solidFill>
                      <a:srgbClr val="ECF4FA"/>
                    </a:solidFill>
                  </a:tcPr>
                </a:tc>
                <a:tc>
                  <a:txBody>
                    <a:bodyPr wrap="square"/>
                    <a:lstStyle/>
                    <a:p>
                      <a:pPr algn="l">
                        <a:spcAft>
                          <a:spcPts val="0"/>
                        </a:spcAft>
                      </a:pPr>
                      <a:r>
                        <a:rPr sz="850" b="0">
                          <a:solidFill>
                            <a:srgbClr val="3E444C"/>
                          </a:solidFill>
                          <a:latin typeface="Arial"/>
                        </a:rPr>
                        <a:t>c, log(1 + c)</a:t>
                      </a:r>
                    </a:p>
                  </a:txBody>
                  <a:tcPr anchor="ctr">
                    <a:solidFill>
                      <a:srgbClr val="ECF4FA"/>
                    </a:solidFill>
                  </a:tcPr>
                </a:tc>
                <a:tc>
                  <a:txBody>
                    <a:bodyPr wrap="square"/>
                    <a:lstStyle/>
                    <a:p>
                      <a:pPr algn="l">
                        <a:spcAft>
                          <a:spcPts val="0"/>
                        </a:spcAft>
                      </a:pPr>
                      <a:r>
                        <a:rPr sz="850" b="0">
                          <a:solidFill>
                            <a:srgbClr val="3E444C"/>
                          </a:solidFill>
                          <a:latin typeface="Arial"/>
                        </a:rPr>
                        <a:t>accumulated operating time</a:t>
                      </a:r>
                    </a:p>
                  </a:txBody>
                  <a:tcPr anchor="ctr">
                    <a:solidFill>
                      <a:srgbClr val="ECF4FA"/>
                    </a:solidFill>
                  </a:tcPr>
                </a:tc>
              </a:tr>
              <a:tr h="329184">
                <a:tc>
                  <a:txBody>
                    <a:bodyPr wrap="square"/>
                    <a:lstStyle/>
                    <a:p>
                      <a:pPr algn="l">
                        <a:spcAft>
                          <a:spcPts val="0"/>
                        </a:spcAft>
                      </a:pPr>
                      <a:r>
                        <a:rPr sz="850" b="0">
                          <a:solidFill>
                            <a:srgbClr val="3E444C"/>
                          </a:solidFill>
                          <a:latin typeface="Arial"/>
                        </a:rPr>
                        <a:t>Level</a:t>
                      </a:r>
                    </a:p>
                  </a:txBody>
                  <a:tcPr anchor="ctr">
                    <a:solidFill>
                      <a:srgbClr val="FFFFFF"/>
                    </a:solidFill>
                  </a:tcPr>
                </a:tc>
                <a:tc>
                  <a:txBody>
                    <a:bodyPr wrap="square"/>
                    <a:lstStyle/>
                    <a:p>
                      <a:pPr algn="l">
                        <a:spcAft>
                          <a:spcPts val="0"/>
                        </a:spcAft>
                      </a:pPr>
                      <a:r>
                        <a:rPr sz="850" b="0">
                          <a:solidFill>
                            <a:srgbClr val="3E444C"/>
                          </a:solidFill>
                          <a:latin typeface="Arial"/>
                        </a:rPr>
                        <a:t>x_1, x_c</a:t>
                      </a:r>
                    </a:p>
                  </a:txBody>
                  <a:tcPr anchor="ctr">
                    <a:solidFill>
                      <a:srgbClr val="FFFFFF"/>
                    </a:solidFill>
                  </a:tcPr>
                </a:tc>
                <a:tc>
                  <a:txBody>
                    <a:bodyPr wrap="square"/>
                    <a:lstStyle/>
                    <a:p>
                      <a:pPr algn="l">
                        <a:spcAft>
                          <a:spcPts val="0"/>
                        </a:spcAft>
                      </a:pPr>
                      <a:r>
                        <a:rPr sz="850" b="0">
                          <a:solidFill>
                            <a:srgbClr val="3E444C"/>
                          </a:solidFill>
                          <a:latin typeface="Arial"/>
                        </a:rPr>
                        <a:t>start level and value at prediction time</a:t>
                      </a:r>
                    </a:p>
                  </a:txBody>
                  <a:tcPr anchor="ctr">
                    <a:solidFill>
                      <a:srgbClr val="FFFFFF"/>
                    </a:solidFill>
                  </a:tcPr>
                </a:tc>
              </a:tr>
              <a:tr h="329184">
                <a:tc>
                  <a:txBody>
                    <a:bodyPr wrap="square"/>
                    <a:lstStyle/>
                    <a:p>
                      <a:pPr algn="l">
                        <a:spcAft>
                          <a:spcPts val="0"/>
                        </a:spcAft>
                      </a:pPr>
                      <a:r>
                        <a:rPr sz="850" b="0">
                          <a:solidFill>
                            <a:srgbClr val="3E444C"/>
                          </a:solidFill>
                          <a:latin typeface="Arial"/>
                        </a:rPr>
                        <a:t>Baseline</a:t>
                      </a:r>
                    </a:p>
                  </a:txBody>
                  <a:tcPr anchor="ctr">
                    <a:solidFill>
                      <a:srgbClr val="ECF4FA"/>
                    </a:solidFill>
                  </a:tcPr>
                </a:tc>
                <a:tc>
                  <a:txBody>
                    <a:bodyPr wrap="square"/>
                    <a:lstStyle/>
                    <a:p>
                      <a:pPr algn="l">
                        <a:spcAft>
                          <a:spcPts val="0"/>
                        </a:spcAft>
                      </a:pPr>
                      <a:r>
                        <a:rPr sz="850" b="0">
                          <a:solidFill>
                            <a:srgbClr val="3E444C"/>
                          </a:solidFill>
                          <a:latin typeface="Arial"/>
                        </a:rPr>
                        <a:t>mean(x_1..x_10), x_c − baseline</a:t>
                      </a:r>
                    </a:p>
                  </a:txBody>
                  <a:tcPr anchor="ctr">
                    <a:solidFill>
                      <a:srgbClr val="ECF4FA"/>
                    </a:solidFill>
                  </a:tcPr>
                </a:tc>
                <a:tc>
                  <a:txBody>
                    <a:bodyPr wrap="square"/>
                    <a:lstStyle/>
                    <a:p>
                      <a:pPr algn="l">
                        <a:spcAft>
                          <a:spcPts val="0"/>
                        </a:spcAft>
                      </a:pPr>
                      <a:r>
                        <a:rPr sz="850" b="0">
                          <a:solidFill>
                            <a:srgbClr val="3E444C"/>
                          </a:solidFill>
                          <a:latin typeface="Arial"/>
                        </a:rPr>
                        <a:t>movement from the UAV's own starting level</a:t>
                      </a:r>
                    </a:p>
                  </a:txBody>
                  <a:tcPr anchor="ctr">
                    <a:solidFill>
                      <a:srgbClr val="ECF4FA"/>
                    </a:solidFill>
                  </a:tcPr>
                </a:tc>
              </a:tr>
              <a:tr h="329184">
                <a:tc>
                  <a:txBody>
                    <a:bodyPr wrap="square"/>
                    <a:lstStyle/>
                    <a:p>
                      <a:pPr algn="l">
                        <a:spcAft>
                          <a:spcPts val="0"/>
                        </a:spcAft>
                      </a:pPr>
                      <a:r>
                        <a:rPr sz="850" b="0">
                          <a:solidFill>
                            <a:srgbClr val="3E444C"/>
                          </a:solidFill>
                          <a:latin typeface="Arial"/>
                        </a:rPr>
                        <a:t>History</a:t>
                      </a:r>
                    </a:p>
                  </a:txBody>
                  <a:tcPr anchor="ctr">
                    <a:solidFill>
                      <a:srgbClr val="FFFFFF"/>
                    </a:solidFill>
                  </a:tcPr>
                </a:tc>
                <a:tc>
                  <a:txBody>
                    <a:bodyPr wrap="square"/>
                    <a:lstStyle/>
                    <a:p>
                      <a:pPr algn="l">
                        <a:spcAft>
                          <a:spcPts val="0"/>
                        </a:spcAft>
                      </a:pPr>
                      <a:r>
                        <a:rPr sz="850" b="0">
                          <a:solidFill>
                            <a:srgbClr val="3E444C"/>
                          </a:solidFill>
                          <a:latin typeface="Arial"/>
                        </a:rPr>
                        <a:t>mean, SD, min, max, OLS slope</a:t>
                      </a:r>
                    </a:p>
                  </a:txBody>
                  <a:tcPr anchor="ctr">
                    <a:solidFill>
                      <a:srgbClr val="FFFFFF"/>
                    </a:solidFill>
                  </a:tcPr>
                </a:tc>
                <a:tc>
                  <a:txBody>
                    <a:bodyPr wrap="square"/>
                    <a:lstStyle/>
                    <a:p>
                      <a:pPr algn="l">
                        <a:spcAft>
                          <a:spcPts val="0"/>
                        </a:spcAft>
                      </a:pPr>
                      <a:r>
                        <a:rPr sz="850" b="0">
                          <a:solidFill>
                            <a:srgbClr val="3E444C"/>
                          </a:solidFill>
                          <a:latin typeface="Arial"/>
                        </a:rPr>
                        <a:t>typical level, spread and long-term direction</a:t>
                      </a:r>
                    </a:p>
                  </a:txBody>
                  <a:tcPr anchor="ctr">
                    <a:solidFill>
                      <a:srgbClr val="FFFFFF"/>
                    </a:solidFill>
                  </a:tcPr>
                </a:tc>
              </a:tr>
              <a:tr h="329184">
                <a:tc>
                  <a:txBody>
                    <a:bodyPr wrap="square"/>
                    <a:lstStyle/>
                    <a:p>
                      <a:pPr algn="l">
                        <a:spcAft>
                          <a:spcPts val="0"/>
                        </a:spcAft>
                      </a:pPr>
                      <a:r>
                        <a:rPr sz="850" b="0">
                          <a:solidFill>
                            <a:srgbClr val="3E444C"/>
                          </a:solidFill>
                          <a:latin typeface="Arial"/>
                        </a:rPr>
                        <a:t>Change</a:t>
                      </a:r>
                    </a:p>
                  </a:txBody>
                  <a:tcPr anchor="ctr">
                    <a:solidFill>
                      <a:srgbClr val="ECF4FA"/>
                    </a:solidFill>
                  </a:tcPr>
                </a:tc>
                <a:tc>
                  <a:txBody>
                    <a:bodyPr wrap="square"/>
                    <a:lstStyle/>
                    <a:p>
                      <a:pPr algn="l">
                        <a:spcAft>
                          <a:spcPts val="0"/>
                        </a:spcAft>
                      </a:pPr>
                      <a:r>
                        <a:rPr sz="850" b="0">
                          <a:solidFill>
                            <a:srgbClr val="3E444C"/>
                          </a:solidFill>
                          <a:latin typeface="Arial"/>
                        </a:rPr>
                        <a:t>x_c − x_(c−1), mean and max |Δx|</a:t>
                      </a:r>
                    </a:p>
                  </a:txBody>
                  <a:tcPr anchor="ctr">
                    <a:solidFill>
                      <a:srgbClr val="ECF4FA"/>
                    </a:solidFill>
                  </a:tcPr>
                </a:tc>
                <a:tc>
                  <a:txBody>
                    <a:bodyPr wrap="square"/>
                    <a:lstStyle/>
                    <a:p>
                      <a:pPr algn="l">
                        <a:spcAft>
                          <a:spcPts val="0"/>
                        </a:spcAft>
                      </a:pPr>
                      <a:r>
                        <a:rPr sz="850" b="0">
                          <a:solidFill>
                            <a:srgbClr val="3E444C"/>
                          </a:solidFill>
                          <a:latin typeface="Arial"/>
                        </a:rPr>
                        <a:t>abrupt change and typical volatility</a:t>
                      </a:r>
                    </a:p>
                  </a:txBody>
                  <a:tcPr anchor="ctr">
                    <a:solidFill>
                      <a:srgbClr val="ECF4FA"/>
                    </a:solidFill>
                  </a:tcPr>
                </a:tc>
              </a:tr>
              <a:tr h="329184">
                <a:tc>
                  <a:txBody>
                    <a:bodyPr wrap="square"/>
                    <a:lstStyle/>
                    <a:p>
                      <a:pPr algn="l">
                        <a:spcAft>
                          <a:spcPts val="0"/>
                        </a:spcAft>
                      </a:pPr>
                      <a:r>
                        <a:rPr sz="850" b="0">
                          <a:solidFill>
                            <a:srgbClr val="3E444C"/>
                          </a:solidFill>
                          <a:latin typeface="Arial"/>
                        </a:rPr>
                        <a:t>Recent 5 / 20 / 50</a:t>
                      </a:r>
                    </a:p>
                  </a:txBody>
                  <a:tcPr anchor="ctr">
                    <a:solidFill>
                      <a:srgbClr val="FFFFFF"/>
                    </a:solidFill>
                  </a:tcPr>
                </a:tc>
                <a:tc>
                  <a:txBody>
                    <a:bodyPr wrap="square"/>
                    <a:lstStyle/>
                    <a:p>
                      <a:pPr algn="l">
                        <a:spcAft>
                          <a:spcPts val="0"/>
                        </a:spcAft>
                      </a:pPr>
                      <a:r>
                        <a:rPr sz="850" b="0">
                          <a:solidFill>
                            <a:srgbClr val="3E444C"/>
                          </a:solidFill>
                          <a:latin typeface="Arial"/>
                        </a:rPr>
                        <a:t>mean, SD, slope, net change, deviation</a:t>
                      </a:r>
                    </a:p>
                  </a:txBody>
                  <a:tcPr anchor="ctr">
                    <a:solidFill>
                      <a:srgbClr val="FFFFFF"/>
                    </a:solidFill>
                  </a:tcPr>
                </a:tc>
                <a:tc>
                  <a:txBody>
                    <a:bodyPr wrap="square"/>
                    <a:lstStyle/>
                    <a:p>
                      <a:pPr algn="l">
                        <a:spcAft>
                          <a:spcPts val="0"/>
                        </a:spcAft>
                      </a:pPr>
                      <a:r>
                        <a:rPr sz="850" b="0">
                          <a:solidFill>
                            <a:srgbClr val="3E444C"/>
                          </a:solidFill>
                          <a:latin typeface="Arial"/>
                        </a:rPr>
                        <a:t>short, medium and longer-term behaviour</a:t>
                      </a:r>
                    </a:p>
                  </a:txBody>
                  <a:tcPr anchor="ctr">
                    <a:solidFill>
                      <a:srgbClr val="FFFFFF"/>
                    </a:solidFill>
                  </a:tcPr>
                </a:tc>
              </a:tr>
              <a:tr h="329184">
                <a:tc>
                  <a:txBody>
                    <a:bodyPr wrap="square"/>
                    <a:lstStyle/>
                    <a:p>
                      <a:pPr algn="l">
                        <a:spcAft>
                          <a:spcPts val="0"/>
                        </a:spcAft>
                      </a:pPr>
                      <a:r>
                        <a:rPr sz="850" b="0">
                          <a:solidFill>
                            <a:srgbClr val="3E444C"/>
                          </a:solidFill>
                          <a:latin typeface="Arial"/>
                        </a:rPr>
                        <a:t>State (07, 16)</a:t>
                      </a:r>
                    </a:p>
                  </a:txBody>
                  <a:tcPr anchor="ctr">
                    <a:solidFill>
                      <a:srgbClr val="ECF4FA"/>
                    </a:solidFill>
                  </a:tcPr>
                </a:tc>
                <a:tc>
                  <a:txBody>
                    <a:bodyPr wrap="square"/>
                    <a:lstStyle/>
                    <a:p>
                      <a:pPr algn="l">
                        <a:spcAft>
                          <a:spcPts val="0"/>
                        </a:spcAft>
                      </a:pPr>
                      <a:r>
                        <a:rPr sz="850" b="0">
                          <a:solidFill>
                            <a:srgbClr val="3E444C"/>
                          </a:solidFill>
                          <a:latin typeface="Arial"/>
                        </a:rPr>
                        <a:t>unique values, transitions, transition rate, run length, time since change</a:t>
                      </a:r>
                    </a:p>
                  </a:txBody>
                  <a:tcPr anchor="ctr">
                    <a:solidFill>
                      <a:srgbClr val="ECF4FA"/>
                    </a:solidFill>
                  </a:tcPr>
                </a:tc>
                <a:tc>
                  <a:txBody>
                    <a:bodyPr wrap="square"/>
                    <a:lstStyle/>
                    <a:p>
                      <a:pPr algn="l">
                        <a:spcAft>
                          <a:spcPts val="0"/>
                        </a:spcAft>
                      </a:pPr>
                      <a:r>
                        <a:rPr sz="850" b="0">
                          <a:solidFill>
                            <a:srgbClr val="3E444C"/>
                          </a:solidFill>
                          <a:latin typeface="Arial"/>
                        </a:rPr>
                        <a:t>operating mode, dwell time, flatlining</a:t>
                      </a:r>
                    </a:p>
                  </a:txBody>
                  <a:tcPr anchor="ctr">
                    <a:solidFill>
                      <a:srgbClr val="ECF4FA"/>
                    </a:solidFill>
                  </a:tcPr>
                </a:tc>
              </a:tr>
            </a:tbl>
          </a:graphicData>
        </a:graphic>
      </p:graphicFrame>
      <p:sp>
        <p:nvSpPr>
          <p:cNvPr id="12" name="Rounded Rectangle 11"/>
          <p:cNvSpPr/>
          <p:nvPr/>
        </p:nvSpPr>
        <p:spPr>
          <a:xfrm>
            <a:off x="5916168" y="1024128"/>
            <a:ext cx="2798063" cy="1371600"/>
          </a:xfrm>
          <a:prstGeom prst="roundRect">
            <a:avLst/>
          </a:prstGeom>
          <a:solidFill>
            <a:srgbClr val="FFFFFF"/>
          </a:solidFill>
          <a:ln w="12700">
            <a:solidFill>
              <a:srgbClr val="9F99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spcAft>
                <a:spcPts val="200"/>
              </a:spcAft>
            </a:pPr>
            <a:r>
              <a:rPr sz="900" b="1">
                <a:solidFill>
                  <a:srgbClr val="00519E"/>
                </a:solidFill>
                <a:latin typeface="Arial"/>
              </a:rPr>
              <a:t>How causality is enforced</a:t>
            </a:r>
          </a:p>
          <a:p>
            <a:pPr algn="l">
              <a:spcAft>
                <a:spcPts val="200"/>
              </a:spcAft>
            </a:pPr>
            <a:r>
              <a:rPr sz="900" b="0">
                <a:solidFill>
                  <a:srgbClr val="3E444C"/>
                </a:solidFill>
                <a:latin typeface="Arial"/>
              </a:rPr>
              <a:t>· Only cycles 1..cutoff enter any calculation.</a:t>
            </a:r>
          </a:p>
          <a:p>
            <a:pPr algn="l">
              <a:spcAft>
                <a:spcPts val="200"/>
              </a:spcAft>
            </a:pPr>
            <a:r>
              <a:rPr sz="900" b="0">
                <a:solidFill>
                  <a:srgbClr val="3E444C"/>
                </a:solidFill>
                <a:latin typeface="Arial"/>
              </a:rPr>
              <a:t>· The raw files are never truncated; the cutoff is applied while computing.</a:t>
            </a:r>
          </a:p>
          <a:p>
            <a:pPr algn="l">
              <a:spcAft>
                <a:spcPts val="200"/>
              </a:spcAft>
            </a:pPr>
            <a:r>
              <a:rPr sz="900" b="0">
                <a:solidFill>
                  <a:srgbClr val="3E444C"/>
                </a:solidFill>
                <a:latin typeface="Arial"/>
              </a:rPr>
              <a:t>· Feature names may not contain RUL, target, terminal, lifetime, final or future.</a:t>
            </a:r>
          </a:p>
        </p:txBody>
      </p:sp>
      <p:sp>
        <p:nvSpPr>
          <p:cNvPr id="13" name="Rounded Rectangle 12"/>
          <p:cNvSpPr/>
          <p:nvPr/>
        </p:nvSpPr>
        <p:spPr>
          <a:xfrm>
            <a:off x="5916168" y="2450592"/>
            <a:ext cx="2798063" cy="1700784"/>
          </a:xfrm>
          <a:prstGeom prst="roundRect">
            <a:avLst/>
          </a:prstGeom>
          <a:solidFill>
            <a:srgbClr val="FFFFFF"/>
          </a:solidFill>
          <a:ln w="12700">
            <a:solidFill>
              <a:srgbClr val="9F99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spcAft>
                <a:spcPts val="200"/>
              </a:spcAft>
            </a:pPr>
            <a:r>
              <a:rPr sz="900" b="1">
                <a:solidFill>
                  <a:srgbClr val="00519E"/>
                </a:solidFill>
                <a:latin typeface="Arial"/>
              </a:rPr>
              <a:t>How it is verified</a:t>
            </a:r>
          </a:p>
          <a:p>
            <a:pPr algn="l">
              <a:spcAft>
                <a:spcPts val="200"/>
              </a:spcAft>
            </a:pPr>
            <a:r>
              <a:rPr sz="900" b="0">
                <a:solidFill>
                  <a:srgbClr val="3E444C"/>
                </a:solidFill>
                <a:latin typeface="Arial"/>
              </a:rPr>
              <a:t>· 10 prefixes are recomputed after every post-cutoff telemetry value is replaced by an extreme artificial number.</a:t>
            </a:r>
          </a:p>
          <a:p>
            <a:pPr algn="l">
              <a:spcAft>
                <a:spcPts val="200"/>
              </a:spcAft>
            </a:pPr>
            <a:r>
              <a:rPr sz="900" b="0">
                <a:solidFill>
                  <a:srgbClr val="3E444C"/>
                </a:solidFill>
                <a:latin typeface="Arial"/>
              </a:rPr>
              <a:t>· The prefix features must come out identical.</a:t>
            </a:r>
          </a:p>
          <a:p>
            <a:pPr algn="l">
              <a:spcAft>
                <a:spcPts val="200"/>
              </a:spcAft>
            </a:pPr>
            <a:r>
              <a:rPr sz="900" b="0">
                <a:solidFill>
                  <a:srgbClr val="3E444C"/>
                </a:solidFill>
                <a:latin typeface="Arial"/>
              </a:rPr>
              <a:t>· Repeated for training, development, locked and test tables; all four are also checked for missing and non-finite values.</a:t>
            </a:r>
          </a:p>
        </p:txBody>
      </p:sp>
      <p:sp>
        <p:nvSpPr>
          <p:cNvPr id="14" name="TextBox 13"/>
          <p:cNvSpPr txBox="1"/>
          <p:nvPr/>
        </p:nvSpPr>
        <p:spPr>
          <a:xfrm>
            <a:off x="466344" y="4535424"/>
            <a:ext cx="8247888" cy="164592"/>
          </a:xfrm>
          <a:prstGeom prst="rect">
            <a:avLst/>
          </a:prstGeom>
          <a:noFill/>
        </p:spPr>
        <p:txBody>
          <a:bodyPr wrap="square">
            <a:spAutoFit/>
          </a:bodyPr>
          <a:lstStyle/>
          <a:p>
            <a:pPr algn="l">
              <a:spcAft>
                <a:spcPts val="400"/>
              </a:spcAft>
            </a:pPr>
            <a:r>
              <a:rPr sz="900" b="0">
                <a:solidFill>
                  <a:srgbClr val="9F9998"/>
                </a:solidFill>
                <a:latin typeface="Arial"/>
              </a:rPr>
              <a:t>Source: 1_dataset_construction/5_prefix_feature_engineering and 6_feature_sets/artifacts/feature_catalog.csv</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a:spcAft>
                <a:spcPts val="400"/>
              </a:spcAft>
            </a:pPr>
            <a:r>
              <a:rPr sz="1800" b="1">
                <a:solidFill>
                  <a:srgbClr val="3E444C"/>
                </a:solidFill>
                <a:latin typeface="Arial"/>
              </a:rPr>
              <a:t>Backup: the cycle-only baseline, group by group</a:t>
            </a:r>
          </a:p>
        </p:txBody>
      </p:sp>
      <p:sp>
        <p:nvSpPr>
          <p:cNvPr id="3" name="Text Placeholder 2"/>
          <p:cNvSpPr>
            <a:spLocks noGrp="1"/>
          </p:cNvSpPr>
          <p:nvPr>
            <p:ph type="body" idx="13" sz="quarter"/>
          </p:nvPr>
        </p:nvSpPr>
        <p:spPr/>
        <p:txBody>
          <a:bodyPr wrap="square"/>
          <a:lstStyle/>
          <a:p>
            <a:pPr algn="l">
              <a:spcAft>
                <a:spcPts val="400"/>
              </a:spcAft>
            </a:pPr>
            <a:r>
              <a:rPr sz="1400" b="0">
                <a:solidFill>
                  <a:srgbClr val="9F9998"/>
                </a:solidFill>
                <a:latin typeface="Arial"/>
              </a:rPr>
              <a:t>The same held-out predictions, reported by cutoff band, outer fold and terminal-lifetime quintile</a:t>
            </a:r>
          </a:p>
        </p:txBody>
      </p:sp>
      <p:sp>
        <p:nvSpPr>
          <p:cNvPr id="7" name="Datumsplatzhalter 6">
            <a:extLst>
              <a:ext uri="{FF2B5EF4-FFF2-40B4-BE49-F238E27FC236}">
                <a16:creationId xmlns:a16="http://schemas.microsoft.com/office/drawing/2014/main" id="{124A6A03-5D2E-417E-9A62-737D1DBC92ED}"/>
              </a:ext>
              <a:ext uri="{C183D7F6-B498-43B3-948B-1728B52AA6E4}">
                <adec:decorative xmlns:adec="http://schemas.microsoft.com/office/drawing/2017/decorative" val="1"/>
              </a:ext>
            </a:extLst>
          </p:cNvPr>
          <p:cNvSpPr>
            <a:spLocks noGrp="1"/>
          </p:cNvSpPr>
          <p:nvPr>
            <p:ph type="dt" sz="half" idx="14"/>
          </p:nvPr>
        </p:nvSpPr>
        <p:spPr>
          <a:xfrm>
            <a:off x="6492240" y="4873752"/>
            <a:ext cx="1737360" cy="146304"/>
          </a:xfrm>
        </p:spPr>
        <p:txBody>
          <a:bodyPr/>
          <a:lstStyle/>
          <a:p>
            <a:pPr algn="r"/>
            <a:r>
              <a:rPr lang="de-DE"/>
              <a:t>9 September 2026</a:t>
            </a:r>
            <a:endParaRPr lang="en-US" dirty="0"/>
          </a:p>
        </p:txBody>
      </p:sp>
      <p:sp>
        <p:nvSpPr>
          <p:cNvPr id="8" name="Fußzeilenplatzhalter 7">
            <a:extLst>
              <a:ext uri="{FF2B5EF4-FFF2-40B4-BE49-F238E27FC236}">
                <a16:creationId xmlns:a16="http://schemas.microsoft.com/office/drawing/2014/main" id="{90427F68-7D65-4111-9D28-F407D044A73B}"/>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UAV remaining useful life estimation</a:t>
            </a:r>
            <a:endParaRPr lang="en-US" dirty="0"/>
          </a:p>
        </p:txBody>
      </p:sp>
      <p:sp>
        <p:nvSpPr>
          <p:cNvPr id="10" name="Foliennummernplatzhalter 9">
            <a:extLst>
              <a:ext uri="{FF2B5EF4-FFF2-40B4-BE49-F238E27FC236}">
                <a16:creationId xmlns:a16="http://schemas.microsoft.com/office/drawing/2014/main" id="{BC2B8577-8AB8-42B5-8BA8-1751A412246A}"/>
              </a:ext>
              <a:ext uri="{C183D7F6-B498-43B3-948B-1728B52AA6E4}">
                <adec:decorative xmlns:adec="http://schemas.microsoft.com/office/drawing/2017/decorative" val="1"/>
              </a:ext>
            </a:extLst>
          </p:cNvPr>
          <p:cNvSpPr>
            <a:spLocks noGrp="1"/>
          </p:cNvSpPr>
          <p:nvPr>
            <p:ph type="sldNum" sz="quarter" idx="16"/>
          </p:nvPr>
        </p:nvSpPr>
        <p:spPr/>
        <p:txBody>
          <a:bodyPr/>
          <a:lstStyle/>
          <a:p>
            <a:fld id="{9E82CC3C-1DC0-4FDA-9590-6CC506AB67F8}" type="slidenum">
              <a:rPr lang="en-US" smtClean="0"/>
              <a:pPr/>
              <a:t>‹Nr.›</a:t>
            </a:fld>
            <a:endParaRPr lang="en-US" dirty="0"/>
          </a:p>
        </p:txBody>
      </p:sp>
      <p:sp>
        <p:nvSpPr>
          <p:cNvPr id="11" name="TextBox 10"/>
          <p:cNvSpPr txBox="1"/>
          <p:nvPr/>
        </p:nvSpPr>
        <p:spPr>
          <a:xfrm>
            <a:off x="466344" y="1005840"/>
            <a:ext cx="3986783" cy="201168"/>
          </a:xfrm>
          <a:prstGeom prst="rect">
            <a:avLst/>
          </a:prstGeom>
          <a:noFill/>
        </p:spPr>
        <p:txBody>
          <a:bodyPr wrap="square">
            <a:spAutoFit/>
          </a:bodyPr>
          <a:lstStyle/>
          <a:p>
            <a:pPr algn="l">
              <a:spcAft>
                <a:spcPts val="400"/>
              </a:spcAft>
            </a:pPr>
            <a:r>
              <a:rPr sz="1050" b="1">
                <a:solidFill>
                  <a:srgbClr val="00519E"/>
                </a:solidFill>
                <a:latin typeface="Arial"/>
              </a:rPr>
              <a:t>By cutoff band</a:t>
            </a:r>
          </a:p>
        </p:txBody>
      </p:sp>
      <p:graphicFrame>
        <p:nvGraphicFramePr>
          <p:cNvPr id="12" name="Table 11"/>
          <p:cNvGraphicFramePr>
            <a:graphicFrameLocks noGrp="1"/>
          </p:cNvGraphicFramePr>
          <p:nvPr/>
        </p:nvGraphicFramePr>
        <p:xfrm>
          <a:off x="466344" y="1243584"/>
          <a:ext cx="3986784" cy="1280160"/>
        </p:xfrm>
        <a:graphic>
          <a:graphicData uri="http://schemas.openxmlformats.org/drawingml/2006/table">
            <a:tbl>
              <a:tblPr firstRow="1" bandRow="1">
                <a:tableStyleId>{5C22544A-7EE6-4342-B048-85BDC9FD1C3A}</a:tableStyleId>
              </a:tblPr>
              <a:tblGrid>
                <a:gridCol w="859536"/>
                <a:gridCol w="658368"/>
                <a:gridCol w="786384"/>
                <a:gridCol w="896112"/>
                <a:gridCol w="786384"/>
              </a:tblGrid>
              <a:tr h="256032">
                <a:tc>
                  <a:txBody>
                    <a:bodyPr wrap="square"/>
                    <a:lstStyle/>
                    <a:p>
                      <a:pPr algn="l">
                        <a:spcAft>
                          <a:spcPts val="0"/>
                        </a:spcAft>
                      </a:pPr>
                      <a:r>
                        <a:rPr sz="900" b="1">
                          <a:solidFill>
                            <a:srgbClr val="FFFFFF"/>
                          </a:solidFill>
                          <a:latin typeface="Arial"/>
                        </a:rPr>
                        <a:t>band</a:t>
                      </a:r>
                    </a:p>
                  </a:txBody>
                  <a:tcPr anchor="ctr">
                    <a:solidFill>
                      <a:srgbClr val="00519E"/>
                    </a:solidFill>
                  </a:tcPr>
                </a:tc>
                <a:tc>
                  <a:txBody>
                    <a:bodyPr wrap="square"/>
                    <a:lstStyle/>
                    <a:p>
                      <a:pPr algn="l">
                        <a:spcAft>
                          <a:spcPts val="0"/>
                        </a:spcAft>
                      </a:pPr>
                      <a:r>
                        <a:rPr sz="900" b="1">
                          <a:solidFill>
                            <a:srgbClr val="FFFFFF"/>
                          </a:solidFill>
                          <a:latin typeface="Arial"/>
                        </a:rPr>
                        <a:t>rows</a:t>
                      </a:r>
                    </a:p>
                  </a:txBody>
                  <a:tcPr anchor="ctr">
                    <a:solidFill>
                      <a:srgbClr val="00519E"/>
                    </a:solidFill>
                  </a:tcPr>
                </a:tc>
                <a:tc>
                  <a:txBody>
                    <a:bodyPr wrap="square"/>
                    <a:lstStyle/>
                    <a:p>
                      <a:pPr algn="l">
                        <a:spcAft>
                          <a:spcPts val="0"/>
                        </a:spcAft>
                      </a:pPr>
                      <a:r>
                        <a:rPr sz="900" b="1">
                          <a:solidFill>
                            <a:srgbClr val="FFFFFF"/>
                          </a:solidFill>
                          <a:latin typeface="Arial"/>
                        </a:rPr>
                        <a:t>R²</a:t>
                      </a:r>
                    </a:p>
                  </a:txBody>
                  <a:tcPr anchor="ctr">
                    <a:solidFill>
                      <a:srgbClr val="00519E"/>
                    </a:solidFill>
                  </a:tcPr>
                </a:tc>
                <a:tc>
                  <a:txBody>
                    <a:bodyPr wrap="square"/>
                    <a:lstStyle/>
                    <a:p>
                      <a:pPr algn="l">
                        <a:spcAft>
                          <a:spcPts val="0"/>
                        </a:spcAft>
                      </a:pPr>
                      <a:r>
                        <a:rPr sz="900" b="1">
                          <a:solidFill>
                            <a:srgbClr val="FFFFFF"/>
                          </a:solidFill>
                          <a:latin typeface="Arial"/>
                        </a:rPr>
                        <a:t>RMSE</a:t>
                      </a:r>
                    </a:p>
                  </a:txBody>
                  <a:tcPr anchor="ctr">
                    <a:solidFill>
                      <a:srgbClr val="00519E"/>
                    </a:solidFill>
                  </a:tcPr>
                </a:tc>
                <a:tc>
                  <a:txBody>
                    <a:bodyPr wrap="square"/>
                    <a:lstStyle/>
                    <a:p>
                      <a:pPr algn="l">
                        <a:spcAft>
                          <a:spcPts val="0"/>
                        </a:spcAft>
                      </a:pPr>
                      <a:r>
                        <a:rPr sz="900" b="1">
                          <a:solidFill>
                            <a:srgbClr val="FFFFFF"/>
                          </a:solidFill>
                          <a:latin typeface="Arial"/>
                        </a:rPr>
                        <a:t>bias</a:t>
                      </a:r>
                    </a:p>
                  </a:txBody>
                  <a:tcPr anchor="ctr">
                    <a:solidFill>
                      <a:srgbClr val="00519E"/>
                    </a:solidFill>
                  </a:tcPr>
                </a:tc>
              </a:tr>
              <a:tr h="256032">
                <a:tc>
                  <a:txBody>
                    <a:bodyPr wrap="square"/>
                    <a:lstStyle/>
                    <a:p>
                      <a:pPr algn="l">
                        <a:spcAft>
                          <a:spcPts val="0"/>
                        </a:spcAft>
                      </a:pPr>
                      <a:r>
                        <a:rPr sz="900" b="0">
                          <a:solidFill>
                            <a:srgbClr val="3E444C"/>
                          </a:solidFill>
                          <a:latin typeface="Arial"/>
                        </a:rPr>
                        <a:t>1-50</a:t>
                      </a:r>
                    </a:p>
                  </a:txBody>
                  <a:tcPr anchor="ctr">
                    <a:solidFill>
                      <a:srgbClr val="ECF4FA"/>
                    </a:solidFill>
                  </a:tcPr>
                </a:tc>
                <a:tc>
                  <a:txBody>
                    <a:bodyPr wrap="square"/>
                    <a:lstStyle/>
                    <a:p>
                      <a:pPr algn="l">
                        <a:spcAft>
                          <a:spcPts val="0"/>
                        </a:spcAft>
                      </a:pPr>
                      <a:r>
                        <a:rPr sz="900" b="0">
                          <a:solidFill>
                            <a:srgbClr val="3E444C"/>
                          </a:solidFill>
                          <a:latin typeface="Arial"/>
                        </a:rPr>
                        <a:t>80</a:t>
                      </a:r>
                    </a:p>
                  </a:txBody>
                  <a:tcPr anchor="ctr">
                    <a:solidFill>
                      <a:srgbClr val="ECF4FA"/>
                    </a:solidFill>
                  </a:tcPr>
                </a:tc>
                <a:tc>
                  <a:txBody>
                    <a:bodyPr wrap="square"/>
                    <a:lstStyle/>
                    <a:p>
                      <a:pPr algn="l">
                        <a:spcAft>
                          <a:spcPts val="0"/>
                        </a:spcAft>
                      </a:pPr>
                      <a:r>
                        <a:rPr sz="900" b="0">
                          <a:solidFill>
                            <a:srgbClr val="3E444C"/>
                          </a:solidFill>
                          <a:latin typeface="Arial"/>
                        </a:rPr>
                        <a:t>-0.014</a:t>
                      </a:r>
                    </a:p>
                  </a:txBody>
                  <a:tcPr anchor="ctr">
                    <a:solidFill>
                      <a:srgbClr val="ECF4FA"/>
                    </a:solidFill>
                  </a:tcPr>
                </a:tc>
                <a:tc>
                  <a:txBody>
                    <a:bodyPr wrap="square"/>
                    <a:lstStyle/>
                    <a:p>
                      <a:pPr algn="l">
                        <a:spcAft>
                          <a:spcPts val="0"/>
                        </a:spcAft>
                      </a:pPr>
                      <a:r>
                        <a:rPr sz="900" b="0">
                          <a:solidFill>
                            <a:srgbClr val="3E444C"/>
                          </a:solidFill>
                          <a:latin typeface="Arial"/>
                        </a:rPr>
                        <a:t>37.683</a:t>
                      </a:r>
                    </a:p>
                  </a:txBody>
                  <a:tcPr anchor="ctr">
                    <a:solidFill>
                      <a:srgbClr val="ECF4FA"/>
                    </a:solidFill>
                  </a:tcPr>
                </a:tc>
                <a:tc>
                  <a:txBody>
                    <a:bodyPr wrap="square"/>
                    <a:lstStyle/>
                    <a:p>
                      <a:pPr algn="l">
                        <a:spcAft>
                          <a:spcPts val="0"/>
                        </a:spcAft>
                      </a:pPr>
                      <a:r>
                        <a:rPr sz="900" b="0">
                          <a:solidFill>
                            <a:srgbClr val="3E444C"/>
                          </a:solidFill>
                          <a:latin typeface="Arial"/>
                        </a:rPr>
                        <a:t>+4.980</a:t>
                      </a:r>
                    </a:p>
                  </a:txBody>
                  <a:tcPr anchor="ctr">
                    <a:solidFill>
                      <a:srgbClr val="ECF4FA"/>
                    </a:solidFill>
                  </a:tcPr>
                </a:tc>
              </a:tr>
              <a:tr h="256032">
                <a:tc>
                  <a:txBody>
                    <a:bodyPr wrap="square"/>
                    <a:lstStyle/>
                    <a:p>
                      <a:pPr algn="l">
                        <a:spcAft>
                          <a:spcPts val="0"/>
                        </a:spcAft>
                      </a:pPr>
                      <a:r>
                        <a:rPr sz="900" b="0">
                          <a:solidFill>
                            <a:srgbClr val="3E444C"/>
                          </a:solidFill>
                          <a:latin typeface="Arial"/>
                        </a:rPr>
                        <a:t>51-100</a:t>
                      </a:r>
                    </a:p>
                  </a:txBody>
                  <a:tcPr anchor="ctr">
                    <a:solidFill>
                      <a:srgbClr val="FFFFFF"/>
                    </a:solidFill>
                  </a:tcPr>
                </a:tc>
                <a:tc>
                  <a:txBody>
                    <a:bodyPr wrap="square"/>
                    <a:lstStyle/>
                    <a:p>
                      <a:pPr algn="l">
                        <a:spcAft>
                          <a:spcPts val="0"/>
                        </a:spcAft>
                      </a:pPr>
                      <a:r>
                        <a:rPr sz="900" b="0">
                          <a:solidFill>
                            <a:srgbClr val="3E444C"/>
                          </a:solidFill>
                          <a:latin typeface="Arial"/>
                        </a:rPr>
                        <a:t>340</a:t>
                      </a:r>
                    </a:p>
                  </a:txBody>
                  <a:tcPr anchor="ctr">
                    <a:solidFill>
                      <a:srgbClr val="FFFFFF"/>
                    </a:solidFill>
                  </a:tcPr>
                </a:tc>
                <a:tc>
                  <a:txBody>
                    <a:bodyPr wrap="square"/>
                    <a:lstStyle/>
                    <a:p>
                      <a:pPr algn="l">
                        <a:spcAft>
                          <a:spcPts val="0"/>
                        </a:spcAft>
                      </a:pPr>
                      <a:r>
                        <a:rPr sz="900" b="0">
                          <a:solidFill>
                            <a:srgbClr val="3E444C"/>
                          </a:solidFill>
                          <a:latin typeface="Arial"/>
                        </a:rPr>
                        <a:t>-0.012</a:t>
                      </a:r>
                    </a:p>
                  </a:txBody>
                  <a:tcPr anchor="ctr">
                    <a:solidFill>
                      <a:srgbClr val="FFFFFF"/>
                    </a:solidFill>
                  </a:tcPr>
                </a:tc>
                <a:tc>
                  <a:txBody>
                    <a:bodyPr wrap="square"/>
                    <a:lstStyle/>
                    <a:p>
                      <a:pPr algn="l">
                        <a:spcAft>
                          <a:spcPts val="0"/>
                        </a:spcAft>
                      </a:pPr>
                      <a:r>
                        <a:rPr sz="900" b="0">
                          <a:solidFill>
                            <a:srgbClr val="3E444C"/>
                          </a:solidFill>
                          <a:latin typeface="Arial"/>
                        </a:rPr>
                        <a:t>61.567</a:t>
                      </a:r>
                    </a:p>
                  </a:txBody>
                  <a:tcPr anchor="ctr">
                    <a:solidFill>
                      <a:srgbClr val="FFFFFF"/>
                    </a:solidFill>
                  </a:tcPr>
                </a:tc>
                <a:tc>
                  <a:txBody>
                    <a:bodyPr wrap="square"/>
                    <a:lstStyle/>
                    <a:p>
                      <a:pPr algn="l">
                        <a:spcAft>
                          <a:spcPts val="0"/>
                        </a:spcAft>
                      </a:pPr>
                      <a:r>
                        <a:rPr sz="900" b="0">
                          <a:solidFill>
                            <a:srgbClr val="3E444C"/>
                          </a:solidFill>
                          <a:latin typeface="Arial"/>
                        </a:rPr>
                        <a:t>+11.320</a:t>
                      </a:r>
                    </a:p>
                  </a:txBody>
                  <a:tcPr anchor="ctr">
                    <a:solidFill>
                      <a:srgbClr val="FFFFFF"/>
                    </a:solidFill>
                  </a:tcPr>
                </a:tc>
              </a:tr>
              <a:tr h="256032">
                <a:tc>
                  <a:txBody>
                    <a:bodyPr wrap="square"/>
                    <a:lstStyle/>
                    <a:p>
                      <a:pPr algn="l">
                        <a:spcAft>
                          <a:spcPts val="0"/>
                        </a:spcAft>
                      </a:pPr>
                      <a:r>
                        <a:rPr sz="900" b="0">
                          <a:solidFill>
                            <a:srgbClr val="3E444C"/>
                          </a:solidFill>
                          <a:latin typeface="Arial"/>
                        </a:rPr>
                        <a:t>101-200</a:t>
                      </a:r>
                    </a:p>
                  </a:txBody>
                  <a:tcPr anchor="ctr">
                    <a:solidFill>
                      <a:srgbClr val="ECF4FA"/>
                    </a:solidFill>
                  </a:tcPr>
                </a:tc>
                <a:tc>
                  <a:txBody>
                    <a:bodyPr wrap="square"/>
                    <a:lstStyle/>
                    <a:p>
                      <a:pPr algn="l">
                        <a:spcAft>
                          <a:spcPts val="0"/>
                        </a:spcAft>
                      </a:pPr>
                      <a:r>
                        <a:rPr sz="900" b="0">
                          <a:solidFill>
                            <a:srgbClr val="3E444C"/>
                          </a:solidFill>
                          <a:latin typeface="Arial"/>
                        </a:rPr>
                        <a:t>1,020</a:t>
                      </a:r>
                    </a:p>
                  </a:txBody>
                  <a:tcPr anchor="ctr">
                    <a:solidFill>
                      <a:srgbClr val="ECF4FA"/>
                    </a:solidFill>
                  </a:tcPr>
                </a:tc>
                <a:tc>
                  <a:txBody>
                    <a:bodyPr wrap="square"/>
                    <a:lstStyle/>
                    <a:p>
                      <a:pPr algn="l">
                        <a:spcAft>
                          <a:spcPts val="0"/>
                        </a:spcAft>
                      </a:pPr>
                      <a:r>
                        <a:rPr sz="900" b="0">
                          <a:solidFill>
                            <a:srgbClr val="3E444C"/>
                          </a:solidFill>
                          <a:latin typeface="Arial"/>
                        </a:rPr>
                        <a:t>-0.386</a:t>
                      </a:r>
                    </a:p>
                  </a:txBody>
                  <a:tcPr anchor="ctr">
                    <a:solidFill>
                      <a:srgbClr val="ECF4FA"/>
                    </a:solidFill>
                  </a:tcPr>
                </a:tc>
                <a:tc>
                  <a:txBody>
                    <a:bodyPr wrap="square"/>
                    <a:lstStyle/>
                    <a:p>
                      <a:pPr algn="l">
                        <a:spcAft>
                          <a:spcPts val="0"/>
                        </a:spcAft>
                      </a:pPr>
                      <a:r>
                        <a:rPr sz="900" b="0">
                          <a:solidFill>
                            <a:srgbClr val="3E444C"/>
                          </a:solidFill>
                          <a:latin typeface="Arial"/>
                        </a:rPr>
                        <a:t>67.131</a:t>
                      </a:r>
                    </a:p>
                  </a:txBody>
                  <a:tcPr anchor="ctr">
                    <a:solidFill>
                      <a:srgbClr val="ECF4FA"/>
                    </a:solidFill>
                  </a:tcPr>
                </a:tc>
                <a:tc>
                  <a:txBody>
                    <a:bodyPr wrap="square"/>
                    <a:lstStyle/>
                    <a:p>
                      <a:pPr algn="l">
                        <a:spcAft>
                          <a:spcPts val="0"/>
                        </a:spcAft>
                      </a:pPr>
                      <a:r>
                        <a:rPr sz="900" b="0">
                          <a:solidFill>
                            <a:srgbClr val="3E444C"/>
                          </a:solidFill>
                          <a:latin typeface="Arial"/>
                        </a:rPr>
                        <a:t>+38.872</a:t>
                      </a:r>
                    </a:p>
                  </a:txBody>
                  <a:tcPr anchor="ctr">
                    <a:solidFill>
                      <a:srgbClr val="ECF4FA"/>
                    </a:solidFill>
                  </a:tcPr>
                </a:tc>
              </a:tr>
              <a:tr h="256032">
                <a:tc>
                  <a:txBody>
                    <a:bodyPr wrap="square"/>
                    <a:lstStyle/>
                    <a:p>
                      <a:pPr algn="l">
                        <a:spcAft>
                          <a:spcPts val="0"/>
                        </a:spcAft>
                      </a:pPr>
                      <a:r>
                        <a:rPr sz="900" b="0">
                          <a:solidFill>
                            <a:srgbClr val="3E444C"/>
                          </a:solidFill>
                          <a:latin typeface="Arial"/>
                        </a:rPr>
                        <a:t>&gt;200</a:t>
                      </a:r>
                    </a:p>
                  </a:txBody>
                  <a:tcPr anchor="ctr">
                    <a:solidFill>
                      <a:srgbClr val="FFFFFF"/>
                    </a:solidFill>
                  </a:tcPr>
                </a:tc>
                <a:tc>
                  <a:txBody>
                    <a:bodyPr wrap="square"/>
                    <a:lstStyle/>
                    <a:p>
                      <a:pPr algn="l">
                        <a:spcAft>
                          <a:spcPts val="0"/>
                        </a:spcAft>
                      </a:pPr>
                      <a:r>
                        <a:rPr sz="900" b="0">
                          <a:solidFill>
                            <a:srgbClr val="3E444C"/>
                          </a:solidFill>
                          <a:latin typeface="Arial"/>
                        </a:rPr>
                        <a:t>560</a:t>
                      </a:r>
                    </a:p>
                  </a:txBody>
                  <a:tcPr anchor="ctr">
                    <a:solidFill>
                      <a:srgbClr val="FFFFFF"/>
                    </a:solidFill>
                  </a:tcPr>
                </a:tc>
                <a:tc>
                  <a:txBody>
                    <a:bodyPr wrap="square"/>
                    <a:lstStyle/>
                    <a:p>
                      <a:pPr algn="l">
                        <a:spcAft>
                          <a:spcPts val="0"/>
                        </a:spcAft>
                      </a:pPr>
                      <a:r>
                        <a:rPr sz="900" b="0">
                          <a:solidFill>
                            <a:srgbClr val="3E444C"/>
                          </a:solidFill>
                          <a:latin typeface="Arial"/>
                        </a:rPr>
                        <a:t>-0.375</a:t>
                      </a:r>
                    </a:p>
                  </a:txBody>
                  <a:tcPr anchor="ctr">
                    <a:solidFill>
                      <a:srgbClr val="FFFFFF"/>
                    </a:solidFill>
                  </a:tcPr>
                </a:tc>
                <a:tc>
                  <a:txBody>
                    <a:bodyPr wrap="square"/>
                    <a:lstStyle/>
                    <a:p>
                      <a:pPr algn="l">
                        <a:spcAft>
                          <a:spcPts val="0"/>
                        </a:spcAft>
                      </a:pPr>
                      <a:r>
                        <a:rPr sz="900" b="0">
                          <a:solidFill>
                            <a:srgbClr val="3E444C"/>
                          </a:solidFill>
                          <a:latin typeface="Arial"/>
                        </a:rPr>
                        <a:t>64.577</a:t>
                      </a:r>
                    </a:p>
                  </a:txBody>
                  <a:tcPr anchor="ctr">
                    <a:solidFill>
                      <a:srgbClr val="FFFFFF"/>
                    </a:solidFill>
                  </a:tcPr>
                </a:tc>
                <a:tc>
                  <a:txBody>
                    <a:bodyPr wrap="square"/>
                    <a:lstStyle/>
                    <a:p>
                      <a:pPr algn="l">
                        <a:spcAft>
                          <a:spcPts val="0"/>
                        </a:spcAft>
                      </a:pPr>
                      <a:r>
                        <a:rPr sz="900" b="0">
                          <a:solidFill>
                            <a:srgbClr val="3E444C"/>
                          </a:solidFill>
                          <a:latin typeface="Arial"/>
                        </a:rPr>
                        <a:t>-15.128</a:t>
                      </a:r>
                    </a:p>
                  </a:txBody>
                  <a:tcPr anchor="ctr">
                    <a:solidFill>
                      <a:srgbClr val="FFFFFF"/>
                    </a:solidFill>
                  </a:tcPr>
                </a:tc>
              </a:tr>
            </a:tbl>
          </a:graphicData>
        </a:graphic>
      </p:graphicFrame>
      <p:sp>
        <p:nvSpPr>
          <p:cNvPr id="13" name="TextBox 12"/>
          <p:cNvSpPr txBox="1"/>
          <p:nvPr/>
        </p:nvSpPr>
        <p:spPr>
          <a:xfrm>
            <a:off x="466344" y="2615184"/>
            <a:ext cx="3986783" cy="201168"/>
          </a:xfrm>
          <a:prstGeom prst="rect">
            <a:avLst/>
          </a:prstGeom>
          <a:noFill/>
        </p:spPr>
        <p:txBody>
          <a:bodyPr wrap="square">
            <a:spAutoFit/>
          </a:bodyPr>
          <a:lstStyle/>
          <a:p>
            <a:pPr algn="l">
              <a:spcAft>
                <a:spcPts val="400"/>
              </a:spcAft>
            </a:pPr>
            <a:r>
              <a:rPr sz="1050" b="1">
                <a:solidFill>
                  <a:srgbClr val="00519E"/>
                </a:solidFill>
                <a:latin typeface="Arial"/>
              </a:rPr>
              <a:t>By outer fold (20 UAVs each)</a:t>
            </a:r>
          </a:p>
        </p:txBody>
      </p:sp>
      <p:graphicFrame>
        <p:nvGraphicFramePr>
          <p:cNvPr id="14" name="Table 13"/>
          <p:cNvGraphicFramePr>
            <a:graphicFrameLocks noGrp="1"/>
          </p:cNvGraphicFramePr>
          <p:nvPr/>
        </p:nvGraphicFramePr>
        <p:xfrm>
          <a:off x="466344" y="2852928"/>
          <a:ext cx="3986784" cy="1426464"/>
        </p:xfrm>
        <a:graphic>
          <a:graphicData uri="http://schemas.openxmlformats.org/drawingml/2006/table">
            <a:tbl>
              <a:tblPr firstRow="1" bandRow="1">
                <a:tableStyleId>{5C22544A-7EE6-4342-B048-85BDC9FD1C3A}</a:tableStyleId>
              </a:tblPr>
              <a:tblGrid>
                <a:gridCol w="640080"/>
                <a:gridCol w="786384"/>
                <a:gridCol w="859536"/>
                <a:gridCol w="859536"/>
                <a:gridCol w="841248"/>
              </a:tblGrid>
              <a:tr h="237744">
                <a:tc>
                  <a:txBody>
                    <a:bodyPr wrap="square"/>
                    <a:lstStyle/>
                    <a:p>
                      <a:pPr algn="l">
                        <a:spcAft>
                          <a:spcPts val="0"/>
                        </a:spcAft>
                      </a:pPr>
                      <a:r>
                        <a:rPr sz="900" b="1">
                          <a:solidFill>
                            <a:srgbClr val="FFFFFF"/>
                          </a:solidFill>
                          <a:latin typeface="Arial"/>
                        </a:rPr>
                        <a:t>fold</a:t>
                      </a:r>
                    </a:p>
                  </a:txBody>
                  <a:tcPr anchor="ctr">
                    <a:solidFill>
                      <a:srgbClr val="00519E"/>
                    </a:solidFill>
                  </a:tcPr>
                </a:tc>
                <a:tc>
                  <a:txBody>
                    <a:bodyPr wrap="square"/>
                    <a:lstStyle/>
                    <a:p>
                      <a:pPr algn="l">
                        <a:spcAft>
                          <a:spcPts val="0"/>
                        </a:spcAft>
                      </a:pPr>
                      <a:r>
                        <a:rPr sz="900" b="1">
                          <a:solidFill>
                            <a:srgbClr val="FFFFFF"/>
                          </a:solidFill>
                          <a:latin typeface="Arial"/>
                        </a:rPr>
                        <a:t>R²</a:t>
                      </a:r>
                    </a:p>
                  </a:txBody>
                  <a:tcPr anchor="ctr">
                    <a:solidFill>
                      <a:srgbClr val="00519E"/>
                    </a:solidFill>
                  </a:tcPr>
                </a:tc>
                <a:tc>
                  <a:txBody>
                    <a:bodyPr wrap="square"/>
                    <a:lstStyle/>
                    <a:p>
                      <a:pPr algn="l">
                        <a:spcAft>
                          <a:spcPts val="0"/>
                        </a:spcAft>
                      </a:pPr>
                      <a:r>
                        <a:rPr sz="900" b="1">
                          <a:solidFill>
                            <a:srgbClr val="FFFFFF"/>
                          </a:solidFill>
                          <a:latin typeface="Arial"/>
                        </a:rPr>
                        <a:t>RMSE</a:t>
                      </a:r>
                    </a:p>
                  </a:txBody>
                  <a:tcPr anchor="ctr">
                    <a:solidFill>
                      <a:srgbClr val="00519E"/>
                    </a:solidFill>
                  </a:tcPr>
                </a:tc>
                <a:tc>
                  <a:txBody>
                    <a:bodyPr wrap="square"/>
                    <a:lstStyle/>
                    <a:p>
                      <a:pPr algn="l">
                        <a:spcAft>
                          <a:spcPts val="0"/>
                        </a:spcAft>
                      </a:pPr>
                      <a:r>
                        <a:rPr sz="900" b="1">
                          <a:solidFill>
                            <a:srgbClr val="FFFFFF"/>
                          </a:solidFill>
                          <a:latin typeface="Arial"/>
                        </a:rPr>
                        <a:t>MAE</a:t>
                      </a:r>
                    </a:p>
                  </a:txBody>
                  <a:tcPr anchor="ctr">
                    <a:solidFill>
                      <a:srgbClr val="00519E"/>
                    </a:solidFill>
                  </a:tcPr>
                </a:tc>
                <a:tc>
                  <a:txBody>
                    <a:bodyPr wrap="square"/>
                    <a:lstStyle/>
                    <a:p>
                      <a:pPr algn="l">
                        <a:spcAft>
                          <a:spcPts val="0"/>
                        </a:spcAft>
                      </a:pPr>
                      <a:r>
                        <a:rPr sz="900" b="1">
                          <a:solidFill>
                            <a:srgbClr val="FFFFFF"/>
                          </a:solidFill>
                          <a:latin typeface="Arial"/>
                        </a:rPr>
                        <a:t>bias</a:t>
                      </a:r>
                    </a:p>
                  </a:txBody>
                  <a:tcPr anchor="ctr">
                    <a:solidFill>
                      <a:srgbClr val="00519E"/>
                    </a:solidFill>
                  </a:tcPr>
                </a:tc>
              </a:tr>
              <a:tr h="237744">
                <a:tc>
                  <a:txBody>
                    <a:bodyPr wrap="square"/>
                    <a:lstStyle/>
                    <a:p>
                      <a:pPr algn="l">
                        <a:spcAft>
                          <a:spcPts val="0"/>
                        </a:spcAft>
                      </a:pPr>
                      <a:r>
                        <a:rPr sz="900" b="0">
                          <a:solidFill>
                            <a:srgbClr val="3E444C"/>
                          </a:solidFill>
                          <a:latin typeface="Arial"/>
                        </a:rPr>
                        <a:t>1</a:t>
                      </a:r>
                    </a:p>
                  </a:txBody>
                  <a:tcPr anchor="ctr">
                    <a:solidFill>
                      <a:srgbClr val="ECF4FA"/>
                    </a:solidFill>
                  </a:tcPr>
                </a:tc>
                <a:tc>
                  <a:txBody>
                    <a:bodyPr wrap="square"/>
                    <a:lstStyle/>
                    <a:p>
                      <a:pPr algn="l">
                        <a:spcAft>
                          <a:spcPts val="0"/>
                        </a:spcAft>
                      </a:pPr>
                      <a:r>
                        <a:rPr sz="900" b="0">
                          <a:solidFill>
                            <a:srgbClr val="3E444C"/>
                          </a:solidFill>
                          <a:latin typeface="Arial"/>
                        </a:rPr>
                        <a:t>+0.040</a:t>
                      </a:r>
                    </a:p>
                  </a:txBody>
                  <a:tcPr anchor="ctr">
                    <a:solidFill>
                      <a:srgbClr val="ECF4FA"/>
                    </a:solidFill>
                  </a:tcPr>
                </a:tc>
                <a:tc>
                  <a:txBody>
                    <a:bodyPr wrap="square"/>
                    <a:lstStyle/>
                    <a:p>
                      <a:pPr algn="l">
                        <a:spcAft>
                          <a:spcPts val="0"/>
                        </a:spcAft>
                      </a:pPr>
                      <a:r>
                        <a:rPr sz="900" b="0">
                          <a:solidFill>
                            <a:srgbClr val="3E444C"/>
                          </a:solidFill>
                          <a:latin typeface="Arial"/>
                        </a:rPr>
                        <a:t>55.570</a:t>
                      </a:r>
                    </a:p>
                  </a:txBody>
                  <a:tcPr anchor="ctr">
                    <a:solidFill>
                      <a:srgbClr val="ECF4FA"/>
                    </a:solidFill>
                  </a:tcPr>
                </a:tc>
                <a:tc>
                  <a:txBody>
                    <a:bodyPr wrap="square"/>
                    <a:lstStyle/>
                    <a:p>
                      <a:pPr algn="l">
                        <a:spcAft>
                          <a:spcPts val="0"/>
                        </a:spcAft>
                      </a:pPr>
                      <a:r>
                        <a:rPr sz="900" b="0">
                          <a:solidFill>
                            <a:srgbClr val="3E444C"/>
                          </a:solidFill>
                          <a:latin typeface="Arial"/>
                        </a:rPr>
                        <a:t>46.943</a:t>
                      </a:r>
                    </a:p>
                  </a:txBody>
                  <a:tcPr anchor="ctr">
                    <a:solidFill>
                      <a:srgbClr val="ECF4FA"/>
                    </a:solidFill>
                  </a:tcPr>
                </a:tc>
                <a:tc>
                  <a:txBody>
                    <a:bodyPr wrap="square"/>
                    <a:lstStyle/>
                    <a:p>
                      <a:pPr algn="l">
                        <a:spcAft>
                          <a:spcPts val="0"/>
                        </a:spcAft>
                      </a:pPr>
                      <a:r>
                        <a:rPr sz="900" b="0">
                          <a:solidFill>
                            <a:srgbClr val="3E444C"/>
                          </a:solidFill>
                          <a:latin typeface="Arial"/>
                        </a:rPr>
                        <a:t>+30.498</a:t>
                      </a:r>
                    </a:p>
                  </a:txBody>
                  <a:tcPr anchor="ctr">
                    <a:solidFill>
                      <a:srgbClr val="ECF4FA"/>
                    </a:solidFill>
                  </a:tcPr>
                </a:tc>
              </a:tr>
              <a:tr h="237744">
                <a:tc>
                  <a:txBody>
                    <a:bodyPr wrap="square"/>
                    <a:lstStyle/>
                    <a:p>
                      <a:pPr algn="l">
                        <a:spcAft>
                          <a:spcPts val="0"/>
                        </a:spcAft>
                      </a:pPr>
                      <a:r>
                        <a:rPr sz="900" b="0">
                          <a:solidFill>
                            <a:srgbClr val="3E444C"/>
                          </a:solidFill>
                          <a:latin typeface="Arial"/>
                        </a:rPr>
                        <a:t>2</a:t>
                      </a:r>
                    </a:p>
                  </a:txBody>
                  <a:tcPr anchor="ctr">
                    <a:solidFill>
                      <a:srgbClr val="FFFFFF"/>
                    </a:solidFill>
                  </a:tcPr>
                </a:tc>
                <a:tc>
                  <a:txBody>
                    <a:bodyPr wrap="square"/>
                    <a:lstStyle/>
                    <a:p>
                      <a:pPr algn="l">
                        <a:spcAft>
                          <a:spcPts val="0"/>
                        </a:spcAft>
                      </a:pPr>
                      <a:r>
                        <a:rPr sz="900" b="0">
                          <a:solidFill>
                            <a:srgbClr val="3E444C"/>
                          </a:solidFill>
                          <a:latin typeface="Arial"/>
                        </a:rPr>
                        <a:t>+0.032</a:t>
                      </a:r>
                    </a:p>
                  </a:txBody>
                  <a:tcPr anchor="ctr">
                    <a:solidFill>
                      <a:srgbClr val="FFFFFF"/>
                    </a:solidFill>
                  </a:tcPr>
                </a:tc>
                <a:tc>
                  <a:txBody>
                    <a:bodyPr wrap="square"/>
                    <a:lstStyle/>
                    <a:p>
                      <a:pPr algn="l">
                        <a:spcAft>
                          <a:spcPts val="0"/>
                        </a:spcAft>
                      </a:pPr>
                      <a:r>
                        <a:rPr sz="900" b="0">
                          <a:solidFill>
                            <a:srgbClr val="3E444C"/>
                          </a:solidFill>
                          <a:latin typeface="Arial"/>
                        </a:rPr>
                        <a:t>57.025</a:t>
                      </a:r>
                    </a:p>
                  </a:txBody>
                  <a:tcPr anchor="ctr">
                    <a:solidFill>
                      <a:srgbClr val="FFFFFF"/>
                    </a:solidFill>
                  </a:tcPr>
                </a:tc>
                <a:tc>
                  <a:txBody>
                    <a:bodyPr wrap="square"/>
                    <a:lstStyle/>
                    <a:p>
                      <a:pPr algn="l">
                        <a:spcAft>
                          <a:spcPts val="0"/>
                        </a:spcAft>
                      </a:pPr>
                      <a:r>
                        <a:rPr sz="900" b="0">
                          <a:solidFill>
                            <a:srgbClr val="3E444C"/>
                          </a:solidFill>
                          <a:latin typeface="Arial"/>
                        </a:rPr>
                        <a:t>49.669</a:t>
                      </a:r>
                    </a:p>
                  </a:txBody>
                  <a:tcPr anchor="ctr">
                    <a:solidFill>
                      <a:srgbClr val="FFFFFF"/>
                    </a:solidFill>
                  </a:tcPr>
                </a:tc>
                <a:tc>
                  <a:txBody>
                    <a:bodyPr wrap="square"/>
                    <a:lstStyle/>
                    <a:p>
                      <a:pPr algn="l">
                        <a:spcAft>
                          <a:spcPts val="0"/>
                        </a:spcAft>
                      </a:pPr>
                      <a:r>
                        <a:rPr sz="900" b="0">
                          <a:solidFill>
                            <a:srgbClr val="3E444C"/>
                          </a:solidFill>
                          <a:latin typeface="Arial"/>
                        </a:rPr>
                        <a:t>+22.117</a:t>
                      </a:r>
                    </a:p>
                  </a:txBody>
                  <a:tcPr anchor="ctr">
                    <a:solidFill>
                      <a:srgbClr val="FFFFFF"/>
                    </a:solidFill>
                  </a:tcPr>
                </a:tc>
              </a:tr>
              <a:tr h="237744">
                <a:tc>
                  <a:txBody>
                    <a:bodyPr wrap="square"/>
                    <a:lstStyle/>
                    <a:p>
                      <a:pPr algn="l">
                        <a:spcAft>
                          <a:spcPts val="0"/>
                        </a:spcAft>
                      </a:pPr>
                      <a:r>
                        <a:rPr sz="900" b="0">
                          <a:solidFill>
                            <a:srgbClr val="3E444C"/>
                          </a:solidFill>
                          <a:latin typeface="Arial"/>
                        </a:rPr>
                        <a:t>3</a:t>
                      </a:r>
                    </a:p>
                  </a:txBody>
                  <a:tcPr anchor="ctr">
                    <a:solidFill>
                      <a:srgbClr val="ECF4FA"/>
                    </a:solidFill>
                  </a:tcPr>
                </a:tc>
                <a:tc>
                  <a:txBody>
                    <a:bodyPr wrap="square"/>
                    <a:lstStyle/>
                    <a:p>
                      <a:pPr algn="l">
                        <a:spcAft>
                          <a:spcPts val="0"/>
                        </a:spcAft>
                      </a:pPr>
                      <a:r>
                        <a:rPr sz="900" b="0">
                          <a:solidFill>
                            <a:srgbClr val="3E444C"/>
                          </a:solidFill>
                          <a:latin typeface="Arial"/>
                        </a:rPr>
                        <a:t>-0.068</a:t>
                      </a:r>
                    </a:p>
                  </a:txBody>
                  <a:tcPr anchor="ctr">
                    <a:solidFill>
                      <a:srgbClr val="ECF4FA"/>
                    </a:solidFill>
                  </a:tcPr>
                </a:tc>
                <a:tc>
                  <a:txBody>
                    <a:bodyPr wrap="square"/>
                    <a:lstStyle/>
                    <a:p>
                      <a:pPr algn="l">
                        <a:spcAft>
                          <a:spcPts val="0"/>
                        </a:spcAft>
                      </a:pPr>
                      <a:r>
                        <a:rPr sz="900" b="0">
                          <a:solidFill>
                            <a:srgbClr val="3E444C"/>
                          </a:solidFill>
                          <a:latin typeface="Arial"/>
                        </a:rPr>
                        <a:t>76.307</a:t>
                      </a:r>
                    </a:p>
                  </a:txBody>
                  <a:tcPr anchor="ctr">
                    <a:solidFill>
                      <a:srgbClr val="ECF4FA"/>
                    </a:solidFill>
                  </a:tcPr>
                </a:tc>
                <a:tc>
                  <a:txBody>
                    <a:bodyPr wrap="square"/>
                    <a:lstStyle/>
                    <a:p>
                      <a:pPr algn="l">
                        <a:spcAft>
                          <a:spcPts val="0"/>
                        </a:spcAft>
                      </a:pPr>
                      <a:r>
                        <a:rPr sz="900" b="0">
                          <a:solidFill>
                            <a:srgbClr val="3E444C"/>
                          </a:solidFill>
                          <a:latin typeface="Arial"/>
                        </a:rPr>
                        <a:t>59.860</a:t>
                      </a:r>
                    </a:p>
                  </a:txBody>
                  <a:tcPr anchor="ctr">
                    <a:solidFill>
                      <a:srgbClr val="ECF4FA"/>
                    </a:solidFill>
                  </a:tcPr>
                </a:tc>
                <a:tc>
                  <a:txBody>
                    <a:bodyPr wrap="square"/>
                    <a:lstStyle/>
                    <a:p>
                      <a:pPr algn="l">
                        <a:spcAft>
                          <a:spcPts val="0"/>
                        </a:spcAft>
                      </a:pPr>
                      <a:r>
                        <a:rPr sz="900" b="0">
                          <a:solidFill>
                            <a:srgbClr val="3E444C"/>
                          </a:solidFill>
                          <a:latin typeface="Arial"/>
                        </a:rPr>
                        <a:t>+11.177</a:t>
                      </a:r>
                    </a:p>
                  </a:txBody>
                  <a:tcPr anchor="ctr">
                    <a:solidFill>
                      <a:srgbClr val="ECF4FA"/>
                    </a:solidFill>
                  </a:tcPr>
                </a:tc>
              </a:tr>
              <a:tr h="237744">
                <a:tc>
                  <a:txBody>
                    <a:bodyPr wrap="square"/>
                    <a:lstStyle/>
                    <a:p>
                      <a:pPr algn="l">
                        <a:spcAft>
                          <a:spcPts val="0"/>
                        </a:spcAft>
                      </a:pPr>
                      <a:r>
                        <a:rPr sz="900" b="0">
                          <a:solidFill>
                            <a:srgbClr val="3E444C"/>
                          </a:solidFill>
                          <a:latin typeface="Arial"/>
                        </a:rPr>
                        <a:t>4</a:t>
                      </a:r>
                    </a:p>
                  </a:txBody>
                  <a:tcPr anchor="ctr">
                    <a:solidFill>
                      <a:srgbClr val="FFFFFF"/>
                    </a:solidFill>
                  </a:tcPr>
                </a:tc>
                <a:tc>
                  <a:txBody>
                    <a:bodyPr wrap="square"/>
                    <a:lstStyle/>
                    <a:p>
                      <a:pPr algn="l">
                        <a:spcAft>
                          <a:spcPts val="0"/>
                        </a:spcAft>
                      </a:pPr>
                      <a:r>
                        <a:rPr sz="900" b="0">
                          <a:solidFill>
                            <a:srgbClr val="3E444C"/>
                          </a:solidFill>
                          <a:latin typeface="Arial"/>
                        </a:rPr>
                        <a:t>+0.020</a:t>
                      </a:r>
                    </a:p>
                  </a:txBody>
                  <a:tcPr anchor="ctr">
                    <a:solidFill>
                      <a:srgbClr val="FFFFFF"/>
                    </a:solidFill>
                  </a:tcPr>
                </a:tc>
                <a:tc>
                  <a:txBody>
                    <a:bodyPr wrap="square"/>
                    <a:lstStyle/>
                    <a:p>
                      <a:pPr algn="l">
                        <a:spcAft>
                          <a:spcPts val="0"/>
                        </a:spcAft>
                      </a:pPr>
                      <a:r>
                        <a:rPr sz="900" b="0">
                          <a:solidFill>
                            <a:srgbClr val="3E444C"/>
                          </a:solidFill>
                          <a:latin typeface="Arial"/>
                        </a:rPr>
                        <a:t>70.106</a:t>
                      </a:r>
                    </a:p>
                  </a:txBody>
                  <a:tcPr anchor="ctr">
                    <a:solidFill>
                      <a:srgbClr val="FFFFFF"/>
                    </a:solidFill>
                  </a:tcPr>
                </a:tc>
                <a:tc>
                  <a:txBody>
                    <a:bodyPr wrap="square"/>
                    <a:lstStyle/>
                    <a:p>
                      <a:pPr algn="l">
                        <a:spcAft>
                          <a:spcPts val="0"/>
                        </a:spcAft>
                      </a:pPr>
                      <a:r>
                        <a:rPr sz="900" b="0">
                          <a:solidFill>
                            <a:srgbClr val="3E444C"/>
                          </a:solidFill>
                          <a:latin typeface="Arial"/>
                        </a:rPr>
                        <a:t>53.041</a:t>
                      </a:r>
                    </a:p>
                  </a:txBody>
                  <a:tcPr anchor="ctr">
                    <a:solidFill>
                      <a:srgbClr val="FFFFFF"/>
                    </a:solidFill>
                  </a:tcPr>
                </a:tc>
                <a:tc>
                  <a:txBody>
                    <a:bodyPr wrap="square"/>
                    <a:lstStyle/>
                    <a:p>
                      <a:pPr algn="l">
                        <a:spcAft>
                          <a:spcPts val="0"/>
                        </a:spcAft>
                      </a:pPr>
                      <a:r>
                        <a:rPr sz="900" b="0">
                          <a:solidFill>
                            <a:srgbClr val="3E444C"/>
                          </a:solidFill>
                          <a:latin typeface="Arial"/>
                        </a:rPr>
                        <a:t>+5.375</a:t>
                      </a:r>
                    </a:p>
                  </a:txBody>
                  <a:tcPr anchor="ctr">
                    <a:solidFill>
                      <a:srgbClr val="FFFFFF"/>
                    </a:solidFill>
                  </a:tcPr>
                </a:tc>
              </a:tr>
              <a:tr h="237744">
                <a:tc>
                  <a:txBody>
                    <a:bodyPr wrap="square"/>
                    <a:lstStyle/>
                    <a:p>
                      <a:pPr algn="l">
                        <a:spcAft>
                          <a:spcPts val="0"/>
                        </a:spcAft>
                      </a:pPr>
                      <a:r>
                        <a:rPr sz="900" b="0">
                          <a:solidFill>
                            <a:srgbClr val="3E444C"/>
                          </a:solidFill>
                          <a:latin typeface="Arial"/>
                        </a:rPr>
                        <a:t>5</a:t>
                      </a:r>
                    </a:p>
                  </a:txBody>
                  <a:tcPr anchor="ctr">
                    <a:solidFill>
                      <a:srgbClr val="ECF4FA"/>
                    </a:solidFill>
                  </a:tcPr>
                </a:tc>
                <a:tc>
                  <a:txBody>
                    <a:bodyPr wrap="square"/>
                    <a:lstStyle/>
                    <a:p>
                      <a:pPr algn="l">
                        <a:spcAft>
                          <a:spcPts val="0"/>
                        </a:spcAft>
                      </a:pPr>
                      <a:r>
                        <a:rPr sz="900" b="0">
                          <a:solidFill>
                            <a:srgbClr val="3E444C"/>
                          </a:solidFill>
                          <a:latin typeface="Arial"/>
                        </a:rPr>
                        <a:t>-0.055</a:t>
                      </a:r>
                    </a:p>
                  </a:txBody>
                  <a:tcPr anchor="ctr">
                    <a:solidFill>
                      <a:srgbClr val="ECF4FA"/>
                    </a:solidFill>
                  </a:tcPr>
                </a:tc>
                <a:tc>
                  <a:txBody>
                    <a:bodyPr wrap="square"/>
                    <a:lstStyle/>
                    <a:p>
                      <a:pPr algn="l">
                        <a:spcAft>
                          <a:spcPts val="0"/>
                        </a:spcAft>
                      </a:pPr>
                      <a:r>
                        <a:rPr sz="900" b="0">
                          <a:solidFill>
                            <a:srgbClr val="3E444C"/>
                          </a:solidFill>
                          <a:latin typeface="Arial"/>
                        </a:rPr>
                        <a:t>61.306</a:t>
                      </a:r>
                    </a:p>
                  </a:txBody>
                  <a:tcPr anchor="ctr">
                    <a:solidFill>
                      <a:srgbClr val="ECF4FA"/>
                    </a:solidFill>
                  </a:tcPr>
                </a:tc>
                <a:tc>
                  <a:txBody>
                    <a:bodyPr wrap="square"/>
                    <a:lstStyle/>
                    <a:p>
                      <a:pPr algn="l">
                        <a:spcAft>
                          <a:spcPts val="0"/>
                        </a:spcAft>
                      </a:pPr>
                      <a:r>
                        <a:rPr sz="900" b="0">
                          <a:solidFill>
                            <a:srgbClr val="3E444C"/>
                          </a:solidFill>
                          <a:latin typeface="Arial"/>
                        </a:rPr>
                        <a:t>50.046</a:t>
                      </a:r>
                    </a:p>
                  </a:txBody>
                  <a:tcPr anchor="ctr">
                    <a:solidFill>
                      <a:srgbClr val="ECF4FA"/>
                    </a:solidFill>
                  </a:tcPr>
                </a:tc>
                <a:tc>
                  <a:txBody>
                    <a:bodyPr wrap="square"/>
                    <a:lstStyle/>
                    <a:p>
                      <a:pPr algn="l">
                        <a:spcAft>
                          <a:spcPts val="0"/>
                        </a:spcAft>
                      </a:pPr>
                      <a:r>
                        <a:rPr sz="900" b="0">
                          <a:solidFill>
                            <a:srgbClr val="3E444C"/>
                          </a:solidFill>
                          <a:latin typeface="Arial"/>
                        </a:rPr>
                        <a:t>+19.395</a:t>
                      </a:r>
                    </a:p>
                  </a:txBody>
                  <a:tcPr anchor="ctr">
                    <a:solidFill>
                      <a:srgbClr val="ECF4FA"/>
                    </a:solidFill>
                  </a:tcPr>
                </a:tc>
              </a:tr>
            </a:tbl>
          </a:graphicData>
        </a:graphic>
      </p:graphicFrame>
      <p:sp>
        <p:nvSpPr>
          <p:cNvPr id="15" name="TextBox 14"/>
          <p:cNvSpPr txBox="1"/>
          <p:nvPr/>
        </p:nvSpPr>
        <p:spPr>
          <a:xfrm>
            <a:off x="4727447" y="1005840"/>
            <a:ext cx="3986783" cy="201168"/>
          </a:xfrm>
          <a:prstGeom prst="rect">
            <a:avLst/>
          </a:prstGeom>
          <a:noFill/>
        </p:spPr>
        <p:txBody>
          <a:bodyPr wrap="square">
            <a:spAutoFit/>
          </a:bodyPr>
          <a:lstStyle/>
          <a:p>
            <a:pPr algn="l">
              <a:spcAft>
                <a:spcPts val="400"/>
              </a:spcAft>
            </a:pPr>
            <a:r>
              <a:rPr sz="1050" b="1">
                <a:solidFill>
                  <a:srgbClr val="00519E"/>
                </a:solidFill>
                <a:latin typeface="Arial"/>
              </a:rPr>
              <a:t>By terminal-lifetime quintile</a:t>
            </a:r>
          </a:p>
        </p:txBody>
      </p:sp>
      <p:graphicFrame>
        <p:nvGraphicFramePr>
          <p:cNvPr id="16" name="Table 15"/>
          <p:cNvGraphicFramePr>
            <a:graphicFrameLocks noGrp="1"/>
          </p:cNvGraphicFramePr>
          <p:nvPr/>
        </p:nvGraphicFramePr>
        <p:xfrm>
          <a:off x="4727447" y="1243584"/>
          <a:ext cx="3986784" cy="1426464"/>
        </p:xfrm>
        <a:graphic>
          <a:graphicData uri="http://schemas.openxmlformats.org/drawingml/2006/table">
            <a:tbl>
              <a:tblPr firstRow="1" bandRow="1">
                <a:tableStyleId>{5C22544A-7EE6-4342-B048-85BDC9FD1C3A}</a:tableStyleId>
              </a:tblPr>
              <a:tblGrid>
                <a:gridCol w="914400"/>
                <a:gridCol w="713232"/>
                <a:gridCol w="786384"/>
                <a:gridCol w="768096"/>
                <a:gridCol w="804672"/>
              </a:tblGrid>
              <a:tr h="237744">
                <a:tc>
                  <a:txBody>
                    <a:bodyPr wrap="square"/>
                    <a:lstStyle/>
                    <a:p>
                      <a:pPr algn="l">
                        <a:spcAft>
                          <a:spcPts val="0"/>
                        </a:spcAft>
                      </a:pPr>
                      <a:r>
                        <a:rPr sz="900" b="1">
                          <a:solidFill>
                            <a:srgbClr val="FFFFFF"/>
                          </a:solidFill>
                          <a:latin typeface="Arial"/>
                        </a:rPr>
                        <a:t>quintile</a:t>
                      </a:r>
                    </a:p>
                  </a:txBody>
                  <a:tcPr anchor="ctr">
                    <a:solidFill>
                      <a:srgbClr val="00519E"/>
                    </a:solidFill>
                  </a:tcPr>
                </a:tc>
                <a:tc>
                  <a:txBody>
                    <a:bodyPr wrap="square"/>
                    <a:lstStyle/>
                    <a:p>
                      <a:pPr algn="l">
                        <a:spcAft>
                          <a:spcPts val="0"/>
                        </a:spcAft>
                      </a:pPr>
                      <a:r>
                        <a:rPr sz="900" b="1">
                          <a:solidFill>
                            <a:srgbClr val="FFFFFF"/>
                          </a:solidFill>
                          <a:latin typeface="Arial"/>
                        </a:rPr>
                        <a:t>R²</a:t>
                      </a:r>
                    </a:p>
                  </a:txBody>
                  <a:tcPr anchor="ctr">
                    <a:solidFill>
                      <a:srgbClr val="00519E"/>
                    </a:solidFill>
                  </a:tcPr>
                </a:tc>
                <a:tc>
                  <a:txBody>
                    <a:bodyPr wrap="square"/>
                    <a:lstStyle/>
                    <a:p>
                      <a:pPr algn="l">
                        <a:spcAft>
                          <a:spcPts val="0"/>
                        </a:spcAft>
                      </a:pPr>
                      <a:r>
                        <a:rPr sz="900" b="1">
                          <a:solidFill>
                            <a:srgbClr val="FFFFFF"/>
                          </a:solidFill>
                          <a:latin typeface="Arial"/>
                        </a:rPr>
                        <a:t>RMSE</a:t>
                      </a:r>
                    </a:p>
                  </a:txBody>
                  <a:tcPr anchor="ctr">
                    <a:solidFill>
                      <a:srgbClr val="00519E"/>
                    </a:solidFill>
                  </a:tcPr>
                </a:tc>
                <a:tc>
                  <a:txBody>
                    <a:bodyPr wrap="square"/>
                    <a:lstStyle/>
                    <a:p>
                      <a:pPr algn="l">
                        <a:spcAft>
                          <a:spcPts val="0"/>
                        </a:spcAft>
                      </a:pPr>
                      <a:r>
                        <a:rPr sz="900" b="1">
                          <a:solidFill>
                            <a:srgbClr val="FFFFFF"/>
                          </a:solidFill>
                          <a:latin typeface="Arial"/>
                        </a:rPr>
                        <a:t>MAE</a:t>
                      </a:r>
                    </a:p>
                  </a:txBody>
                  <a:tcPr anchor="ctr">
                    <a:solidFill>
                      <a:srgbClr val="00519E"/>
                    </a:solidFill>
                  </a:tcPr>
                </a:tc>
                <a:tc>
                  <a:txBody>
                    <a:bodyPr wrap="square"/>
                    <a:lstStyle/>
                    <a:p>
                      <a:pPr algn="l">
                        <a:spcAft>
                          <a:spcPts val="0"/>
                        </a:spcAft>
                      </a:pPr>
                      <a:r>
                        <a:rPr sz="900" b="1">
                          <a:solidFill>
                            <a:srgbClr val="FFFFFF"/>
                          </a:solidFill>
                          <a:latin typeface="Arial"/>
                        </a:rPr>
                        <a:t>bias</a:t>
                      </a:r>
                    </a:p>
                  </a:txBody>
                  <a:tcPr anchor="ctr">
                    <a:solidFill>
                      <a:srgbClr val="00519E"/>
                    </a:solidFill>
                  </a:tcPr>
                </a:tc>
              </a:tr>
              <a:tr h="237744">
                <a:tc>
                  <a:txBody>
                    <a:bodyPr wrap="square"/>
                    <a:lstStyle/>
                    <a:p>
                      <a:pPr algn="l">
                        <a:spcAft>
                          <a:spcPts val="0"/>
                        </a:spcAft>
                      </a:pPr>
                      <a:r>
                        <a:rPr sz="900" b="0">
                          <a:solidFill>
                            <a:srgbClr val="3E444C"/>
                          </a:solidFill>
                          <a:latin typeface="Arial"/>
                        </a:rPr>
                        <a:t>1 shortest</a:t>
                      </a:r>
                    </a:p>
                  </a:txBody>
                  <a:tcPr anchor="ctr">
                    <a:solidFill>
                      <a:srgbClr val="ECF4FA"/>
                    </a:solidFill>
                  </a:tcPr>
                </a:tc>
                <a:tc>
                  <a:txBody>
                    <a:bodyPr wrap="square"/>
                    <a:lstStyle/>
                    <a:p>
                      <a:pPr algn="l">
                        <a:spcAft>
                          <a:spcPts val="0"/>
                        </a:spcAft>
                      </a:pPr>
                      <a:r>
                        <a:rPr sz="900" b="0">
                          <a:solidFill>
                            <a:srgbClr val="3E444C"/>
                          </a:solidFill>
                          <a:latin typeface="Arial"/>
                        </a:rPr>
                        <a:t>-3.274</a:t>
                      </a:r>
                    </a:p>
                  </a:txBody>
                  <a:tcPr anchor="ctr">
                    <a:solidFill>
                      <a:srgbClr val="ECF4FA"/>
                    </a:solidFill>
                  </a:tcPr>
                </a:tc>
                <a:tc>
                  <a:txBody>
                    <a:bodyPr wrap="square"/>
                    <a:lstStyle/>
                    <a:p>
                      <a:pPr algn="l">
                        <a:spcAft>
                          <a:spcPts val="0"/>
                        </a:spcAft>
                      </a:pPr>
                      <a:r>
                        <a:rPr sz="900" b="0">
                          <a:solidFill>
                            <a:srgbClr val="3E444C"/>
                          </a:solidFill>
                          <a:latin typeface="Arial"/>
                        </a:rPr>
                        <a:t>74.727</a:t>
                      </a:r>
                    </a:p>
                  </a:txBody>
                  <a:tcPr anchor="ctr">
                    <a:solidFill>
                      <a:srgbClr val="ECF4FA"/>
                    </a:solidFill>
                  </a:tcPr>
                </a:tc>
                <a:tc>
                  <a:txBody>
                    <a:bodyPr wrap="square"/>
                    <a:lstStyle/>
                    <a:p>
                      <a:pPr algn="l">
                        <a:spcAft>
                          <a:spcPts val="0"/>
                        </a:spcAft>
                      </a:pPr>
                      <a:r>
                        <a:rPr sz="900" b="0">
                          <a:solidFill>
                            <a:srgbClr val="3E444C"/>
                          </a:solidFill>
                          <a:latin typeface="Arial"/>
                        </a:rPr>
                        <a:t>72.359</a:t>
                      </a:r>
                    </a:p>
                  </a:txBody>
                  <a:tcPr anchor="ctr">
                    <a:solidFill>
                      <a:srgbClr val="ECF4FA"/>
                    </a:solidFill>
                  </a:tcPr>
                </a:tc>
                <a:tc>
                  <a:txBody>
                    <a:bodyPr wrap="square"/>
                    <a:lstStyle/>
                    <a:p>
                      <a:pPr algn="l">
                        <a:spcAft>
                          <a:spcPts val="0"/>
                        </a:spcAft>
                      </a:pPr>
                      <a:r>
                        <a:rPr sz="900" b="0">
                          <a:solidFill>
                            <a:srgbClr val="3E444C"/>
                          </a:solidFill>
                          <a:latin typeface="Arial"/>
                        </a:rPr>
                        <a:t>+72.359</a:t>
                      </a:r>
                    </a:p>
                  </a:txBody>
                  <a:tcPr anchor="ctr">
                    <a:solidFill>
                      <a:srgbClr val="ECF4FA"/>
                    </a:solidFill>
                  </a:tcPr>
                </a:tc>
              </a:tr>
              <a:tr h="237744">
                <a:tc>
                  <a:txBody>
                    <a:bodyPr wrap="square"/>
                    <a:lstStyle/>
                    <a:p>
                      <a:pPr algn="l">
                        <a:spcAft>
                          <a:spcPts val="0"/>
                        </a:spcAft>
                      </a:pPr>
                      <a:r>
                        <a:rPr sz="900" b="0">
                          <a:solidFill>
                            <a:srgbClr val="3E444C"/>
                          </a:solidFill>
                          <a:latin typeface="Arial"/>
                        </a:rPr>
                        <a:t>2</a:t>
                      </a:r>
                    </a:p>
                  </a:txBody>
                  <a:tcPr anchor="ctr">
                    <a:solidFill>
                      <a:srgbClr val="FFFFFF"/>
                    </a:solidFill>
                  </a:tcPr>
                </a:tc>
                <a:tc>
                  <a:txBody>
                    <a:bodyPr wrap="square"/>
                    <a:lstStyle/>
                    <a:p>
                      <a:pPr algn="l">
                        <a:spcAft>
                          <a:spcPts val="0"/>
                        </a:spcAft>
                      </a:pPr>
                      <a:r>
                        <a:rPr sz="900" b="0">
                          <a:solidFill>
                            <a:srgbClr val="3E444C"/>
                          </a:solidFill>
                          <a:latin typeface="Arial"/>
                        </a:rPr>
                        <a:t>-0.783</a:t>
                      </a:r>
                    </a:p>
                  </a:txBody>
                  <a:tcPr anchor="ctr">
                    <a:solidFill>
                      <a:srgbClr val="FFFFFF"/>
                    </a:solidFill>
                  </a:tcPr>
                </a:tc>
                <a:tc>
                  <a:txBody>
                    <a:bodyPr wrap="square"/>
                    <a:lstStyle/>
                    <a:p>
                      <a:pPr algn="l">
                        <a:spcAft>
                          <a:spcPts val="0"/>
                        </a:spcAft>
                      </a:pPr>
                      <a:r>
                        <a:rPr sz="900" b="0">
                          <a:solidFill>
                            <a:srgbClr val="3E444C"/>
                          </a:solidFill>
                          <a:latin typeface="Arial"/>
                        </a:rPr>
                        <a:t>56.301</a:t>
                      </a:r>
                    </a:p>
                  </a:txBody>
                  <a:tcPr anchor="ctr">
                    <a:solidFill>
                      <a:srgbClr val="FFFFFF"/>
                    </a:solidFill>
                  </a:tcPr>
                </a:tc>
                <a:tc>
                  <a:txBody>
                    <a:bodyPr wrap="square"/>
                    <a:lstStyle/>
                    <a:p>
                      <a:pPr algn="l">
                        <a:spcAft>
                          <a:spcPts val="0"/>
                        </a:spcAft>
                      </a:pPr>
                      <a:r>
                        <a:rPr sz="900" b="0">
                          <a:solidFill>
                            <a:srgbClr val="3E444C"/>
                          </a:solidFill>
                          <a:latin typeface="Arial"/>
                        </a:rPr>
                        <a:t>52.649</a:t>
                      </a:r>
                    </a:p>
                  </a:txBody>
                  <a:tcPr anchor="ctr">
                    <a:solidFill>
                      <a:srgbClr val="FFFFFF"/>
                    </a:solidFill>
                  </a:tcPr>
                </a:tc>
                <a:tc>
                  <a:txBody>
                    <a:bodyPr wrap="square"/>
                    <a:lstStyle/>
                    <a:p>
                      <a:pPr algn="l">
                        <a:spcAft>
                          <a:spcPts val="0"/>
                        </a:spcAft>
                      </a:pPr>
                      <a:r>
                        <a:rPr sz="900" b="0">
                          <a:solidFill>
                            <a:srgbClr val="3E444C"/>
                          </a:solidFill>
                          <a:latin typeface="Arial"/>
                        </a:rPr>
                        <a:t>+52.649</a:t>
                      </a:r>
                    </a:p>
                  </a:txBody>
                  <a:tcPr anchor="ctr">
                    <a:solidFill>
                      <a:srgbClr val="FFFFFF"/>
                    </a:solidFill>
                  </a:tcPr>
                </a:tc>
              </a:tr>
              <a:tr h="237744">
                <a:tc>
                  <a:txBody>
                    <a:bodyPr wrap="square"/>
                    <a:lstStyle/>
                    <a:p>
                      <a:pPr algn="l">
                        <a:spcAft>
                          <a:spcPts val="0"/>
                        </a:spcAft>
                      </a:pPr>
                      <a:r>
                        <a:rPr sz="900" b="0">
                          <a:solidFill>
                            <a:srgbClr val="3E444C"/>
                          </a:solidFill>
                          <a:latin typeface="Arial"/>
                        </a:rPr>
                        <a:t>3</a:t>
                      </a:r>
                    </a:p>
                  </a:txBody>
                  <a:tcPr anchor="ctr">
                    <a:solidFill>
                      <a:srgbClr val="ECF4FA"/>
                    </a:solidFill>
                  </a:tcPr>
                </a:tc>
                <a:tc>
                  <a:txBody>
                    <a:bodyPr wrap="square"/>
                    <a:lstStyle/>
                    <a:p>
                      <a:pPr algn="l">
                        <a:spcAft>
                          <a:spcPts val="0"/>
                        </a:spcAft>
                      </a:pPr>
                      <a:r>
                        <a:rPr sz="900" b="0">
                          <a:solidFill>
                            <a:srgbClr val="3E444C"/>
                          </a:solidFill>
                          <a:latin typeface="Arial"/>
                        </a:rPr>
                        <a:t>+0.330</a:t>
                      </a:r>
                    </a:p>
                  </a:txBody>
                  <a:tcPr anchor="ctr">
                    <a:solidFill>
                      <a:srgbClr val="ECF4FA"/>
                    </a:solidFill>
                  </a:tcPr>
                </a:tc>
                <a:tc>
                  <a:txBody>
                    <a:bodyPr wrap="square"/>
                    <a:lstStyle/>
                    <a:p>
                      <a:pPr algn="l">
                        <a:spcAft>
                          <a:spcPts val="0"/>
                        </a:spcAft>
                      </a:pPr>
                      <a:r>
                        <a:rPr sz="900" b="0">
                          <a:solidFill>
                            <a:srgbClr val="3E444C"/>
                          </a:solidFill>
                          <a:latin typeface="Arial"/>
                        </a:rPr>
                        <a:t>40.994</a:t>
                      </a:r>
                    </a:p>
                  </a:txBody>
                  <a:tcPr anchor="ctr">
                    <a:solidFill>
                      <a:srgbClr val="ECF4FA"/>
                    </a:solidFill>
                  </a:tcPr>
                </a:tc>
                <a:tc>
                  <a:txBody>
                    <a:bodyPr wrap="square"/>
                    <a:lstStyle/>
                    <a:p>
                      <a:pPr algn="l">
                        <a:spcAft>
                          <a:spcPts val="0"/>
                        </a:spcAft>
                      </a:pPr>
                      <a:r>
                        <a:rPr sz="900" b="0">
                          <a:solidFill>
                            <a:srgbClr val="3E444C"/>
                          </a:solidFill>
                          <a:latin typeface="Arial"/>
                        </a:rPr>
                        <a:t>35.108</a:t>
                      </a:r>
                    </a:p>
                  </a:txBody>
                  <a:tcPr anchor="ctr">
                    <a:solidFill>
                      <a:srgbClr val="ECF4FA"/>
                    </a:solidFill>
                  </a:tcPr>
                </a:tc>
                <a:tc>
                  <a:txBody>
                    <a:bodyPr wrap="square"/>
                    <a:lstStyle/>
                    <a:p>
                      <a:pPr algn="l">
                        <a:spcAft>
                          <a:spcPts val="0"/>
                        </a:spcAft>
                      </a:pPr>
                      <a:r>
                        <a:rPr sz="900" b="0">
                          <a:solidFill>
                            <a:srgbClr val="3E444C"/>
                          </a:solidFill>
                          <a:latin typeface="Arial"/>
                        </a:rPr>
                        <a:t>+33.089</a:t>
                      </a:r>
                    </a:p>
                  </a:txBody>
                  <a:tcPr anchor="ctr">
                    <a:solidFill>
                      <a:srgbClr val="ECF4FA"/>
                    </a:solidFill>
                  </a:tcPr>
                </a:tc>
              </a:tr>
              <a:tr h="237744">
                <a:tc>
                  <a:txBody>
                    <a:bodyPr wrap="square"/>
                    <a:lstStyle/>
                    <a:p>
                      <a:pPr algn="l">
                        <a:spcAft>
                          <a:spcPts val="0"/>
                        </a:spcAft>
                      </a:pPr>
                      <a:r>
                        <a:rPr sz="900" b="0">
                          <a:solidFill>
                            <a:srgbClr val="3E444C"/>
                          </a:solidFill>
                          <a:latin typeface="Arial"/>
                        </a:rPr>
                        <a:t>4</a:t>
                      </a:r>
                    </a:p>
                  </a:txBody>
                  <a:tcPr anchor="ctr">
                    <a:solidFill>
                      <a:srgbClr val="FFFFFF"/>
                    </a:solidFill>
                  </a:tcPr>
                </a:tc>
                <a:tc>
                  <a:txBody>
                    <a:bodyPr wrap="square"/>
                    <a:lstStyle/>
                    <a:p>
                      <a:pPr algn="l">
                        <a:spcAft>
                          <a:spcPts val="0"/>
                        </a:spcAft>
                      </a:pPr>
                      <a:r>
                        <a:rPr sz="900" b="0">
                          <a:solidFill>
                            <a:srgbClr val="3E444C"/>
                          </a:solidFill>
                          <a:latin typeface="Arial"/>
                        </a:rPr>
                        <a:t>+0.746</a:t>
                      </a:r>
                    </a:p>
                  </a:txBody>
                  <a:tcPr anchor="ctr">
                    <a:solidFill>
                      <a:srgbClr val="FFFFFF"/>
                    </a:solidFill>
                  </a:tcPr>
                </a:tc>
                <a:tc>
                  <a:txBody>
                    <a:bodyPr wrap="square"/>
                    <a:lstStyle/>
                    <a:p>
                      <a:pPr algn="l">
                        <a:spcAft>
                          <a:spcPts val="0"/>
                        </a:spcAft>
                      </a:pPr>
                      <a:r>
                        <a:rPr sz="900" b="0">
                          <a:solidFill>
                            <a:srgbClr val="3E444C"/>
                          </a:solidFill>
                          <a:latin typeface="Arial"/>
                        </a:rPr>
                        <a:t>31.938</a:t>
                      </a:r>
                    </a:p>
                  </a:txBody>
                  <a:tcPr anchor="ctr">
                    <a:solidFill>
                      <a:srgbClr val="FFFFFF"/>
                    </a:solidFill>
                  </a:tcPr>
                </a:tc>
                <a:tc>
                  <a:txBody>
                    <a:bodyPr wrap="square"/>
                    <a:lstStyle/>
                    <a:p>
                      <a:pPr algn="l">
                        <a:spcAft>
                          <a:spcPts val="0"/>
                        </a:spcAft>
                      </a:pPr>
                      <a:r>
                        <a:rPr sz="900" b="0">
                          <a:solidFill>
                            <a:srgbClr val="3E444C"/>
                          </a:solidFill>
                          <a:latin typeface="Arial"/>
                        </a:rPr>
                        <a:t>26.764</a:t>
                      </a:r>
                    </a:p>
                  </a:txBody>
                  <a:tcPr anchor="ctr">
                    <a:solidFill>
                      <a:srgbClr val="FFFFFF"/>
                    </a:solidFill>
                  </a:tcPr>
                </a:tc>
                <a:tc>
                  <a:txBody>
                    <a:bodyPr wrap="square"/>
                    <a:lstStyle/>
                    <a:p>
                      <a:pPr algn="l">
                        <a:spcAft>
                          <a:spcPts val="0"/>
                        </a:spcAft>
                      </a:pPr>
                      <a:r>
                        <a:rPr sz="900" b="0">
                          <a:solidFill>
                            <a:srgbClr val="3E444C"/>
                          </a:solidFill>
                          <a:latin typeface="Arial"/>
                        </a:rPr>
                        <a:t>+1.286</a:t>
                      </a:r>
                    </a:p>
                  </a:txBody>
                  <a:tcPr anchor="ctr">
                    <a:solidFill>
                      <a:srgbClr val="FFFFFF"/>
                    </a:solidFill>
                  </a:tcPr>
                </a:tc>
              </a:tr>
              <a:tr h="237744">
                <a:tc>
                  <a:txBody>
                    <a:bodyPr wrap="square"/>
                    <a:lstStyle/>
                    <a:p>
                      <a:pPr algn="l">
                        <a:spcAft>
                          <a:spcPts val="0"/>
                        </a:spcAft>
                      </a:pPr>
                      <a:r>
                        <a:rPr sz="900" b="0">
                          <a:solidFill>
                            <a:srgbClr val="3E444C"/>
                          </a:solidFill>
                          <a:latin typeface="Arial"/>
                        </a:rPr>
                        <a:t>5 longest</a:t>
                      </a:r>
                    </a:p>
                  </a:txBody>
                  <a:tcPr anchor="ctr">
                    <a:solidFill>
                      <a:srgbClr val="ECF4FA"/>
                    </a:solidFill>
                  </a:tcPr>
                </a:tc>
                <a:tc>
                  <a:txBody>
                    <a:bodyPr wrap="square"/>
                    <a:lstStyle/>
                    <a:p>
                      <a:pPr algn="l">
                        <a:spcAft>
                          <a:spcPts val="0"/>
                        </a:spcAft>
                      </a:pPr>
                      <a:r>
                        <a:rPr sz="900" b="0">
                          <a:solidFill>
                            <a:srgbClr val="3E444C"/>
                          </a:solidFill>
                          <a:latin typeface="Arial"/>
                        </a:rPr>
                        <a:t>-0.059</a:t>
                      </a:r>
                    </a:p>
                  </a:txBody>
                  <a:tcPr anchor="ctr">
                    <a:solidFill>
                      <a:srgbClr val="ECF4FA"/>
                    </a:solidFill>
                  </a:tcPr>
                </a:tc>
                <a:tc>
                  <a:txBody>
                    <a:bodyPr wrap="square"/>
                    <a:lstStyle/>
                    <a:p>
                      <a:pPr algn="l">
                        <a:spcAft>
                          <a:spcPts val="0"/>
                        </a:spcAft>
                      </a:pPr>
                      <a:r>
                        <a:rPr sz="900" b="0">
                          <a:solidFill>
                            <a:srgbClr val="3E444C"/>
                          </a:solidFill>
                          <a:latin typeface="Arial"/>
                        </a:rPr>
                        <a:t>96.859</a:t>
                      </a:r>
                    </a:p>
                  </a:txBody>
                  <a:tcPr anchor="ctr">
                    <a:solidFill>
                      <a:srgbClr val="ECF4FA"/>
                    </a:solidFill>
                  </a:tcPr>
                </a:tc>
                <a:tc>
                  <a:txBody>
                    <a:bodyPr wrap="square"/>
                    <a:lstStyle/>
                    <a:p>
                      <a:pPr algn="l">
                        <a:spcAft>
                          <a:spcPts val="0"/>
                        </a:spcAft>
                      </a:pPr>
                      <a:r>
                        <a:rPr sz="900" b="0">
                          <a:solidFill>
                            <a:srgbClr val="3E444C"/>
                          </a:solidFill>
                          <a:latin typeface="Arial"/>
                        </a:rPr>
                        <a:t>72.680</a:t>
                      </a:r>
                    </a:p>
                  </a:txBody>
                  <a:tcPr anchor="ctr">
                    <a:solidFill>
                      <a:srgbClr val="ECF4FA"/>
                    </a:solidFill>
                  </a:tcPr>
                </a:tc>
                <a:tc>
                  <a:txBody>
                    <a:bodyPr wrap="square"/>
                    <a:lstStyle/>
                    <a:p>
                      <a:pPr algn="l">
                        <a:spcAft>
                          <a:spcPts val="0"/>
                        </a:spcAft>
                      </a:pPr>
                      <a:r>
                        <a:rPr sz="900" b="0">
                          <a:solidFill>
                            <a:srgbClr val="3E444C"/>
                          </a:solidFill>
                          <a:latin typeface="Arial"/>
                        </a:rPr>
                        <a:t>-70.821</a:t>
                      </a:r>
                    </a:p>
                  </a:txBody>
                  <a:tcPr anchor="ctr">
                    <a:solidFill>
                      <a:srgbClr val="ECF4FA"/>
                    </a:solidFill>
                  </a:tcPr>
                </a:tc>
              </a:tr>
            </a:tbl>
          </a:graphicData>
        </a:graphic>
      </p:graphicFrame>
      <p:sp>
        <p:nvSpPr>
          <p:cNvPr id="17" name="Rounded Rectangle 16"/>
          <p:cNvSpPr/>
          <p:nvPr/>
        </p:nvSpPr>
        <p:spPr>
          <a:xfrm>
            <a:off x="4727447" y="2834640"/>
            <a:ext cx="3986783" cy="1280160"/>
          </a:xfrm>
          <a:prstGeom prst="roundRect">
            <a:avLst/>
          </a:prstGeom>
          <a:solidFill>
            <a:srgbClr val="FFD5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spcAft>
                <a:spcPts val="300"/>
              </a:spcAft>
            </a:pPr>
            <a:r>
              <a:rPr sz="950" b="1">
                <a:solidFill>
                  <a:srgbClr val="3E444C"/>
                </a:solidFill>
                <a:latin typeface="Arial"/>
              </a:rPr>
              <a:t>What the quintiles show</a:t>
            </a:r>
          </a:p>
          <a:p>
            <a:pPr algn="l">
              <a:spcAft>
                <a:spcPts val="300"/>
              </a:spcAft>
            </a:pPr>
            <a:r>
              <a:rPr sz="950" b="0">
                <a:solidFill>
                  <a:srgbClr val="3E444C"/>
                </a:solidFill>
                <a:latin typeface="Arial"/>
              </a:rPr>
              <a:t>A cycle-only fit cannot be right for both short- and long-lived UAVs at once: it overpredicts the shortest by 72 cycles and underpredicts the longest by 71. Fold R² alone ranges from -0.068 to +0.040, which is why a single 80/20 split would not have been a measurement.</a:t>
            </a:r>
          </a:p>
        </p:txBody>
      </p:sp>
      <p:sp>
        <p:nvSpPr>
          <p:cNvPr id="18" name="TextBox 17"/>
          <p:cNvSpPr txBox="1"/>
          <p:nvPr/>
        </p:nvSpPr>
        <p:spPr>
          <a:xfrm>
            <a:off x="466344" y="4535424"/>
            <a:ext cx="8247888" cy="164592"/>
          </a:xfrm>
          <a:prstGeom prst="rect">
            <a:avLst/>
          </a:prstGeom>
          <a:noFill/>
        </p:spPr>
        <p:txBody>
          <a:bodyPr wrap="square">
            <a:spAutoFit/>
          </a:bodyPr>
          <a:lstStyle/>
          <a:p>
            <a:pPr algn="l">
              <a:spcAft>
                <a:spcPts val="400"/>
              </a:spcAft>
            </a:pPr>
            <a:r>
              <a:rPr sz="900" b="0">
                <a:solidFill>
                  <a:srgbClr val="9F9998"/>
                </a:solidFill>
                <a:latin typeface="Arial"/>
              </a:rPr>
              <a:t>Source: 1_dataset_construction/9_cycle_only_baseline/artifacts/metrics/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a:spcAft>
                <a:spcPts val="400"/>
              </a:spcAft>
            </a:pPr>
            <a:r>
              <a:rPr sz="1800" b="1">
                <a:solidFill>
                  <a:srgbClr val="3E444C"/>
                </a:solidFill>
                <a:latin typeface="Arial"/>
              </a:rPr>
              <a:t>Backup: full locked architecture comparison</a:t>
            </a:r>
          </a:p>
        </p:txBody>
      </p:sp>
      <p:sp>
        <p:nvSpPr>
          <p:cNvPr id="3" name="Text Placeholder 2"/>
          <p:cNvSpPr>
            <a:spLocks noGrp="1"/>
          </p:cNvSpPr>
          <p:nvPr>
            <p:ph type="body" idx="13" sz="quarter"/>
          </p:nvPr>
        </p:nvSpPr>
        <p:spPr/>
        <p:txBody>
          <a:bodyPr wrap="square"/>
          <a:lstStyle/>
          <a:p>
            <a:pPr algn="l">
              <a:spcAft>
                <a:spcPts val="400"/>
              </a:spcAft>
            </a:pPr>
            <a:r>
              <a:rPr sz="1400" b="0">
                <a:solidFill>
                  <a:srgbClr val="9F9998"/>
                </a:solidFill>
                <a:latin typeface="Arial"/>
              </a:rPr>
              <a:t>Architecture study run 5, five held-out UAV folds, identical folds and cutoffs for every entry</a:t>
            </a:r>
          </a:p>
        </p:txBody>
      </p:sp>
      <p:sp>
        <p:nvSpPr>
          <p:cNvPr id="7" name="Datumsplatzhalter 6">
            <a:extLst>
              <a:ext uri="{FF2B5EF4-FFF2-40B4-BE49-F238E27FC236}">
                <a16:creationId xmlns:a16="http://schemas.microsoft.com/office/drawing/2014/main" id="{124A6A03-5D2E-417E-9A62-737D1DBC92ED}"/>
              </a:ext>
              <a:ext uri="{C183D7F6-B498-43B3-948B-1728B52AA6E4}">
                <adec:decorative xmlns:adec="http://schemas.microsoft.com/office/drawing/2017/decorative" val="1"/>
              </a:ext>
            </a:extLst>
          </p:cNvPr>
          <p:cNvSpPr>
            <a:spLocks noGrp="1"/>
          </p:cNvSpPr>
          <p:nvPr>
            <p:ph type="dt" sz="half" idx="14"/>
          </p:nvPr>
        </p:nvSpPr>
        <p:spPr>
          <a:xfrm>
            <a:off x="6492240" y="4873752"/>
            <a:ext cx="1737360" cy="146304"/>
          </a:xfrm>
        </p:spPr>
        <p:txBody>
          <a:bodyPr/>
          <a:lstStyle/>
          <a:p>
            <a:pPr algn="r"/>
            <a:r>
              <a:rPr lang="de-DE"/>
              <a:t>9 September 2026</a:t>
            </a:r>
            <a:endParaRPr lang="en-US" dirty="0"/>
          </a:p>
        </p:txBody>
      </p:sp>
      <p:sp>
        <p:nvSpPr>
          <p:cNvPr id="8" name="Fußzeilenplatzhalter 7">
            <a:extLst>
              <a:ext uri="{FF2B5EF4-FFF2-40B4-BE49-F238E27FC236}">
                <a16:creationId xmlns:a16="http://schemas.microsoft.com/office/drawing/2014/main" id="{90427F68-7D65-4111-9D28-F407D044A73B}"/>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UAV remaining useful life estimation</a:t>
            </a:r>
            <a:endParaRPr lang="en-US" dirty="0"/>
          </a:p>
        </p:txBody>
      </p:sp>
      <p:sp>
        <p:nvSpPr>
          <p:cNvPr id="10" name="Foliennummernplatzhalter 9">
            <a:extLst>
              <a:ext uri="{FF2B5EF4-FFF2-40B4-BE49-F238E27FC236}">
                <a16:creationId xmlns:a16="http://schemas.microsoft.com/office/drawing/2014/main" id="{BC2B8577-8AB8-42B5-8BA8-1751A412246A}"/>
              </a:ext>
              <a:ext uri="{C183D7F6-B498-43B3-948B-1728B52AA6E4}">
                <adec:decorative xmlns:adec="http://schemas.microsoft.com/office/drawing/2017/decorative" val="1"/>
              </a:ext>
            </a:extLst>
          </p:cNvPr>
          <p:cNvSpPr>
            <a:spLocks noGrp="1"/>
          </p:cNvSpPr>
          <p:nvPr>
            <p:ph type="sldNum" sz="quarter" idx="16"/>
          </p:nvPr>
        </p:nvSpPr>
        <p:spPr/>
        <p:txBody>
          <a:bodyPr/>
          <a:lstStyle/>
          <a:p>
            <a:fld id="{9E82CC3C-1DC0-4FDA-9590-6CC506AB67F8}" type="slidenum">
              <a:rPr lang="en-US" smtClean="0"/>
              <a:pPr/>
              <a:t>‹Nr.›</a:t>
            </a:fld>
            <a:endParaRPr lang="en-US" dirty="0"/>
          </a:p>
        </p:txBody>
      </p:sp>
      <p:graphicFrame>
        <p:nvGraphicFramePr>
          <p:cNvPr id="11" name="Table 10"/>
          <p:cNvGraphicFramePr>
            <a:graphicFrameLocks noGrp="1"/>
          </p:cNvGraphicFramePr>
          <p:nvPr/>
        </p:nvGraphicFramePr>
        <p:xfrm>
          <a:off x="466344" y="1060704"/>
          <a:ext cx="8247888" cy="1975104"/>
        </p:xfrm>
        <a:graphic>
          <a:graphicData uri="http://schemas.openxmlformats.org/drawingml/2006/table">
            <a:tbl>
              <a:tblPr firstRow="1" bandRow="1">
                <a:tableStyleId>{5C22544A-7EE6-4342-B048-85BDC9FD1C3A}</a:tableStyleId>
              </a:tblPr>
              <a:tblGrid>
                <a:gridCol w="1920240"/>
                <a:gridCol w="566928"/>
                <a:gridCol w="841248"/>
                <a:gridCol w="932688"/>
                <a:gridCol w="914400"/>
                <a:gridCol w="3072384"/>
              </a:tblGrid>
              <a:tr h="219456">
                <a:tc>
                  <a:txBody>
                    <a:bodyPr wrap="square"/>
                    <a:lstStyle/>
                    <a:p>
                      <a:pPr algn="l">
                        <a:spcAft>
                          <a:spcPts val="0"/>
                        </a:spcAft>
                      </a:pPr>
                      <a:r>
                        <a:rPr sz="950" b="1">
                          <a:solidFill>
                            <a:srgbClr val="FFFFFF"/>
                          </a:solidFill>
                          <a:latin typeface="Arial"/>
                        </a:rPr>
                        <a:t>architecture</a:t>
                      </a:r>
                    </a:p>
                  </a:txBody>
                  <a:tcPr anchor="ctr">
                    <a:solidFill>
                      <a:srgbClr val="00519E"/>
                    </a:solidFill>
                  </a:tcPr>
                </a:tc>
                <a:tc>
                  <a:txBody>
                    <a:bodyPr wrap="square"/>
                    <a:lstStyle/>
                    <a:p>
                      <a:pPr algn="l">
                        <a:spcAft>
                          <a:spcPts val="0"/>
                        </a:spcAft>
                      </a:pPr>
                      <a:r>
                        <a:rPr sz="950" b="1">
                          <a:solidFill>
                            <a:srgbClr val="FFFFFF"/>
                          </a:solidFill>
                          <a:latin typeface="Arial"/>
                        </a:rPr>
                        <a:t>seeds</a:t>
                      </a:r>
                    </a:p>
                  </a:txBody>
                  <a:tcPr anchor="ctr">
                    <a:solidFill>
                      <a:srgbClr val="00519E"/>
                    </a:solidFill>
                  </a:tcPr>
                </a:tc>
                <a:tc>
                  <a:txBody>
                    <a:bodyPr wrap="square"/>
                    <a:lstStyle/>
                    <a:p>
                      <a:pPr algn="l">
                        <a:spcAft>
                          <a:spcPts val="0"/>
                        </a:spcAft>
                      </a:pPr>
                      <a:r>
                        <a:rPr sz="950" b="1">
                          <a:solidFill>
                            <a:srgbClr val="FFFFFF"/>
                          </a:solidFill>
                          <a:latin typeface="Arial"/>
                        </a:rPr>
                        <a:t>R² mean</a:t>
                      </a:r>
                    </a:p>
                  </a:txBody>
                  <a:tcPr anchor="ctr">
                    <a:solidFill>
                      <a:srgbClr val="00519E"/>
                    </a:solidFill>
                  </a:tcPr>
                </a:tc>
                <a:tc>
                  <a:txBody>
                    <a:bodyPr wrap="square"/>
                    <a:lstStyle/>
                    <a:p>
                      <a:pPr algn="l">
                        <a:spcAft>
                          <a:spcPts val="0"/>
                        </a:spcAft>
                      </a:pPr>
                      <a:r>
                        <a:rPr sz="950" b="1">
                          <a:solidFill>
                            <a:srgbClr val="FFFFFF"/>
                          </a:solidFill>
                          <a:latin typeface="Arial"/>
                        </a:rPr>
                        <a:t>RMSE mean</a:t>
                      </a:r>
                    </a:p>
                  </a:txBody>
                  <a:tcPr anchor="ctr">
                    <a:solidFill>
                      <a:srgbClr val="00519E"/>
                    </a:solidFill>
                  </a:tcPr>
                </a:tc>
                <a:tc>
                  <a:txBody>
                    <a:bodyPr wrap="square"/>
                    <a:lstStyle/>
                    <a:p>
                      <a:pPr algn="l">
                        <a:spcAft>
                          <a:spcPts val="0"/>
                        </a:spcAft>
                      </a:pPr>
                      <a:r>
                        <a:rPr sz="950" b="1">
                          <a:solidFill>
                            <a:srgbClr val="FFFFFF"/>
                          </a:solidFill>
                          <a:latin typeface="Arial"/>
                        </a:rPr>
                        <a:t>R² seed SD</a:t>
                      </a:r>
                    </a:p>
                  </a:txBody>
                  <a:tcPr anchor="ctr">
                    <a:solidFill>
                      <a:srgbClr val="00519E"/>
                    </a:solidFill>
                  </a:tcPr>
                </a:tc>
                <a:tc>
                  <a:txBody>
                    <a:bodyPr wrap="square"/>
                    <a:lstStyle/>
                    <a:p>
                      <a:pPr algn="l">
                        <a:spcAft>
                          <a:spcPts val="0"/>
                        </a:spcAft>
                      </a:pPr>
                      <a:r>
                        <a:rPr sz="950" b="1">
                          <a:solidFill>
                            <a:srgbClr val="FFFFFF"/>
                          </a:solidFill>
                          <a:latin typeface="Arial"/>
                        </a:rPr>
                        <a:t>R² 95% UAV-bootstrap interval</a:t>
                      </a:r>
                    </a:p>
                  </a:txBody>
                  <a:tcPr anchor="ctr">
                    <a:solidFill>
                      <a:srgbClr val="00519E"/>
                    </a:solidFill>
                  </a:tcPr>
                </a:tc>
              </a:tr>
              <a:tr h="219456">
                <a:tc>
                  <a:txBody>
                    <a:bodyPr wrap="square"/>
                    <a:lstStyle/>
                    <a:p>
                      <a:pPr algn="l">
                        <a:spcAft>
                          <a:spcPts val="0"/>
                        </a:spcAft>
                      </a:pPr>
                      <a:r>
                        <a:rPr sz="950" b="1">
                          <a:solidFill>
                            <a:srgbClr val="00519E"/>
                          </a:solidFill>
                          <a:latin typeface="Arial"/>
                        </a:rPr>
                        <a:t>XGBoost</a:t>
                      </a:r>
                    </a:p>
                  </a:txBody>
                  <a:tcPr anchor="ctr">
                    <a:solidFill>
                      <a:srgbClr val="ECF4FA"/>
                    </a:solidFill>
                  </a:tcPr>
                </a:tc>
                <a:tc>
                  <a:txBody>
                    <a:bodyPr wrap="square"/>
                    <a:lstStyle/>
                    <a:p>
                      <a:pPr algn="l">
                        <a:spcAft>
                          <a:spcPts val="0"/>
                        </a:spcAft>
                      </a:pPr>
                      <a:r>
                        <a:rPr sz="950" b="1">
                          <a:solidFill>
                            <a:srgbClr val="00519E"/>
                          </a:solidFill>
                          <a:latin typeface="Arial"/>
                        </a:rPr>
                        <a:t>3</a:t>
                      </a:r>
                    </a:p>
                  </a:txBody>
                  <a:tcPr anchor="ctr">
                    <a:solidFill>
                      <a:srgbClr val="ECF4FA"/>
                    </a:solidFill>
                  </a:tcPr>
                </a:tc>
                <a:tc>
                  <a:txBody>
                    <a:bodyPr wrap="square"/>
                    <a:lstStyle/>
                    <a:p>
                      <a:pPr algn="l">
                        <a:spcAft>
                          <a:spcPts val="0"/>
                        </a:spcAft>
                      </a:pPr>
                      <a:r>
                        <a:rPr sz="950" b="1">
                          <a:solidFill>
                            <a:srgbClr val="00519E"/>
                          </a:solidFill>
                          <a:latin typeface="Arial"/>
                        </a:rPr>
                        <a:t>0.8041</a:t>
                      </a:r>
                    </a:p>
                  </a:txBody>
                  <a:tcPr anchor="ctr">
                    <a:solidFill>
                      <a:srgbClr val="ECF4FA"/>
                    </a:solidFill>
                  </a:tcPr>
                </a:tc>
                <a:tc>
                  <a:txBody>
                    <a:bodyPr wrap="square"/>
                    <a:lstStyle/>
                    <a:p>
                      <a:pPr algn="l">
                        <a:spcAft>
                          <a:spcPts val="0"/>
                        </a:spcAft>
                      </a:pPr>
                      <a:r>
                        <a:rPr sz="950" b="1">
                          <a:solidFill>
                            <a:srgbClr val="00519E"/>
                          </a:solidFill>
                          <a:latin typeface="Arial"/>
                        </a:rPr>
                        <a:t>28.4989</a:t>
                      </a:r>
                    </a:p>
                  </a:txBody>
                  <a:tcPr anchor="ctr">
                    <a:solidFill>
                      <a:srgbClr val="ECF4FA"/>
                    </a:solidFill>
                  </a:tcPr>
                </a:tc>
                <a:tc>
                  <a:txBody>
                    <a:bodyPr wrap="square"/>
                    <a:lstStyle/>
                    <a:p>
                      <a:pPr algn="l">
                        <a:spcAft>
                          <a:spcPts val="0"/>
                        </a:spcAft>
                      </a:pPr>
                      <a:r>
                        <a:rPr sz="950" b="1">
                          <a:solidFill>
                            <a:srgbClr val="00519E"/>
                          </a:solidFill>
                          <a:latin typeface="Arial"/>
                        </a:rPr>
                        <a:t>0.0055</a:t>
                      </a:r>
                    </a:p>
                  </a:txBody>
                  <a:tcPr anchor="ctr">
                    <a:solidFill>
                      <a:srgbClr val="ECF4FA"/>
                    </a:solidFill>
                  </a:tcPr>
                </a:tc>
                <a:tc>
                  <a:txBody>
                    <a:bodyPr wrap="square"/>
                    <a:lstStyle/>
                    <a:p>
                      <a:pPr algn="l">
                        <a:spcAft>
                          <a:spcPts val="0"/>
                        </a:spcAft>
                      </a:pPr>
                      <a:r>
                        <a:rPr sz="950" b="1">
                          <a:solidFill>
                            <a:srgbClr val="00519E"/>
                          </a:solidFill>
                          <a:latin typeface="Arial"/>
                        </a:rPr>
                        <a:t>0.7528 - 0.8437</a:t>
                      </a:r>
                    </a:p>
                  </a:txBody>
                  <a:tcPr anchor="ctr">
                    <a:solidFill>
                      <a:srgbClr val="ECF4FA"/>
                    </a:solidFill>
                  </a:tcPr>
                </a:tc>
              </a:tr>
              <a:tr h="219456">
                <a:tc>
                  <a:txBody>
                    <a:bodyPr wrap="square"/>
                    <a:lstStyle/>
                    <a:p>
                      <a:pPr algn="l">
                        <a:spcAft>
                          <a:spcPts val="0"/>
                        </a:spcAft>
                      </a:pPr>
                      <a:r>
                        <a:rPr sz="950" b="0">
                          <a:solidFill>
                            <a:srgbClr val="3E444C"/>
                          </a:solidFill>
                          <a:latin typeface="Arial"/>
                        </a:rPr>
                        <a:t>Random Forest</a:t>
                      </a:r>
                    </a:p>
                  </a:txBody>
                  <a:tcPr anchor="ctr">
                    <a:solidFill>
                      <a:srgbClr val="FFFFFF"/>
                    </a:solidFill>
                  </a:tcPr>
                </a:tc>
                <a:tc>
                  <a:txBody>
                    <a:bodyPr wrap="square"/>
                    <a:lstStyle/>
                    <a:p>
                      <a:pPr algn="l">
                        <a:spcAft>
                          <a:spcPts val="0"/>
                        </a:spcAft>
                      </a:pPr>
                      <a:r>
                        <a:rPr sz="950" b="0">
                          <a:solidFill>
                            <a:srgbClr val="3E444C"/>
                          </a:solidFill>
                          <a:latin typeface="Arial"/>
                        </a:rPr>
                        <a:t>3</a:t>
                      </a:r>
                    </a:p>
                  </a:txBody>
                  <a:tcPr anchor="ctr">
                    <a:solidFill>
                      <a:srgbClr val="FFFFFF"/>
                    </a:solidFill>
                  </a:tcPr>
                </a:tc>
                <a:tc>
                  <a:txBody>
                    <a:bodyPr wrap="square"/>
                    <a:lstStyle/>
                    <a:p>
                      <a:pPr algn="l">
                        <a:spcAft>
                          <a:spcPts val="0"/>
                        </a:spcAft>
                      </a:pPr>
                      <a:r>
                        <a:rPr sz="950" b="0">
                          <a:solidFill>
                            <a:srgbClr val="3E444C"/>
                          </a:solidFill>
                          <a:latin typeface="Arial"/>
                        </a:rPr>
                        <a:t>0.7827</a:t>
                      </a:r>
                    </a:p>
                  </a:txBody>
                  <a:tcPr anchor="ctr">
                    <a:solidFill>
                      <a:srgbClr val="FFFFFF"/>
                    </a:solidFill>
                  </a:tcPr>
                </a:tc>
                <a:tc>
                  <a:txBody>
                    <a:bodyPr wrap="square"/>
                    <a:lstStyle/>
                    <a:p>
                      <a:pPr algn="l">
                        <a:spcAft>
                          <a:spcPts val="0"/>
                        </a:spcAft>
                      </a:pPr>
                      <a:r>
                        <a:rPr sz="950" b="0">
                          <a:solidFill>
                            <a:srgbClr val="3E444C"/>
                          </a:solidFill>
                          <a:latin typeface="Arial"/>
                        </a:rPr>
                        <a:t>30.0138</a:t>
                      </a:r>
                    </a:p>
                  </a:txBody>
                  <a:tcPr anchor="ctr">
                    <a:solidFill>
                      <a:srgbClr val="FFFFFF"/>
                    </a:solidFill>
                  </a:tcPr>
                </a:tc>
                <a:tc>
                  <a:txBody>
                    <a:bodyPr wrap="square"/>
                    <a:lstStyle/>
                    <a:p>
                      <a:pPr algn="l">
                        <a:spcAft>
                          <a:spcPts val="0"/>
                        </a:spcAft>
                      </a:pPr>
                      <a:r>
                        <a:rPr sz="950" b="0">
                          <a:solidFill>
                            <a:srgbClr val="3E444C"/>
                          </a:solidFill>
                          <a:latin typeface="Arial"/>
                        </a:rPr>
                        <a:t>0.0030</a:t>
                      </a:r>
                    </a:p>
                  </a:txBody>
                  <a:tcPr anchor="ctr">
                    <a:solidFill>
                      <a:srgbClr val="FFFFFF"/>
                    </a:solidFill>
                  </a:tcPr>
                </a:tc>
                <a:tc>
                  <a:txBody>
                    <a:bodyPr wrap="square"/>
                    <a:lstStyle/>
                    <a:p>
                      <a:pPr algn="l">
                        <a:spcAft>
                          <a:spcPts val="0"/>
                        </a:spcAft>
                      </a:pPr>
                      <a:r>
                        <a:rPr sz="950" b="0">
                          <a:solidFill>
                            <a:srgbClr val="3E444C"/>
                          </a:solidFill>
                          <a:latin typeface="Arial"/>
                        </a:rPr>
                        <a:t>0.7058 - 0.8348</a:t>
                      </a:r>
                    </a:p>
                  </a:txBody>
                  <a:tcPr anchor="ctr">
                    <a:solidFill>
                      <a:srgbClr val="FFFFFF"/>
                    </a:solidFill>
                  </a:tcPr>
                </a:tc>
              </a:tr>
              <a:tr h="219456">
                <a:tc>
                  <a:txBody>
                    <a:bodyPr wrap="square"/>
                    <a:lstStyle/>
                    <a:p>
                      <a:pPr algn="l">
                        <a:spcAft>
                          <a:spcPts val="0"/>
                        </a:spcAft>
                      </a:pPr>
                      <a:r>
                        <a:rPr sz="950" b="0">
                          <a:solidFill>
                            <a:srgbClr val="3E444C"/>
                          </a:solidFill>
                          <a:latin typeface="Arial"/>
                        </a:rPr>
                        <a:t>Extra Trees</a:t>
                      </a:r>
                    </a:p>
                  </a:txBody>
                  <a:tcPr anchor="ctr">
                    <a:solidFill>
                      <a:srgbClr val="ECF4FA"/>
                    </a:solidFill>
                  </a:tcPr>
                </a:tc>
                <a:tc>
                  <a:txBody>
                    <a:bodyPr wrap="square"/>
                    <a:lstStyle/>
                    <a:p>
                      <a:pPr algn="l">
                        <a:spcAft>
                          <a:spcPts val="0"/>
                        </a:spcAft>
                      </a:pPr>
                      <a:r>
                        <a:rPr sz="950" b="0">
                          <a:solidFill>
                            <a:srgbClr val="3E444C"/>
                          </a:solidFill>
                          <a:latin typeface="Arial"/>
                        </a:rPr>
                        <a:t>3</a:t>
                      </a:r>
                    </a:p>
                  </a:txBody>
                  <a:tcPr anchor="ctr">
                    <a:solidFill>
                      <a:srgbClr val="ECF4FA"/>
                    </a:solidFill>
                  </a:tcPr>
                </a:tc>
                <a:tc>
                  <a:txBody>
                    <a:bodyPr wrap="square"/>
                    <a:lstStyle/>
                    <a:p>
                      <a:pPr algn="l">
                        <a:spcAft>
                          <a:spcPts val="0"/>
                        </a:spcAft>
                      </a:pPr>
                      <a:r>
                        <a:rPr sz="950" b="0">
                          <a:solidFill>
                            <a:srgbClr val="3E444C"/>
                          </a:solidFill>
                          <a:latin typeface="Arial"/>
                        </a:rPr>
                        <a:t>0.7640</a:t>
                      </a:r>
                    </a:p>
                  </a:txBody>
                  <a:tcPr anchor="ctr">
                    <a:solidFill>
                      <a:srgbClr val="ECF4FA"/>
                    </a:solidFill>
                  </a:tcPr>
                </a:tc>
                <a:tc>
                  <a:txBody>
                    <a:bodyPr wrap="square"/>
                    <a:lstStyle/>
                    <a:p>
                      <a:pPr algn="l">
                        <a:spcAft>
                          <a:spcPts val="0"/>
                        </a:spcAft>
                      </a:pPr>
                      <a:r>
                        <a:rPr sz="950" b="0">
                          <a:solidFill>
                            <a:srgbClr val="3E444C"/>
                          </a:solidFill>
                          <a:latin typeface="Arial"/>
                        </a:rPr>
                        <a:t>31.2779</a:t>
                      </a:r>
                    </a:p>
                  </a:txBody>
                  <a:tcPr anchor="ctr">
                    <a:solidFill>
                      <a:srgbClr val="ECF4FA"/>
                    </a:solidFill>
                  </a:tcPr>
                </a:tc>
                <a:tc>
                  <a:txBody>
                    <a:bodyPr wrap="square"/>
                    <a:lstStyle/>
                    <a:p>
                      <a:pPr algn="l">
                        <a:spcAft>
                          <a:spcPts val="0"/>
                        </a:spcAft>
                      </a:pPr>
                      <a:r>
                        <a:rPr sz="950" b="0">
                          <a:solidFill>
                            <a:srgbClr val="3E444C"/>
                          </a:solidFill>
                          <a:latin typeface="Arial"/>
                        </a:rPr>
                        <a:t>0.0027</a:t>
                      </a:r>
                    </a:p>
                  </a:txBody>
                  <a:tcPr anchor="ctr">
                    <a:solidFill>
                      <a:srgbClr val="ECF4FA"/>
                    </a:solidFill>
                  </a:tcPr>
                </a:tc>
                <a:tc>
                  <a:txBody>
                    <a:bodyPr wrap="square"/>
                    <a:lstStyle/>
                    <a:p>
                      <a:pPr algn="l">
                        <a:spcAft>
                          <a:spcPts val="0"/>
                        </a:spcAft>
                      </a:pPr>
                      <a:r>
                        <a:rPr sz="950" b="0">
                          <a:solidFill>
                            <a:srgbClr val="3E444C"/>
                          </a:solidFill>
                          <a:latin typeface="Arial"/>
                        </a:rPr>
                        <a:t>0.6671 - 0.8372</a:t>
                      </a:r>
                    </a:p>
                  </a:txBody>
                  <a:tcPr anchor="ctr">
                    <a:solidFill>
                      <a:srgbClr val="ECF4FA"/>
                    </a:solidFill>
                  </a:tcPr>
                </a:tc>
              </a:tr>
              <a:tr h="219456">
                <a:tc>
                  <a:txBody>
                    <a:bodyPr wrap="square"/>
                    <a:lstStyle/>
                    <a:p>
                      <a:pPr algn="l">
                        <a:spcAft>
                          <a:spcPts val="0"/>
                        </a:spcAft>
                      </a:pPr>
                      <a:r>
                        <a:rPr sz="950" b="0">
                          <a:solidFill>
                            <a:srgbClr val="3E444C"/>
                          </a:solidFill>
                          <a:latin typeface="Arial"/>
                        </a:rPr>
                        <a:t>Trajectory DTW-kNN</a:t>
                      </a:r>
                    </a:p>
                  </a:txBody>
                  <a:tcPr anchor="ctr">
                    <a:solidFill>
                      <a:srgbClr val="FFFFFF"/>
                    </a:solidFill>
                  </a:tcPr>
                </a:tc>
                <a:tc>
                  <a:txBody>
                    <a:bodyPr wrap="square"/>
                    <a:lstStyle/>
                    <a:p>
                      <a:pPr algn="l">
                        <a:spcAft>
                          <a:spcPts val="0"/>
                        </a:spcAft>
                      </a:pPr>
                      <a:r>
                        <a:rPr sz="950" b="0">
                          <a:solidFill>
                            <a:srgbClr val="3E444C"/>
                          </a:solidFill>
                          <a:latin typeface="Arial"/>
                        </a:rPr>
                        <a:t>1</a:t>
                      </a:r>
                    </a:p>
                  </a:txBody>
                  <a:tcPr anchor="ctr">
                    <a:solidFill>
                      <a:srgbClr val="FFFFFF"/>
                    </a:solidFill>
                  </a:tcPr>
                </a:tc>
                <a:tc>
                  <a:txBody>
                    <a:bodyPr wrap="square"/>
                    <a:lstStyle/>
                    <a:p>
                      <a:pPr algn="l">
                        <a:spcAft>
                          <a:spcPts val="0"/>
                        </a:spcAft>
                      </a:pPr>
                      <a:r>
                        <a:rPr sz="950" b="0">
                          <a:solidFill>
                            <a:srgbClr val="3E444C"/>
                          </a:solidFill>
                          <a:latin typeface="Arial"/>
                        </a:rPr>
                        <a:t>0.5067</a:t>
                      </a:r>
                    </a:p>
                  </a:txBody>
                  <a:tcPr anchor="ctr">
                    <a:solidFill>
                      <a:srgbClr val="FFFFFF"/>
                    </a:solidFill>
                  </a:tcPr>
                </a:tc>
                <a:tc>
                  <a:txBody>
                    <a:bodyPr wrap="square"/>
                    <a:lstStyle/>
                    <a:p>
                      <a:pPr algn="l">
                        <a:spcAft>
                          <a:spcPts val="0"/>
                        </a:spcAft>
                      </a:pPr>
                      <a:r>
                        <a:rPr sz="950" b="0">
                          <a:solidFill>
                            <a:srgbClr val="3E444C"/>
                          </a:solidFill>
                          <a:latin typeface="Arial"/>
                        </a:rPr>
                        <a:t>45.2239</a:t>
                      </a:r>
                    </a:p>
                  </a:txBody>
                  <a:tcPr anchor="ctr">
                    <a:solidFill>
                      <a:srgbClr val="FFFFFF"/>
                    </a:solidFill>
                  </a:tcPr>
                </a:tc>
                <a:tc>
                  <a:txBody>
                    <a:bodyPr wrap="square"/>
                    <a:lstStyle/>
                    <a:p>
                      <a:pPr algn="l">
                        <a:spcAft>
                          <a:spcPts val="0"/>
                        </a:spcAft>
                      </a:pPr>
                      <a:r>
                        <a:rPr sz="950" b="0">
                          <a:solidFill>
                            <a:srgbClr val="3E444C"/>
                          </a:solidFill>
                          <a:latin typeface="Arial"/>
                        </a:rPr>
                        <a:t>0</a:t>
                      </a:r>
                    </a:p>
                  </a:txBody>
                  <a:tcPr anchor="ctr">
                    <a:solidFill>
                      <a:srgbClr val="FFFFFF"/>
                    </a:solidFill>
                  </a:tcPr>
                </a:tc>
                <a:tc>
                  <a:txBody>
                    <a:bodyPr wrap="square"/>
                    <a:lstStyle/>
                    <a:p>
                      <a:pPr algn="l">
                        <a:spcAft>
                          <a:spcPts val="0"/>
                        </a:spcAft>
                      </a:pPr>
                      <a:r>
                        <a:rPr sz="950" b="0">
                          <a:solidFill>
                            <a:srgbClr val="3E444C"/>
                          </a:solidFill>
                          <a:latin typeface="Arial"/>
                        </a:rPr>
                        <a:t>0.3804 - 0.6106</a:t>
                      </a:r>
                    </a:p>
                  </a:txBody>
                  <a:tcPr anchor="ctr">
                    <a:solidFill>
                      <a:srgbClr val="FFFFFF"/>
                    </a:solidFill>
                  </a:tcPr>
                </a:tc>
              </a:tr>
              <a:tr h="219456">
                <a:tc>
                  <a:txBody>
                    <a:bodyPr wrap="square"/>
                    <a:lstStyle/>
                    <a:p>
                      <a:pPr algn="l">
                        <a:spcAft>
                          <a:spcPts val="0"/>
                        </a:spcAft>
                      </a:pPr>
                      <a:r>
                        <a:rPr sz="950" b="0">
                          <a:solidFill>
                            <a:srgbClr val="3E444C"/>
                          </a:solidFill>
                          <a:latin typeface="Arial"/>
                        </a:rPr>
                        <a:t>Sensor-graph TCN</a:t>
                      </a:r>
                    </a:p>
                  </a:txBody>
                  <a:tcPr anchor="ctr">
                    <a:solidFill>
                      <a:srgbClr val="ECF4FA"/>
                    </a:solidFill>
                  </a:tcPr>
                </a:tc>
                <a:tc>
                  <a:txBody>
                    <a:bodyPr wrap="square"/>
                    <a:lstStyle/>
                    <a:p>
                      <a:pPr algn="l">
                        <a:spcAft>
                          <a:spcPts val="0"/>
                        </a:spcAft>
                      </a:pPr>
                      <a:r>
                        <a:rPr sz="950" b="0">
                          <a:solidFill>
                            <a:srgbClr val="3E444C"/>
                          </a:solidFill>
                          <a:latin typeface="Arial"/>
                        </a:rPr>
                        <a:t>3</a:t>
                      </a:r>
                    </a:p>
                  </a:txBody>
                  <a:tcPr anchor="ctr">
                    <a:solidFill>
                      <a:srgbClr val="ECF4FA"/>
                    </a:solidFill>
                  </a:tcPr>
                </a:tc>
                <a:tc>
                  <a:txBody>
                    <a:bodyPr wrap="square"/>
                    <a:lstStyle/>
                    <a:p>
                      <a:pPr algn="l">
                        <a:spcAft>
                          <a:spcPts val="0"/>
                        </a:spcAft>
                      </a:pPr>
                      <a:r>
                        <a:rPr sz="950" b="0">
                          <a:solidFill>
                            <a:srgbClr val="3E444C"/>
                          </a:solidFill>
                          <a:latin typeface="Arial"/>
                        </a:rPr>
                        <a:t>0.4294</a:t>
                      </a:r>
                    </a:p>
                  </a:txBody>
                  <a:tcPr anchor="ctr">
                    <a:solidFill>
                      <a:srgbClr val="ECF4FA"/>
                    </a:solidFill>
                  </a:tcPr>
                </a:tc>
                <a:tc>
                  <a:txBody>
                    <a:bodyPr wrap="square"/>
                    <a:lstStyle/>
                    <a:p>
                      <a:pPr algn="l">
                        <a:spcAft>
                          <a:spcPts val="0"/>
                        </a:spcAft>
                      </a:pPr>
                      <a:r>
                        <a:rPr sz="950" b="0">
                          <a:solidFill>
                            <a:srgbClr val="3E444C"/>
                          </a:solidFill>
                          <a:latin typeface="Arial"/>
                        </a:rPr>
                        <a:t>48.2278</a:t>
                      </a:r>
                    </a:p>
                  </a:txBody>
                  <a:tcPr anchor="ctr">
                    <a:solidFill>
                      <a:srgbClr val="ECF4FA"/>
                    </a:solidFill>
                  </a:tcPr>
                </a:tc>
                <a:tc>
                  <a:txBody>
                    <a:bodyPr wrap="square"/>
                    <a:lstStyle/>
                    <a:p>
                      <a:pPr algn="l">
                        <a:spcAft>
                          <a:spcPts val="0"/>
                        </a:spcAft>
                      </a:pPr>
                      <a:r>
                        <a:rPr sz="950" b="0">
                          <a:solidFill>
                            <a:srgbClr val="3E444C"/>
                          </a:solidFill>
                          <a:latin typeface="Arial"/>
                        </a:rPr>
                        <a:t>0.1487</a:t>
                      </a:r>
                    </a:p>
                  </a:txBody>
                  <a:tcPr anchor="ctr">
                    <a:solidFill>
                      <a:srgbClr val="ECF4FA"/>
                    </a:solidFill>
                  </a:tcPr>
                </a:tc>
                <a:tc>
                  <a:txBody>
                    <a:bodyPr wrap="square"/>
                    <a:lstStyle/>
                    <a:p>
                      <a:pPr algn="l">
                        <a:spcAft>
                          <a:spcPts val="0"/>
                        </a:spcAft>
                      </a:pPr>
                      <a:r>
                        <a:rPr sz="950" b="0">
                          <a:solidFill>
                            <a:srgbClr val="3E444C"/>
                          </a:solidFill>
                          <a:latin typeface="Arial"/>
                        </a:rPr>
                        <a:t>0.1602 - 0.6359</a:t>
                      </a:r>
                    </a:p>
                  </a:txBody>
                  <a:tcPr anchor="ctr">
                    <a:solidFill>
                      <a:srgbClr val="ECF4FA"/>
                    </a:solidFill>
                  </a:tcPr>
                </a:tc>
              </a:tr>
              <a:tr h="219456">
                <a:tc>
                  <a:txBody>
                    <a:bodyPr wrap="square"/>
                    <a:lstStyle/>
                    <a:p>
                      <a:pPr algn="l">
                        <a:spcAft>
                          <a:spcPts val="0"/>
                        </a:spcAft>
                      </a:pPr>
                      <a:r>
                        <a:rPr sz="950" b="0">
                          <a:solidFill>
                            <a:srgbClr val="3E444C"/>
                          </a:solidFill>
                          <a:latin typeface="Arial"/>
                        </a:rPr>
                        <a:t>Multi-scale CNN</a:t>
                      </a:r>
                    </a:p>
                  </a:txBody>
                  <a:tcPr anchor="ctr">
                    <a:solidFill>
                      <a:srgbClr val="FFFFFF"/>
                    </a:solidFill>
                  </a:tcPr>
                </a:tc>
                <a:tc>
                  <a:txBody>
                    <a:bodyPr wrap="square"/>
                    <a:lstStyle/>
                    <a:p>
                      <a:pPr algn="l">
                        <a:spcAft>
                          <a:spcPts val="0"/>
                        </a:spcAft>
                      </a:pPr>
                      <a:r>
                        <a:rPr sz="950" b="0">
                          <a:solidFill>
                            <a:srgbClr val="3E444C"/>
                          </a:solidFill>
                          <a:latin typeface="Arial"/>
                        </a:rPr>
                        <a:t>3</a:t>
                      </a:r>
                    </a:p>
                  </a:txBody>
                  <a:tcPr anchor="ctr">
                    <a:solidFill>
                      <a:srgbClr val="FFFFFF"/>
                    </a:solidFill>
                  </a:tcPr>
                </a:tc>
                <a:tc>
                  <a:txBody>
                    <a:bodyPr wrap="square"/>
                    <a:lstStyle/>
                    <a:p>
                      <a:pPr algn="l">
                        <a:spcAft>
                          <a:spcPts val="0"/>
                        </a:spcAft>
                      </a:pPr>
                      <a:r>
                        <a:rPr sz="950" b="0">
                          <a:solidFill>
                            <a:srgbClr val="3E444C"/>
                          </a:solidFill>
                          <a:latin typeface="Arial"/>
                        </a:rPr>
                        <a:t>0.3607</a:t>
                      </a:r>
                    </a:p>
                  </a:txBody>
                  <a:tcPr anchor="ctr">
                    <a:solidFill>
                      <a:srgbClr val="FFFFFF"/>
                    </a:solidFill>
                  </a:tcPr>
                </a:tc>
                <a:tc>
                  <a:txBody>
                    <a:bodyPr wrap="square"/>
                    <a:lstStyle/>
                    <a:p>
                      <a:pPr algn="l">
                        <a:spcAft>
                          <a:spcPts val="0"/>
                        </a:spcAft>
                      </a:pPr>
                      <a:r>
                        <a:rPr sz="950" b="0">
                          <a:solidFill>
                            <a:srgbClr val="3E444C"/>
                          </a:solidFill>
                          <a:latin typeface="Arial"/>
                        </a:rPr>
                        <a:t>51.4209</a:t>
                      </a:r>
                    </a:p>
                  </a:txBody>
                  <a:tcPr anchor="ctr">
                    <a:solidFill>
                      <a:srgbClr val="FFFFFF"/>
                    </a:solidFill>
                  </a:tcPr>
                </a:tc>
                <a:tc>
                  <a:txBody>
                    <a:bodyPr wrap="square"/>
                    <a:lstStyle/>
                    <a:p>
                      <a:pPr algn="l">
                        <a:spcAft>
                          <a:spcPts val="0"/>
                        </a:spcAft>
                      </a:pPr>
                      <a:r>
                        <a:rPr sz="950" b="0">
                          <a:solidFill>
                            <a:srgbClr val="3E444C"/>
                          </a:solidFill>
                          <a:latin typeface="Arial"/>
                        </a:rPr>
                        <a:t>0.0622</a:t>
                      </a:r>
                    </a:p>
                  </a:txBody>
                  <a:tcPr anchor="ctr">
                    <a:solidFill>
                      <a:srgbClr val="FFFFFF"/>
                    </a:solidFill>
                  </a:tcPr>
                </a:tc>
                <a:tc>
                  <a:txBody>
                    <a:bodyPr wrap="square"/>
                    <a:lstStyle/>
                    <a:p>
                      <a:pPr algn="l">
                        <a:spcAft>
                          <a:spcPts val="0"/>
                        </a:spcAft>
                      </a:pPr>
                      <a:r>
                        <a:rPr sz="950" b="0">
                          <a:solidFill>
                            <a:srgbClr val="3E444C"/>
                          </a:solidFill>
                          <a:latin typeface="Arial"/>
                        </a:rPr>
                        <a:t>0.2317 - 0.4691</a:t>
                      </a:r>
                    </a:p>
                  </a:txBody>
                  <a:tcPr anchor="ctr">
                    <a:solidFill>
                      <a:srgbClr val="FFFFFF"/>
                    </a:solidFill>
                  </a:tcPr>
                </a:tc>
              </a:tr>
              <a:tr h="219456">
                <a:tc>
                  <a:txBody>
                    <a:bodyPr wrap="square"/>
                    <a:lstStyle/>
                    <a:p>
                      <a:pPr algn="l">
                        <a:spcAft>
                          <a:spcPts val="0"/>
                        </a:spcAft>
                      </a:pPr>
                      <a:r>
                        <a:rPr sz="950" b="0">
                          <a:solidFill>
                            <a:srgbClr val="3E444C"/>
                          </a:solidFill>
                          <a:latin typeface="Arial"/>
                        </a:rPr>
                        <a:t>Mean baseline</a:t>
                      </a:r>
                    </a:p>
                  </a:txBody>
                  <a:tcPr anchor="ctr">
                    <a:solidFill>
                      <a:srgbClr val="ECF4FA"/>
                    </a:solidFill>
                  </a:tcPr>
                </a:tc>
                <a:tc>
                  <a:txBody>
                    <a:bodyPr wrap="square"/>
                    <a:lstStyle/>
                    <a:p>
                      <a:pPr algn="l">
                        <a:spcAft>
                          <a:spcPts val="0"/>
                        </a:spcAft>
                      </a:pPr>
                      <a:r>
                        <a:rPr sz="950" b="0">
                          <a:solidFill>
                            <a:srgbClr val="3E444C"/>
                          </a:solidFill>
                          <a:latin typeface="Arial"/>
                        </a:rPr>
                        <a:t>1</a:t>
                      </a:r>
                    </a:p>
                  </a:txBody>
                  <a:tcPr anchor="ctr">
                    <a:solidFill>
                      <a:srgbClr val="ECF4FA"/>
                    </a:solidFill>
                  </a:tcPr>
                </a:tc>
                <a:tc>
                  <a:txBody>
                    <a:bodyPr wrap="square"/>
                    <a:lstStyle/>
                    <a:p>
                      <a:pPr algn="l">
                        <a:spcAft>
                          <a:spcPts val="0"/>
                        </a:spcAft>
                      </a:pPr>
                      <a:r>
                        <a:rPr sz="950" b="0">
                          <a:solidFill>
                            <a:srgbClr val="3E444C"/>
                          </a:solidFill>
                          <a:latin typeface="Arial"/>
                        </a:rPr>
                        <a:t>-0.3066</a:t>
                      </a:r>
                    </a:p>
                  </a:txBody>
                  <a:tcPr anchor="ctr">
                    <a:solidFill>
                      <a:srgbClr val="ECF4FA"/>
                    </a:solidFill>
                  </a:tcPr>
                </a:tc>
                <a:tc>
                  <a:txBody>
                    <a:bodyPr wrap="square"/>
                    <a:lstStyle/>
                    <a:p>
                      <a:pPr algn="l">
                        <a:spcAft>
                          <a:spcPts val="0"/>
                        </a:spcAft>
                      </a:pPr>
                      <a:r>
                        <a:rPr sz="950" b="0">
                          <a:solidFill>
                            <a:srgbClr val="3E444C"/>
                          </a:solidFill>
                          <a:latin typeface="Arial"/>
                        </a:rPr>
                        <a:t>73.6023</a:t>
                      </a:r>
                    </a:p>
                  </a:txBody>
                  <a:tcPr anchor="ctr">
                    <a:solidFill>
                      <a:srgbClr val="ECF4FA"/>
                    </a:solidFill>
                  </a:tcPr>
                </a:tc>
                <a:tc>
                  <a:txBody>
                    <a:bodyPr wrap="square"/>
                    <a:lstStyle/>
                    <a:p>
                      <a:pPr algn="l">
                        <a:spcAft>
                          <a:spcPts val="0"/>
                        </a:spcAft>
                      </a:pPr>
                      <a:r>
                        <a:rPr sz="950" b="0">
                          <a:solidFill>
                            <a:srgbClr val="3E444C"/>
                          </a:solidFill>
                          <a:latin typeface="Arial"/>
                        </a:rPr>
                        <a:t>0</a:t>
                      </a:r>
                    </a:p>
                  </a:txBody>
                  <a:tcPr anchor="ctr">
                    <a:solidFill>
                      <a:srgbClr val="ECF4FA"/>
                    </a:solidFill>
                  </a:tcPr>
                </a:tc>
                <a:tc>
                  <a:txBody>
                    <a:bodyPr wrap="square"/>
                    <a:lstStyle/>
                    <a:p>
                      <a:pPr algn="l">
                        <a:spcAft>
                          <a:spcPts val="0"/>
                        </a:spcAft>
                      </a:pPr>
                      <a:r>
                        <a:rPr sz="950" b="0">
                          <a:solidFill>
                            <a:srgbClr val="3E444C"/>
                          </a:solidFill>
                          <a:latin typeface="Arial"/>
                        </a:rPr>
                        <a:t>-0.4848 - -0.1758</a:t>
                      </a:r>
                    </a:p>
                  </a:txBody>
                  <a:tcPr anchor="ctr">
                    <a:solidFill>
                      <a:srgbClr val="ECF4FA"/>
                    </a:solidFill>
                  </a:tcPr>
                </a:tc>
              </a:tr>
              <a:tr h="219456">
                <a:tc>
                  <a:txBody>
                    <a:bodyPr wrap="square"/>
                    <a:lstStyle/>
                    <a:p>
                      <a:pPr algn="l">
                        <a:spcAft>
                          <a:spcPts val="0"/>
                        </a:spcAft>
                      </a:pPr>
                      <a:r>
                        <a:rPr sz="950" b="0">
                          <a:solidFill>
                            <a:srgbClr val="3E444C"/>
                          </a:solidFill>
                          <a:latin typeface="Arial"/>
                        </a:rPr>
                        <a:t>TCN</a:t>
                      </a:r>
                    </a:p>
                  </a:txBody>
                  <a:tcPr anchor="ctr">
                    <a:solidFill>
                      <a:srgbClr val="FFFFFF"/>
                    </a:solidFill>
                  </a:tcPr>
                </a:tc>
                <a:tc>
                  <a:txBody>
                    <a:bodyPr wrap="square"/>
                    <a:lstStyle/>
                    <a:p>
                      <a:pPr algn="l">
                        <a:spcAft>
                          <a:spcPts val="0"/>
                        </a:spcAft>
                      </a:pPr>
                      <a:r>
                        <a:rPr sz="950" b="0">
                          <a:solidFill>
                            <a:srgbClr val="3E444C"/>
                          </a:solidFill>
                          <a:latin typeface="Arial"/>
                        </a:rPr>
                        <a:t>3</a:t>
                      </a:r>
                    </a:p>
                  </a:txBody>
                  <a:tcPr anchor="ctr">
                    <a:solidFill>
                      <a:srgbClr val="FFFFFF"/>
                    </a:solidFill>
                  </a:tcPr>
                </a:tc>
                <a:tc>
                  <a:txBody>
                    <a:bodyPr wrap="square"/>
                    <a:lstStyle/>
                    <a:p>
                      <a:pPr algn="l">
                        <a:spcAft>
                          <a:spcPts val="0"/>
                        </a:spcAft>
                      </a:pPr>
                      <a:r>
                        <a:rPr sz="950" b="0">
                          <a:solidFill>
                            <a:srgbClr val="3E444C"/>
                          </a:solidFill>
                          <a:latin typeface="Arial"/>
                        </a:rPr>
                        <a:t>-2.4231</a:t>
                      </a:r>
                    </a:p>
                  </a:txBody>
                  <a:tcPr anchor="ctr">
                    <a:solidFill>
                      <a:srgbClr val="FFFFFF"/>
                    </a:solidFill>
                  </a:tcPr>
                </a:tc>
                <a:tc>
                  <a:txBody>
                    <a:bodyPr wrap="square"/>
                    <a:lstStyle/>
                    <a:p>
                      <a:pPr algn="l">
                        <a:spcAft>
                          <a:spcPts val="0"/>
                        </a:spcAft>
                      </a:pPr>
                      <a:r>
                        <a:rPr sz="950" b="0">
                          <a:solidFill>
                            <a:srgbClr val="3E444C"/>
                          </a:solidFill>
                          <a:latin typeface="Arial"/>
                        </a:rPr>
                        <a:t>111.2088</a:t>
                      </a:r>
                    </a:p>
                  </a:txBody>
                  <a:tcPr anchor="ctr">
                    <a:solidFill>
                      <a:srgbClr val="FFFFFF"/>
                    </a:solidFill>
                  </a:tcPr>
                </a:tc>
                <a:tc>
                  <a:txBody>
                    <a:bodyPr wrap="square"/>
                    <a:lstStyle/>
                    <a:p>
                      <a:pPr algn="l">
                        <a:spcAft>
                          <a:spcPts val="0"/>
                        </a:spcAft>
                      </a:pPr>
                      <a:r>
                        <a:rPr sz="950" b="0">
                          <a:solidFill>
                            <a:srgbClr val="3E444C"/>
                          </a:solidFill>
                          <a:latin typeface="Arial"/>
                        </a:rPr>
                        <a:t>2.1691</a:t>
                      </a:r>
                    </a:p>
                  </a:txBody>
                  <a:tcPr anchor="ctr">
                    <a:solidFill>
                      <a:srgbClr val="FFFFFF"/>
                    </a:solidFill>
                  </a:tcPr>
                </a:tc>
                <a:tc>
                  <a:txBody>
                    <a:bodyPr wrap="square"/>
                    <a:lstStyle/>
                    <a:p>
                      <a:pPr algn="l">
                        <a:spcAft>
                          <a:spcPts val="0"/>
                        </a:spcAft>
                      </a:pPr>
                      <a:r>
                        <a:rPr sz="950" b="0">
                          <a:solidFill>
                            <a:srgbClr val="3E444C"/>
                          </a:solidFill>
                          <a:latin typeface="Arial"/>
                        </a:rPr>
                        <a:t>-9.7147 - 0.6382</a:t>
                      </a:r>
                    </a:p>
                  </a:txBody>
                  <a:tcPr anchor="ctr">
                    <a:solidFill>
                      <a:srgbClr val="FFFFFF"/>
                    </a:solidFill>
                  </a:tcPr>
                </a:tc>
              </a:tr>
            </a:tbl>
          </a:graphicData>
        </a:graphic>
      </p:graphicFrame>
      <p:sp>
        <p:nvSpPr>
          <p:cNvPr id="12" name="TextBox 11"/>
          <p:cNvSpPr txBox="1"/>
          <p:nvPr/>
        </p:nvSpPr>
        <p:spPr>
          <a:xfrm>
            <a:off x="466344" y="3182112"/>
            <a:ext cx="8247888" cy="822960"/>
          </a:xfrm>
          <a:prstGeom prst="rect">
            <a:avLst/>
          </a:prstGeom>
          <a:noFill/>
        </p:spPr>
        <p:txBody>
          <a:bodyPr wrap="square">
            <a:spAutoFit/>
          </a:bodyPr>
          <a:lstStyle/>
          <a:p>
            <a:pPr algn="l">
              <a:spcAft>
                <a:spcPts val="400"/>
              </a:spcAft>
            </a:pPr>
            <a:r>
              <a:rPr sz="1000" b="0">
                <a:solidFill>
                  <a:srgbClr val="3E444C"/>
                </a:solidFill>
                <a:latin typeface="Arial"/>
              </a:rPr>
              <a:t>Sequence models were given the same protocol, the same prefixes and a tuned budget.</a:t>
            </a:r>
          </a:p>
        </p:txBody>
      </p:sp>
      <p:sp>
        <p:nvSpPr>
          <p:cNvPr id="13" name="TextBox 12"/>
          <p:cNvSpPr txBox="1"/>
          <p:nvPr/>
        </p:nvSpPr>
        <p:spPr>
          <a:xfrm>
            <a:off x="466344" y="4535424"/>
            <a:ext cx="8247888" cy="164592"/>
          </a:xfrm>
          <a:prstGeom prst="rect">
            <a:avLst/>
          </a:prstGeom>
          <a:noFill/>
        </p:spPr>
        <p:txBody>
          <a:bodyPr wrap="square">
            <a:spAutoFit/>
          </a:bodyPr>
          <a:lstStyle/>
          <a:p>
            <a:pPr algn="l">
              <a:spcAft>
                <a:spcPts val="400"/>
              </a:spcAft>
            </a:pPr>
            <a:r>
              <a:rPr sz="900" b="0">
                <a:solidFill>
                  <a:srgbClr val="9F9998"/>
                </a:solidFill>
                <a:latin typeface="Arial"/>
              </a:rPr>
              <a:t>Source: 2_model_architecture_study/runs/run_5/7_architecture_comparison/architecture_comparison.csv</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a:spcAft>
                <a:spcPts val="400"/>
              </a:spcAft>
            </a:pPr>
            <a:r>
              <a:rPr sz="1800" b="1">
                <a:solidFill>
                  <a:srgbClr val="3E444C"/>
                </a:solidFill>
                <a:latin typeface="Arial"/>
              </a:rPr>
              <a:t>Backup: sequence and hybrid models, in full</a:t>
            </a:r>
          </a:p>
        </p:txBody>
      </p:sp>
      <p:sp>
        <p:nvSpPr>
          <p:cNvPr id="3" name="Text Placeholder 2"/>
          <p:cNvSpPr>
            <a:spLocks noGrp="1"/>
          </p:cNvSpPr>
          <p:nvPr>
            <p:ph type="body" idx="13" sz="quarter"/>
          </p:nvPr>
        </p:nvSpPr>
        <p:spPr/>
        <p:txBody>
          <a:bodyPr wrap="square"/>
          <a:lstStyle/>
          <a:p>
            <a:pPr algn="l">
              <a:spcAft>
                <a:spcPts val="400"/>
              </a:spcAft>
            </a:pPr>
            <a:r>
              <a:rPr sz="1400" b="0">
                <a:solidFill>
                  <a:srgbClr val="9F9998"/>
                </a:solidFill>
                <a:latin typeface="Arial"/>
              </a:rPr>
              <a:t>Architecture study run 8: hybrid combinations of a tree ensemble with a sequence encoder</a:t>
            </a:r>
          </a:p>
        </p:txBody>
      </p:sp>
      <p:sp>
        <p:nvSpPr>
          <p:cNvPr id="7" name="Datumsplatzhalter 6">
            <a:extLst>
              <a:ext uri="{FF2B5EF4-FFF2-40B4-BE49-F238E27FC236}">
                <a16:creationId xmlns:a16="http://schemas.microsoft.com/office/drawing/2014/main" id="{124A6A03-5D2E-417E-9A62-737D1DBC92ED}"/>
              </a:ext>
              <a:ext uri="{C183D7F6-B498-43B3-948B-1728B52AA6E4}">
                <adec:decorative xmlns:adec="http://schemas.microsoft.com/office/drawing/2017/decorative" val="1"/>
              </a:ext>
            </a:extLst>
          </p:cNvPr>
          <p:cNvSpPr>
            <a:spLocks noGrp="1"/>
          </p:cNvSpPr>
          <p:nvPr>
            <p:ph type="dt" sz="half" idx="14"/>
          </p:nvPr>
        </p:nvSpPr>
        <p:spPr>
          <a:xfrm>
            <a:off x="6492240" y="4873752"/>
            <a:ext cx="1737360" cy="146304"/>
          </a:xfrm>
        </p:spPr>
        <p:txBody>
          <a:bodyPr/>
          <a:lstStyle/>
          <a:p>
            <a:pPr algn="r"/>
            <a:r>
              <a:rPr lang="de-DE"/>
              <a:t>9 September 2026</a:t>
            </a:r>
            <a:endParaRPr lang="en-US" dirty="0"/>
          </a:p>
        </p:txBody>
      </p:sp>
      <p:sp>
        <p:nvSpPr>
          <p:cNvPr id="8" name="Fußzeilenplatzhalter 7">
            <a:extLst>
              <a:ext uri="{FF2B5EF4-FFF2-40B4-BE49-F238E27FC236}">
                <a16:creationId xmlns:a16="http://schemas.microsoft.com/office/drawing/2014/main" id="{90427F68-7D65-4111-9D28-F407D044A73B}"/>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UAV remaining useful life estimation</a:t>
            </a:r>
            <a:endParaRPr lang="en-US" dirty="0"/>
          </a:p>
        </p:txBody>
      </p:sp>
      <p:sp>
        <p:nvSpPr>
          <p:cNvPr id="10" name="Foliennummernplatzhalter 9">
            <a:extLst>
              <a:ext uri="{FF2B5EF4-FFF2-40B4-BE49-F238E27FC236}">
                <a16:creationId xmlns:a16="http://schemas.microsoft.com/office/drawing/2014/main" id="{BC2B8577-8AB8-42B5-8BA8-1751A412246A}"/>
              </a:ext>
              <a:ext uri="{C183D7F6-B498-43B3-948B-1728B52AA6E4}">
                <adec:decorative xmlns:adec="http://schemas.microsoft.com/office/drawing/2017/decorative" val="1"/>
              </a:ext>
            </a:extLst>
          </p:cNvPr>
          <p:cNvSpPr>
            <a:spLocks noGrp="1"/>
          </p:cNvSpPr>
          <p:nvPr>
            <p:ph type="sldNum" sz="quarter" idx="16"/>
          </p:nvPr>
        </p:nvSpPr>
        <p:spPr/>
        <p:txBody>
          <a:bodyPr/>
          <a:lstStyle/>
          <a:p>
            <a:fld id="{9E82CC3C-1DC0-4FDA-9590-6CC506AB67F8}" type="slidenum">
              <a:rPr lang="en-US" smtClean="0"/>
              <a:pPr/>
              <a:t>‹Nr.›</a:t>
            </a:fld>
            <a:endParaRPr lang="en-US" dirty="0"/>
          </a:p>
        </p:txBody>
      </p:sp>
      <p:pic>
        <p:nvPicPr>
          <p:cNvPr id="11" name="Picture 10" descr="hybrid_architecture_comparison.png"/>
          <p:cNvPicPr>
            <a:picLocks noChangeAspect="1"/>
          </p:cNvPicPr>
          <p:nvPr/>
        </p:nvPicPr>
        <p:blipFill>
          <a:blip r:embed="rId3"/>
          <a:stretch>
            <a:fillRect/>
          </a:stretch>
        </p:blipFill>
        <p:spPr>
          <a:xfrm>
            <a:off x="710184" y="1078992"/>
            <a:ext cx="4724400" cy="2834640"/>
          </a:xfrm>
          <a:prstGeom prst="rect">
            <a:avLst/>
          </a:prstGeom>
        </p:spPr>
      </p:pic>
      <p:sp>
        <p:nvSpPr>
          <p:cNvPr id="12" name="TextBox 11"/>
          <p:cNvSpPr txBox="1"/>
          <p:nvPr/>
        </p:nvSpPr>
        <p:spPr>
          <a:xfrm>
            <a:off x="466344" y="3968496"/>
            <a:ext cx="5212080" cy="402336"/>
          </a:xfrm>
          <a:prstGeom prst="rect">
            <a:avLst/>
          </a:prstGeom>
          <a:noFill/>
        </p:spPr>
        <p:txBody>
          <a:bodyPr wrap="square">
            <a:spAutoFit/>
          </a:bodyPr>
          <a:lstStyle/>
          <a:p>
            <a:pPr algn="l">
              <a:spcAft>
                <a:spcPts val="400"/>
              </a:spcAft>
            </a:pPr>
            <a:r>
              <a:rPr sz="900" b="0">
                <a:solidFill>
                  <a:srgbClr val="3E444C"/>
                </a:solidFill>
                <a:latin typeface="Arial"/>
              </a:rPr>
              <a:t>Architecture study run 8, early/middle scenarios and cap-125 target. Neither hybrid won a single fold out of five.</a:t>
            </a:r>
          </a:p>
        </p:txBody>
      </p:sp>
      <p:sp>
        <p:nvSpPr>
          <p:cNvPr id="13" name="TextBox 12"/>
          <p:cNvSpPr txBox="1"/>
          <p:nvPr/>
        </p:nvSpPr>
        <p:spPr>
          <a:xfrm>
            <a:off x="5897880" y="1024128"/>
            <a:ext cx="2816351" cy="201168"/>
          </a:xfrm>
          <a:prstGeom prst="rect">
            <a:avLst/>
          </a:prstGeom>
          <a:noFill/>
        </p:spPr>
        <p:txBody>
          <a:bodyPr wrap="square">
            <a:spAutoFit/>
          </a:bodyPr>
          <a:lstStyle/>
          <a:p>
            <a:pPr algn="l">
              <a:spcAft>
                <a:spcPts val="400"/>
              </a:spcAft>
            </a:pPr>
            <a:r>
              <a:rPr sz="1050" b="1">
                <a:solidFill>
                  <a:srgbClr val="00519E"/>
                </a:solidFill>
                <a:latin typeface="Arial"/>
              </a:rPr>
              <a:t>Dedicated temporal study (run 7)</a:t>
            </a:r>
          </a:p>
        </p:txBody>
      </p:sp>
      <p:graphicFrame>
        <p:nvGraphicFramePr>
          <p:cNvPr id="14" name="Table 13"/>
          <p:cNvGraphicFramePr>
            <a:graphicFrameLocks noGrp="1"/>
          </p:cNvGraphicFramePr>
          <p:nvPr/>
        </p:nvGraphicFramePr>
        <p:xfrm>
          <a:off x="5897880" y="1280160"/>
          <a:ext cx="2999232" cy="1280160"/>
        </p:xfrm>
        <a:graphic>
          <a:graphicData uri="http://schemas.openxmlformats.org/drawingml/2006/table">
            <a:tbl>
              <a:tblPr firstRow="1" bandRow="1">
                <a:tableStyleId>{5C22544A-7EE6-4342-B048-85BDC9FD1C3A}</a:tableStyleId>
              </a:tblPr>
              <a:tblGrid>
                <a:gridCol w="1280160"/>
                <a:gridCol w="777240"/>
                <a:gridCol w="941832"/>
              </a:tblGrid>
              <a:tr h="256032">
                <a:tc>
                  <a:txBody>
                    <a:bodyPr wrap="square"/>
                    <a:lstStyle/>
                    <a:p>
                      <a:pPr algn="l">
                        <a:spcAft>
                          <a:spcPts val="0"/>
                        </a:spcAft>
                      </a:pPr>
                      <a:r>
                        <a:rPr sz="900" b="1">
                          <a:solidFill>
                            <a:srgbClr val="FFFFFF"/>
                          </a:solidFill>
                          <a:latin typeface="Arial"/>
                        </a:rPr>
                        <a:t>model</a:t>
                      </a:r>
                    </a:p>
                  </a:txBody>
                  <a:tcPr anchor="ctr">
                    <a:solidFill>
                      <a:srgbClr val="00519E"/>
                    </a:solidFill>
                  </a:tcPr>
                </a:tc>
                <a:tc>
                  <a:txBody>
                    <a:bodyPr wrap="square"/>
                    <a:lstStyle/>
                    <a:p>
                      <a:pPr algn="l">
                        <a:spcAft>
                          <a:spcPts val="0"/>
                        </a:spcAft>
                      </a:pPr>
                      <a:r>
                        <a:rPr sz="900" b="1">
                          <a:solidFill>
                            <a:srgbClr val="FFFFFF"/>
                          </a:solidFill>
                          <a:latin typeface="Arial"/>
                        </a:rPr>
                        <a:t>mean R²</a:t>
                      </a:r>
                    </a:p>
                  </a:txBody>
                  <a:tcPr anchor="ctr">
                    <a:solidFill>
                      <a:srgbClr val="00519E"/>
                    </a:solidFill>
                  </a:tcPr>
                </a:tc>
                <a:tc>
                  <a:txBody>
                    <a:bodyPr wrap="square"/>
                    <a:lstStyle/>
                    <a:p>
                      <a:pPr algn="l">
                        <a:spcAft>
                          <a:spcPts val="0"/>
                        </a:spcAft>
                      </a:pPr>
                      <a:r>
                        <a:rPr sz="900" b="1">
                          <a:solidFill>
                            <a:srgbClr val="FFFFFF"/>
                          </a:solidFill>
                          <a:latin typeface="Arial"/>
                        </a:rPr>
                        <a:t>mean RMSE</a:t>
                      </a:r>
                    </a:p>
                  </a:txBody>
                  <a:tcPr anchor="ctr">
                    <a:solidFill>
                      <a:srgbClr val="00519E"/>
                    </a:solidFill>
                  </a:tcPr>
                </a:tc>
              </a:tr>
              <a:tr h="256032">
                <a:tc>
                  <a:txBody>
                    <a:bodyPr wrap="square"/>
                    <a:lstStyle/>
                    <a:p>
                      <a:pPr algn="l">
                        <a:spcAft>
                          <a:spcPts val="0"/>
                        </a:spcAft>
                      </a:pPr>
                      <a:r>
                        <a:rPr sz="900" b="0">
                          <a:solidFill>
                            <a:srgbClr val="3E444C"/>
                          </a:solidFill>
                          <a:latin typeface="Arial"/>
                        </a:rPr>
                        <a:t>LSTM</a:t>
                      </a:r>
                    </a:p>
                  </a:txBody>
                  <a:tcPr anchor="ctr">
                    <a:solidFill>
                      <a:srgbClr val="ECF4FA"/>
                    </a:solidFill>
                  </a:tcPr>
                </a:tc>
                <a:tc>
                  <a:txBody>
                    <a:bodyPr wrap="square"/>
                    <a:lstStyle/>
                    <a:p>
                      <a:pPr algn="l">
                        <a:spcAft>
                          <a:spcPts val="0"/>
                        </a:spcAft>
                      </a:pPr>
                      <a:r>
                        <a:rPr sz="900" b="0">
                          <a:solidFill>
                            <a:srgbClr val="3E444C"/>
                          </a:solidFill>
                          <a:latin typeface="Arial"/>
                        </a:rPr>
                        <a:t>0.6531</a:t>
                      </a:r>
                    </a:p>
                  </a:txBody>
                  <a:tcPr anchor="ctr">
                    <a:solidFill>
                      <a:srgbClr val="ECF4FA"/>
                    </a:solidFill>
                  </a:tcPr>
                </a:tc>
                <a:tc>
                  <a:txBody>
                    <a:bodyPr wrap="square"/>
                    <a:lstStyle/>
                    <a:p>
                      <a:pPr algn="l">
                        <a:spcAft>
                          <a:spcPts val="0"/>
                        </a:spcAft>
                      </a:pPr>
                      <a:r>
                        <a:rPr sz="900" b="0">
                          <a:solidFill>
                            <a:srgbClr val="3E444C"/>
                          </a:solidFill>
                          <a:latin typeface="Arial"/>
                        </a:rPr>
                        <a:t>19.570</a:t>
                      </a:r>
                    </a:p>
                  </a:txBody>
                  <a:tcPr anchor="ctr">
                    <a:solidFill>
                      <a:srgbClr val="ECF4FA"/>
                    </a:solidFill>
                  </a:tcPr>
                </a:tc>
              </a:tr>
              <a:tr h="256032">
                <a:tc>
                  <a:txBody>
                    <a:bodyPr wrap="square"/>
                    <a:lstStyle/>
                    <a:p>
                      <a:pPr algn="l">
                        <a:spcAft>
                          <a:spcPts val="0"/>
                        </a:spcAft>
                      </a:pPr>
                      <a:r>
                        <a:rPr sz="900" b="0">
                          <a:solidFill>
                            <a:srgbClr val="3E444C"/>
                          </a:solidFill>
                          <a:latin typeface="Arial"/>
                        </a:rPr>
                        <a:t>GRU</a:t>
                      </a:r>
                    </a:p>
                  </a:txBody>
                  <a:tcPr anchor="ctr">
                    <a:solidFill>
                      <a:srgbClr val="FFFFFF"/>
                    </a:solidFill>
                  </a:tcPr>
                </a:tc>
                <a:tc>
                  <a:txBody>
                    <a:bodyPr wrap="square"/>
                    <a:lstStyle/>
                    <a:p>
                      <a:pPr algn="l">
                        <a:spcAft>
                          <a:spcPts val="0"/>
                        </a:spcAft>
                      </a:pPr>
                      <a:r>
                        <a:rPr sz="900" b="0">
                          <a:solidFill>
                            <a:srgbClr val="3E444C"/>
                          </a:solidFill>
                          <a:latin typeface="Arial"/>
                        </a:rPr>
                        <a:t>0.6424</a:t>
                      </a:r>
                    </a:p>
                  </a:txBody>
                  <a:tcPr anchor="ctr">
                    <a:solidFill>
                      <a:srgbClr val="FFFFFF"/>
                    </a:solidFill>
                  </a:tcPr>
                </a:tc>
                <a:tc>
                  <a:txBody>
                    <a:bodyPr wrap="square"/>
                    <a:lstStyle/>
                    <a:p>
                      <a:pPr algn="l">
                        <a:spcAft>
                          <a:spcPts val="0"/>
                        </a:spcAft>
                      </a:pPr>
                      <a:r>
                        <a:rPr sz="900" b="0">
                          <a:solidFill>
                            <a:srgbClr val="3E444C"/>
                          </a:solidFill>
                          <a:latin typeface="Arial"/>
                        </a:rPr>
                        <a:t>19.832</a:t>
                      </a:r>
                    </a:p>
                  </a:txBody>
                  <a:tcPr anchor="ctr">
                    <a:solidFill>
                      <a:srgbClr val="FFFFFF"/>
                    </a:solidFill>
                  </a:tcPr>
                </a:tc>
              </a:tr>
              <a:tr h="256032">
                <a:tc>
                  <a:txBody>
                    <a:bodyPr wrap="square"/>
                    <a:lstStyle/>
                    <a:p>
                      <a:pPr algn="l">
                        <a:spcAft>
                          <a:spcPts val="0"/>
                        </a:spcAft>
                      </a:pPr>
                      <a:r>
                        <a:rPr sz="900" b="0">
                          <a:solidFill>
                            <a:srgbClr val="3E444C"/>
                          </a:solidFill>
                          <a:latin typeface="Arial"/>
                        </a:rPr>
                        <a:t>TCN</a:t>
                      </a:r>
                    </a:p>
                  </a:txBody>
                  <a:tcPr anchor="ctr">
                    <a:solidFill>
                      <a:srgbClr val="ECF4FA"/>
                    </a:solidFill>
                  </a:tcPr>
                </a:tc>
                <a:tc>
                  <a:txBody>
                    <a:bodyPr wrap="square"/>
                    <a:lstStyle/>
                    <a:p>
                      <a:pPr algn="l">
                        <a:spcAft>
                          <a:spcPts val="0"/>
                        </a:spcAft>
                      </a:pPr>
                      <a:r>
                        <a:rPr sz="900" b="0">
                          <a:solidFill>
                            <a:srgbClr val="3E444C"/>
                          </a:solidFill>
                          <a:latin typeface="Arial"/>
                        </a:rPr>
                        <a:t>0.5969</a:t>
                      </a:r>
                    </a:p>
                  </a:txBody>
                  <a:tcPr anchor="ctr">
                    <a:solidFill>
                      <a:srgbClr val="ECF4FA"/>
                    </a:solidFill>
                  </a:tcPr>
                </a:tc>
                <a:tc>
                  <a:txBody>
                    <a:bodyPr wrap="square"/>
                    <a:lstStyle/>
                    <a:p>
                      <a:pPr algn="l">
                        <a:spcAft>
                          <a:spcPts val="0"/>
                        </a:spcAft>
                      </a:pPr>
                      <a:r>
                        <a:rPr sz="900" b="0">
                          <a:solidFill>
                            <a:srgbClr val="3E444C"/>
                          </a:solidFill>
                          <a:latin typeface="Arial"/>
                        </a:rPr>
                        <a:t>21.084</a:t>
                      </a:r>
                    </a:p>
                  </a:txBody>
                  <a:tcPr anchor="ctr">
                    <a:solidFill>
                      <a:srgbClr val="ECF4FA"/>
                    </a:solidFill>
                  </a:tcPr>
                </a:tc>
              </a:tr>
              <a:tr h="256032">
                <a:tc>
                  <a:txBody>
                    <a:bodyPr wrap="square"/>
                    <a:lstStyle/>
                    <a:p>
                      <a:pPr algn="l">
                        <a:spcAft>
                          <a:spcPts val="0"/>
                        </a:spcAft>
                      </a:pPr>
                      <a:r>
                        <a:rPr sz="900" b="0">
                          <a:solidFill>
                            <a:srgbClr val="3E444C"/>
                          </a:solidFill>
                          <a:latin typeface="Arial"/>
                        </a:rPr>
                        <a:t>Multi-scale CNN</a:t>
                      </a:r>
                    </a:p>
                  </a:txBody>
                  <a:tcPr anchor="ctr">
                    <a:solidFill>
                      <a:srgbClr val="FFFFFF"/>
                    </a:solidFill>
                  </a:tcPr>
                </a:tc>
                <a:tc>
                  <a:txBody>
                    <a:bodyPr wrap="square"/>
                    <a:lstStyle/>
                    <a:p>
                      <a:pPr algn="l">
                        <a:spcAft>
                          <a:spcPts val="0"/>
                        </a:spcAft>
                      </a:pPr>
                      <a:r>
                        <a:rPr sz="900" b="0">
                          <a:solidFill>
                            <a:srgbClr val="3E444C"/>
                          </a:solidFill>
                          <a:latin typeface="Arial"/>
                        </a:rPr>
                        <a:t>0.5325</a:t>
                      </a:r>
                    </a:p>
                  </a:txBody>
                  <a:tcPr anchor="ctr">
                    <a:solidFill>
                      <a:srgbClr val="FFFFFF"/>
                    </a:solidFill>
                  </a:tcPr>
                </a:tc>
                <a:tc>
                  <a:txBody>
                    <a:bodyPr wrap="square"/>
                    <a:lstStyle/>
                    <a:p>
                      <a:pPr algn="l">
                        <a:spcAft>
                          <a:spcPts val="0"/>
                        </a:spcAft>
                      </a:pPr>
                      <a:r>
                        <a:rPr sz="900" b="0">
                          <a:solidFill>
                            <a:srgbClr val="3E444C"/>
                          </a:solidFill>
                          <a:latin typeface="Arial"/>
                        </a:rPr>
                        <a:t>22.712</a:t>
                      </a:r>
                    </a:p>
                  </a:txBody>
                  <a:tcPr anchor="ctr">
                    <a:solidFill>
                      <a:srgbClr val="FFFFFF"/>
                    </a:solidFill>
                  </a:tcPr>
                </a:tc>
              </a:tr>
            </a:tbl>
          </a:graphicData>
        </a:graphic>
      </p:graphicFrame>
      <p:sp>
        <p:nvSpPr>
          <p:cNvPr id="15" name="TextBox 14"/>
          <p:cNvSpPr txBox="1"/>
          <p:nvPr/>
        </p:nvSpPr>
        <p:spPr>
          <a:xfrm>
            <a:off x="5897880" y="2660904"/>
            <a:ext cx="2816351" cy="1554480"/>
          </a:xfrm>
          <a:prstGeom prst="rect">
            <a:avLst/>
          </a:prstGeom>
          <a:noFill/>
        </p:spPr>
        <p:txBody>
          <a:bodyPr wrap="square">
            <a:spAutoFit/>
          </a:bodyPr>
          <a:lstStyle/>
          <a:p>
            <a:pPr algn="l">
              <a:spcAft>
                <a:spcPts val="400"/>
              </a:spcAft>
            </a:pPr>
            <a:r>
              <a:rPr sz="900" b="0">
                <a:solidFill>
                  <a:srgbClr val="3E444C"/>
                </a:solidFill>
                <a:latin typeface="Arial"/>
              </a:rPr>
              <a:t>Its own frozen sampling policy and lookback 20, so these values are not on a common scale with the left panel. The gate it had to clear was about R² 0.89 and RMSE 10.7.</a:t>
            </a:r>
          </a:p>
          <a:p>
            <a:pPr algn="l">
              <a:spcAft>
                <a:spcPts val="400"/>
              </a:spcAft>
            </a:pPr>
            <a:r>
              <a:rPr sz="900" b="0">
                <a:solidFill>
                  <a:srgbClr val="3E444C"/>
                </a:solidFill>
                <a:latin typeface="Arial"/>
              </a:rPr>
              <a:t>State the finding for the architectures, representations and budgets tested here — not as a claim about deep learning and RUL in general.</a:t>
            </a:r>
          </a:p>
        </p:txBody>
      </p:sp>
      <p:sp>
        <p:nvSpPr>
          <p:cNvPr id="16" name="TextBox 15"/>
          <p:cNvSpPr txBox="1"/>
          <p:nvPr/>
        </p:nvSpPr>
        <p:spPr>
          <a:xfrm>
            <a:off x="466344" y="4535424"/>
            <a:ext cx="8247888" cy="164592"/>
          </a:xfrm>
          <a:prstGeom prst="rect">
            <a:avLst/>
          </a:prstGeom>
          <a:noFill/>
        </p:spPr>
        <p:txBody>
          <a:bodyPr wrap="square">
            <a:spAutoFit/>
          </a:bodyPr>
          <a:lstStyle/>
          <a:p>
            <a:pPr algn="l">
              <a:spcAft>
                <a:spcPts val="400"/>
              </a:spcAft>
            </a:pPr>
            <a:r>
              <a:rPr sz="900" b="0">
                <a:solidFill>
                  <a:srgbClr val="9F9998"/>
                </a:solidFill>
                <a:latin typeface="Arial"/>
              </a:rPr>
              <a:t>Source: 2_model_architecture_study/runs/run_8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a:spcAft>
                <a:spcPts val="400"/>
              </a:spcAft>
            </a:pPr>
            <a:r>
              <a:rPr sz="1800" b="1">
                <a:solidFill>
                  <a:srgbClr val="3E444C"/>
                </a:solidFill>
                <a:latin typeface="Arial"/>
              </a:rPr>
              <a:t>Backup: the complete cap and scenario matrix</a:t>
            </a:r>
          </a:p>
        </p:txBody>
      </p:sp>
      <p:sp>
        <p:nvSpPr>
          <p:cNvPr id="3" name="Text Placeholder 2"/>
          <p:cNvSpPr>
            <a:spLocks noGrp="1"/>
          </p:cNvSpPr>
          <p:nvPr>
            <p:ph type="body" idx="13" sz="quarter"/>
          </p:nvPr>
        </p:nvSpPr>
        <p:spPr/>
        <p:txBody>
          <a:bodyPr wrap="square"/>
          <a:lstStyle/>
          <a:p>
            <a:pPr algn="l">
              <a:spcAft>
                <a:spcPts val="400"/>
              </a:spcAft>
            </a:pPr>
            <a:r>
              <a:rPr sz="1400" b="0">
                <a:solidFill>
                  <a:srgbClr val="9F9998"/>
                </a:solidFill>
                <a:latin typeface="Arial"/>
              </a:rPr>
              <a:t>PE_2, all four cells, with the target policy of each cell stated explicitly</a:t>
            </a:r>
          </a:p>
        </p:txBody>
      </p:sp>
      <p:sp>
        <p:nvSpPr>
          <p:cNvPr id="7" name="Datumsplatzhalter 6">
            <a:extLst>
              <a:ext uri="{FF2B5EF4-FFF2-40B4-BE49-F238E27FC236}">
                <a16:creationId xmlns:a16="http://schemas.microsoft.com/office/drawing/2014/main" id="{124A6A03-5D2E-417E-9A62-737D1DBC92ED}"/>
              </a:ext>
              <a:ext uri="{C183D7F6-B498-43B3-948B-1728B52AA6E4}">
                <adec:decorative xmlns:adec="http://schemas.microsoft.com/office/drawing/2017/decorative" val="1"/>
              </a:ext>
            </a:extLst>
          </p:cNvPr>
          <p:cNvSpPr>
            <a:spLocks noGrp="1"/>
          </p:cNvSpPr>
          <p:nvPr>
            <p:ph type="dt" sz="half" idx="14"/>
          </p:nvPr>
        </p:nvSpPr>
        <p:spPr>
          <a:xfrm>
            <a:off x="6492240" y="4873752"/>
            <a:ext cx="1737360" cy="146304"/>
          </a:xfrm>
        </p:spPr>
        <p:txBody>
          <a:bodyPr/>
          <a:lstStyle/>
          <a:p>
            <a:pPr algn="r"/>
            <a:r>
              <a:rPr lang="de-DE"/>
              <a:t>9 September 2026</a:t>
            </a:r>
            <a:endParaRPr lang="en-US" dirty="0"/>
          </a:p>
        </p:txBody>
      </p:sp>
      <p:sp>
        <p:nvSpPr>
          <p:cNvPr id="8" name="Fußzeilenplatzhalter 7">
            <a:extLst>
              <a:ext uri="{FF2B5EF4-FFF2-40B4-BE49-F238E27FC236}">
                <a16:creationId xmlns:a16="http://schemas.microsoft.com/office/drawing/2014/main" id="{90427F68-7D65-4111-9D28-F407D044A73B}"/>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UAV remaining useful life estimation</a:t>
            </a:r>
            <a:endParaRPr lang="en-US" dirty="0"/>
          </a:p>
        </p:txBody>
      </p:sp>
      <p:sp>
        <p:nvSpPr>
          <p:cNvPr id="10" name="Foliennummernplatzhalter 9">
            <a:extLst>
              <a:ext uri="{FF2B5EF4-FFF2-40B4-BE49-F238E27FC236}">
                <a16:creationId xmlns:a16="http://schemas.microsoft.com/office/drawing/2014/main" id="{BC2B8577-8AB8-42B5-8BA8-1751A412246A}"/>
              </a:ext>
              <a:ext uri="{C183D7F6-B498-43B3-948B-1728B52AA6E4}">
                <adec:decorative xmlns:adec="http://schemas.microsoft.com/office/drawing/2017/decorative" val="1"/>
              </a:ext>
            </a:extLst>
          </p:cNvPr>
          <p:cNvSpPr>
            <a:spLocks noGrp="1"/>
          </p:cNvSpPr>
          <p:nvPr>
            <p:ph type="sldNum" sz="quarter" idx="16"/>
          </p:nvPr>
        </p:nvSpPr>
        <p:spPr/>
        <p:txBody>
          <a:bodyPr/>
          <a:lstStyle/>
          <a:p>
            <a:fld id="{9E82CC3C-1DC0-4FDA-9590-6CC506AB67F8}" type="slidenum">
              <a:rPr lang="en-US" smtClean="0"/>
              <a:pPr/>
              <a:t>‹Nr.›</a:t>
            </a:fld>
            <a:endParaRPr lang="en-US" dirty="0"/>
          </a:p>
        </p:txBody>
      </p:sp>
      <p:graphicFrame>
        <p:nvGraphicFramePr>
          <p:cNvPr id="11" name="Table 10"/>
          <p:cNvGraphicFramePr>
            <a:graphicFrameLocks noGrp="1"/>
          </p:cNvGraphicFramePr>
          <p:nvPr/>
        </p:nvGraphicFramePr>
        <p:xfrm>
          <a:off x="466344" y="1042416"/>
          <a:ext cx="8247888" cy="1975104"/>
        </p:xfrm>
        <a:graphic>
          <a:graphicData uri="http://schemas.openxmlformats.org/drawingml/2006/table">
            <a:tbl>
              <a:tblPr firstRow="1" bandRow="1">
                <a:tableStyleId>{5C22544A-7EE6-4342-B048-85BDC9FD1C3A}</a:tableStyleId>
              </a:tblPr>
              <a:tblGrid>
                <a:gridCol w="1188720"/>
                <a:gridCol w="1005840"/>
                <a:gridCol w="1024128"/>
                <a:gridCol w="932688"/>
                <a:gridCol w="713232"/>
                <a:gridCol w="786384"/>
                <a:gridCol w="841248"/>
                <a:gridCol w="1755648"/>
              </a:tblGrid>
              <a:tr h="219456">
                <a:tc>
                  <a:txBody>
                    <a:bodyPr wrap="square"/>
                    <a:lstStyle/>
                    <a:p>
                      <a:pPr algn="l">
                        <a:spcAft>
                          <a:spcPts val="0"/>
                        </a:spcAft>
                      </a:pPr>
                      <a:r>
                        <a:rPr sz="900" b="1">
                          <a:solidFill>
                            <a:srgbClr val="FFFFFF"/>
                          </a:solidFill>
                          <a:latin typeface="Arial"/>
                        </a:rPr>
                        <a:t>scenarios</a:t>
                      </a:r>
                    </a:p>
                  </a:txBody>
                  <a:tcPr anchor="ctr">
                    <a:solidFill>
                      <a:srgbClr val="00519E"/>
                    </a:solidFill>
                  </a:tcPr>
                </a:tc>
                <a:tc>
                  <a:txBody>
                    <a:bodyPr wrap="square"/>
                    <a:lstStyle/>
                    <a:p>
                      <a:pPr algn="l">
                        <a:spcAft>
                          <a:spcPts val="0"/>
                        </a:spcAft>
                      </a:pPr>
                      <a:r>
                        <a:rPr sz="900" b="1">
                          <a:solidFill>
                            <a:srgbClr val="FFFFFF"/>
                          </a:solidFill>
                          <a:latin typeface="Arial"/>
                        </a:rPr>
                        <a:t>fitting target</a:t>
                      </a:r>
                    </a:p>
                  </a:txBody>
                  <a:tcPr anchor="ctr">
                    <a:solidFill>
                      <a:srgbClr val="00519E"/>
                    </a:solidFill>
                  </a:tcPr>
                </a:tc>
                <a:tc>
                  <a:txBody>
                    <a:bodyPr wrap="square"/>
                    <a:lstStyle/>
                    <a:p>
                      <a:pPr algn="l">
                        <a:spcAft>
                          <a:spcPts val="0"/>
                        </a:spcAft>
                      </a:pPr>
                      <a:r>
                        <a:rPr sz="900" b="1">
                          <a:solidFill>
                            <a:srgbClr val="FFFFFF"/>
                          </a:solidFill>
                          <a:latin typeface="Arial"/>
                        </a:rPr>
                        <a:t>model</a:t>
                      </a:r>
                    </a:p>
                  </a:txBody>
                  <a:tcPr anchor="ctr">
                    <a:solidFill>
                      <a:srgbClr val="00519E"/>
                    </a:solidFill>
                  </a:tcPr>
                </a:tc>
                <a:tc>
                  <a:txBody>
                    <a:bodyPr wrap="square"/>
                    <a:lstStyle/>
                    <a:p>
                      <a:pPr algn="l">
                        <a:spcAft>
                          <a:spcPts val="0"/>
                        </a:spcAft>
                      </a:pPr>
                      <a:r>
                        <a:rPr sz="900" b="1">
                          <a:solidFill>
                            <a:srgbClr val="FFFFFF"/>
                          </a:solidFill>
                          <a:latin typeface="Arial"/>
                        </a:rPr>
                        <a:t>inner RMSE</a:t>
                      </a:r>
                    </a:p>
                  </a:txBody>
                  <a:tcPr anchor="ctr">
                    <a:solidFill>
                      <a:srgbClr val="00519E"/>
                    </a:solidFill>
                  </a:tcPr>
                </a:tc>
                <a:tc>
                  <a:txBody>
                    <a:bodyPr wrap="square"/>
                    <a:lstStyle/>
                    <a:p>
                      <a:pPr algn="l">
                        <a:spcAft>
                          <a:spcPts val="0"/>
                        </a:spcAft>
                      </a:pPr>
                      <a:r>
                        <a:rPr sz="900" b="1">
                          <a:solidFill>
                            <a:srgbClr val="FFFFFF"/>
                          </a:solidFill>
                          <a:latin typeface="Arial"/>
                        </a:rPr>
                        <a:t>fold SD</a:t>
                      </a:r>
                    </a:p>
                  </a:txBody>
                  <a:tcPr anchor="ctr">
                    <a:solidFill>
                      <a:srgbClr val="00519E"/>
                    </a:solidFill>
                  </a:tcPr>
                </a:tc>
                <a:tc>
                  <a:txBody>
                    <a:bodyPr wrap="square"/>
                    <a:lstStyle/>
                    <a:p>
                      <a:pPr algn="l">
                        <a:spcAft>
                          <a:spcPts val="0"/>
                        </a:spcAft>
                      </a:pPr>
                      <a:r>
                        <a:rPr sz="900" b="1">
                          <a:solidFill>
                            <a:srgbClr val="FFFFFF"/>
                          </a:solidFill>
                          <a:latin typeface="Arial"/>
                        </a:rPr>
                        <a:t>inner R²</a:t>
                      </a:r>
                    </a:p>
                  </a:txBody>
                  <a:tcPr anchor="ctr">
                    <a:solidFill>
                      <a:srgbClr val="00519E"/>
                    </a:solidFill>
                  </a:tcPr>
                </a:tc>
                <a:tc>
                  <a:txBody>
                    <a:bodyPr wrap="square"/>
                    <a:lstStyle/>
                    <a:p>
                      <a:pPr algn="l">
                        <a:spcAft>
                          <a:spcPts val="0"/>
                        </a:spcAft>
                      </a:pPr>
                      <a:r>
                        <a:rPr sz="900" b="1">
                          <a:solidFill>
                            <a:srgbClr val="FFFFFF"/>
                          </a:solidFill>
                          <a:latin typeface="Arial"/>
                        </a:rPr>
                        <a:t>bias</a:t>
                      </a:r>
                    </a:p>
                  </a:txBody>
                  <a:tcPr anchor="ctr">
                    <a:solidFill>
                      <a:srgbClr val="00519E"/>
                    </a:solidFill>
                  </a:tcPr>
                </a:tc>
                <a:tc>
                  <a:txBody>
                    <a:bodyPr wrap="square"/>
                    <a:lstStyle/>
                    <a:p>
                      <a:pPr algn="l">
                        <a:spcAft>
                          <a:spcPts val="0"/>
                        </a:spcAft>
                      </a:pPr>
                      <a:r>
                        <a:rPr sz="900" b="1">
                          <a:solidFill>
                            <a:srgbClr val="FFFFFF"/>
                          </a:solidFill>
                          <a:latin typeface="Arial"/>
                        </a:rPr>
                        <a:t>overpred. rate</a:t>
                      </a:r>
                    </a:p>
                  </a:txBody>
                  <a:tcPr anchor="ctr">
                    <a:solidFill>
                      <a:srgbClr val="00519E"/>
                    </a:solidFill>
                  </a:tcPr>
                </a:tc>
              </a:tr>
              <a:tr h="219456">
                <a:tc>
                  <a:txBody>
                    <a:bodyPr wrap="square"/>
                    <a:lstStyle/>
                    <a:p>
                      <a:pPr algn="l">
                        <a:spcAft>
                          <a:spcPts val="0"/>
                        </a:spcAft>
                      </a:pPr>
                      <a:r>
                        <a:rPr sz="900" b="0">
                          <a:solidFill>
                            <a:srgbClr val="3E444C"/>
                          </a:solidFill>
                          <a:latin typeface="Arial"/>
                        </a:rPr>
                        <a:t>current</a:t>
                      </a:r>
                    </a:p>
                  </a:txBody>
                  <a:tcPr anchor="ctr">
                    <a:solidFill>
                      <a:srgbClr val="ECF4FA"/>
                    </a:solidFill>
                  </a:tcPr>
                </a:tc>
                <a:tc>
                  <a:txBody>
                    <a:bodyPr wrap="square"/>
                    <a:lstStyle/>
                    <a:p>
                      <a:pPr algn="l">
                        <a:spcAft>
                          <a:spcPts val="0"/>
                        </a:spcAft>
                      </a:pPr>
                      <a:r>
                        <a:rPr sz="900" b="0">
                          <a:solidFill>
                            <a:srgbClr val="3E444C"/>
                          </a:solidFill>
                          <a:latin typeface="Arial"/>
                        </a:rPr>
                        <a:t>raw</a:t>
                      </a:r>
                    </a:p>
                  </a:txBody>
                  <a:tcPr anchor="ctr">
                    <a:solidFill>
                      <a:srgbClr val="ECF4FA"/>
                    </a:solidFill>
                  </a:tcPr>
                </a:tc>
                <a:tc>
                  <a:txBody>
                    <a:bodyPr wrap="square"/>
                    <a:lstStyle/>
                    <a:p>
                      <a:pPr algn="l">
                        <a:spcAft>
                          <a:spcPts val="0"/>
                        </a:spcAft>
                      </a:pPr>
                      <a:r>
                        <a:rPr sz="900" b="0">
                          <a:solidFill>
                            <a:srgbClr val="3E444C"/>
                          </a:solidFill>
                          <a:latin typeface="Arial"/>
                        </a:rPr>
                        <a:t>XGBoost</a:t>
                      </a:r>
                    </a:p>
                  </a:txBody>
                  <a:tcPr anchor="ctr">
                    <a:solidFill>
                      <a:srgbClr val="ECF4FA"/>
                    </a:solidFill>
                  </a:tcPr>
                </a:tc>
                <a:tc>
                  <a:txBody>
                    <a:bodyPr wrap="square"/>
                    <a:lstStyle/>
                    <a:p>
                      <a:pPr algn="l">
                        <a:spcAft>
                          <a:spcPts val="0"/>
                        </a:spcAft>
                      </a:pPr>
                      <a:r>
                        <a:rPr sz="900" b="0">
                          <a:solidFill>
                            <a:srgbClr val="3E444C"/>
                          </a:solidFill>
                          <a:latin typeface="Arial"/>
                        </a:rPr>
                        <a:t>29.8059</a:t>
                      </a:r>
                    </a:p>
                  </a:txBody>
                  <a:tcPr anchor="ctr">
                    <a:solidFill>
                      <a:srgbClr val="ECF4FA"/>
                    </a:solidFill>
                  </a:tcPr>
                </a:tc>
                <a:tc>
                  <a:txBody>
                    <a:bodyPr wrap="square"/>
                    <a:lstStyle/>
                    <a:p>
                      <a:pPr algn="l">
                        <a:spcAft>
                          <a:spcPts val="0"/>
                        </a:spcAft>
                      </a:pPr>
                      <a:r>
                        <a:rPr sz="900" b="0">
                          <a:solidFill>
                            <a:srgbClr val="3E444C"/>
                          </a:solidFill>
                          <a:latin typeface="Arial"/>
                        </a:rPr>
                        <a:t>1.7513</a:t>
                      </a:r>
                    </a:p>
                  </a:txBody>
                  <a:tcPr anchor="ctr">
                    <a:solidFill>
                      <a:srgbClr val="ECF4FA"/>
                    </a:solidFill>
                  </a:tcPr>
                </a:tc>
                <a:tc>
                  <a:txBody>
                    <a:bodyPr wrap="square"/>
                    <a:lstStyle/>
                    <a:p>
                      <a:pPr algn="l">
                        <a:spcAft>
                          <a:spcPts val="0"/>
                        </a:spcAft>
                      </a:pPr>
                      <a:r>
                        <a:rPr sz="900" b="0">
                          <a:solidFill>
                            <a:srgbClr val="3E444C"/>
                          </a:solidFill>
                          <a:latin typeface="Arial"/>
                        </a:rPr>
                        <a:t>0.7708</a:t>
                      </a:r>
                    </a:p>
                  </a:txBody>
                  <a:tcPr anchor="ctr">
                    <a:solidFill>
                      <a:srgbClr val="ECF4FA"/>
                    </a:solidFill>
                  </a:tcPr>
                </a:tc>
                <a:tc>
                  <a:txBody>
                    <a:bodyPr wrap="square"/>
                    <a:lstStyle/>
                    <a:p>
                      <a:pPr algn="l">
                        <a:spcAft>
                          <a:spcPts val="0"/>
                        </a:spcAft>
                      </a:pPr>
                      <a:r>
                        <a:rPr sz="900" b="0">
                          <a:solidFill>
                            <a:srgbClr val="3E444C"/>
                          </a:solidFill>
                          <a:latin typeface="Arial"/>
                        </a:rPr>
                        <a:t>+5.2165</a:t>
                      </a:r>
                    </a:p>
                  </a:txBody>
                  <a:tcPr anchor="ctr">
                    <a:solidFill>
                      <a:srgbClr val="ECF4FA"/>
                    </a:solidFill>
                  </a:tcPr>
                </a:tc>
                <a:tc>
                  <a:txBody>
                    <a:bodyPr wrap="square"/>
                    <a:lstStyle/>
                    <a:p>
                      <a:pPr algn="l">
                        <a:spcAft>
                          <a:spcPts val="0"/>
                        </a:spcAft>
                      </a:pPr>
                      <a:r>
                        <a:rPr sz="900" b="0">
                          <a:solidFill>
                            <a:srgbClr val="3E444C"/>
                          </a:solidFill>
                          <a:latin typeface="Arial"/>
                        </a:rPr>
                        <a:t>67.35%</a:t>
                      </a:r>
                    </a:p>
                  </a:txBody>
                  <a:tcPr anchor="ctr">
                    <a:solidFill>
                      <a:srgbClr val="ECF4FA"/>
                    </a:solidFill>
                  </a:tcPr>
                </a:tc>
              </a:tr>
              <a:tr h="219456">
                <a:tc>
                  <a:txBody>
                    <a:bodyPr wrap="square"/>
                    <a:lstStyle/>
                    <a:p>
                      <a:pPr algn="l">
                        <a:spcAft>
                          <a:spcPts val="0"/>
                        </a:spcAft>
                      </a:pPr>
                      <a:r>
                        <a:rPr sz="900" b="0">
                          <a:solidFill>
                            <a:srgbClr val="3E444C"/>
                          </a:solidFill>
                          <a:latin typeface="Arial"/>
                        </a:rPr>
                        <a:t>current</a:t>
                      </a:r>
                    </a:p>
                  </a:txBody>
                  <a:tcPr anchor="ctr">
                    <a:solidFill>
                      <a:srgbClr val="FFFFFF"/>
                    </a:solidFill>
                  </a:tcPr>
                </a:tc>
                <a:tc>
                  <a:txBody>
                    <a:bodyPr wrap="square"/>
                    <a:lstStyle/>
                    <a:p>
                      <a:pPr algn="l">
                        <a:spcAft>
                          <a:spcPts val="0"/>
                        </a:spcAft>
                      </a:pPr>
                      <a:r>
                        <a:rPr sz="900" b="0">
                          <a:solidFill>
                            <a:srgbClr val="3E444C"/>
                          </a:solidFill>
                          <a:latin typeface="Arial"/>
                        </a:rPr>
                        <a:t>raw</a:t>
                      </a:r>
                    </a:p>
                  </a:txBody>
                  <a:tcPr anchor="ctr">
                    <a:solidFill>
                      <a:srgbClr val="FFFFFF"/>
                    </a:solidFill>
                  </a:tcPr>
                </a:tc>
                <a:tc>
                  <a:txBody>
                    <a:bodyPr wrap="square"/>
                    <a:lstStyle/>
                    <a:p>
                      <a:pPr algn="l">
                        <a:spcAft>
                          <a:spcPts val="0"/>
                        </a:spcAft>
                      </a:pPr>
                      <a:r>
                        <a:rPr sz="900" b="0">
                          <a:solidFill>
                            <a:srgbClr val="3E444C"/>
                          </a:solidFill>
                          <a:latin typeface="Arial"/>
                        </a:rPr>
                        <a:t>ExtraTrees</a:t>
                      </a:r>
                    </a:p>
                  </a:txBody>
                  <a:tcPr anchor="ctr">
                    <a:solidFill>
                      <a:srgbClr val="FFFFFF"/>
                    </a:solidFill>
                  </a:tcPr>
                </a:tc>
                <a:tc>
                  <a:txBody>
                    <a:bodyPr wrap="square"/>
                    <a:lstStyle/>
                    <a:p>
                      <a:pPr algn="l">
                        <a:spcAft>
                          <a:spcPts val="0"/>
                        </a:spcAft>
                      </a:pPr>
                      <a:r>
                        <a:rPr sz="900" b="0">
                          <a:solidFill>
                            <a:srgbClr val="3E444C"/>
                          </a:solidFill>
                          <a:latin typeface="Arial"/>
                        </a:rPr>
                        <a:t>32.7578</a:t>
                      </a:r>
                    </a:p>
                  </a:txBody>
                  <a:tcPr anchor="ctr">
                    <a:solidFill>
                      <a:srgbClr val="FFFFFF"/>
                    </a:solidFill>
                  </a:tcPr>
                </a:tc>
                <a:tc>
                  <a:txBody>
                    <a:bodyPr wrap="square"/>
                    <a:lstStyle/>
                    <a:p>
                      <a:pPr algn="l">
                        <a:spcAft>
                          <a:spcPts val="0"/>
                        </a:spcAft>
                      </a:pPr>
                      <a:r>
                        <a:rPr sz="900" b="0">
                          <a:solidFill>
                            <a:srgbClr val="3E444C"/>
                          </a:solidFill>
                          <a:latin typeface="Arial"/>
                        </a:rPr>
                        <a:t>2.6545</a:t>
                      </a:r>
                    </a:p>
                  </a:txBody>
                  <a:tcPr anchor="ctr">
                    <a:solidFill>
                      <a:srgbClr val="FFFFFF"/>
                    </a:solidFill>
                  </a:tcPr>
                </a:tc>
                <a:tc>
                  <a:txBody>
                    <a:bodyPr wrap="square"/>
                    <a:lstStyle/>
                    <a:p>
                      <a:pPr algn="l">
                        <a:spcAft>
                          <a:spcPts val="0"/>
                        </a:spcAft>
                      </a:pPr>
                      <a:r>
                        <a:rPr sz="900" b="0">
                          <a:solidFill>
                            <a:srgbClr val="3E444C"/>
                          </a:solidFill>
                          <a:latin typeface="Arial"/>
                        </a:rPr>
                        <a:t>0.7264</a:t>
                      </a:r>
                    </a:p>
                  </a:txBody>
                  <a:tcPr anchor="ctr">
                    <a:solidFill>
                      <a:srgbClr val="FFFFFF"/>
                    </a:solidFill>
                  </a:tcPr>
                </a:tc>
                <a:tc>
                  <a:txBody>
                    <a:bodyPr wrap="square"/>
                    <a:lstStyle/>
                    <a:p>
                      <a:pPr algn="l">
                        <a:spcAft>
                          <a:spcPts val="0"/>
                        </a:spcAft>
                      </a:pPr>
                      <a:r>
                        <a:rPr sz="900" b="0">
                          <a:solidFill>
                            <a:srgbClr val="3E444C"/>
                          </a:solidFill>
                          <a:latin typeface="Arial"/>
                        </a:rPr>
                        <a:t>+4.4906</a:t>
                      </a:r>
                    </a:p>
                  </a:txBody>
                  <a:tcPr anchor="ctr">
                    <a:solidFill>
                      <a:srgbClr val="FFFFFF"/>
                    </a:solidFill>
                  </a:tcPr>
                </a:tc>
                <a:tc>
                  <a:txBody>
                    <a:bodyPr wrap="square"/>
                    <a:lstStyle/>
                    <a:p>
                      <a:pPr algn="l">
                        <a:spcAft>
                          <a:spcPts val="0"/>
                        </a:spcAft>
                      </a:pPr>
                      <a:r>
                        <a:rPr sz="900" b="0">
                          <a:solidFill>
                            <a:srgbClr val="3E444C"/>
                          </a:solidFill>
                          <a:latin typeface="Arial"/>
                        </a:rPr>
                        <a:t>66.00%</a:t>
                      </a:r>
                    </a:p>
                  </a:txBody>
                  <a:tcPr anchor="ctr">
                    <a:solidFill>
                      <a:srgbClr val="FFFFFF"/>
                    </a:solidFill>
                  </a:tcPr>
                </a:tc>
              </a:tr>
              <a:tr h="219456">
                <a:tc>
                  <a:txBody>
                    <a:bodyPr wrap="square"/>
                    <a:lstStyle/>
                    <a:p>
                      <a:pPr algn="l">
                        <a:spcAft>
                          <a:spcPts val="0"/>
                        </a:spcAft>
                      </a:pPr>
                      <a:r>
                        <a:rPr sz="900" b="0">
                          <a:solidFill>
                            <a:srgbClr val="3E444C"/>
                          </a:solidFill>
                          <a:latin typeface="Arial"/>
                        </a:rPr>
                        <a:t>current</a:t>
                      </a:r>
                    </a:p>
                  </a:txBody>
                  <a:tcPr anchor="ctr">
                    <a:solidFill>
                      <a:srgbClr val="ECF4FA"/>
                    </a:solidFill>
                  </a:tcPr>
                </a:tc>
                <a:tc>
                  <a:txBody>
                    <a:bodyPr wrap="square"/>
                    <a:lstStyle/>
                    <a:p>
                      <a:pPr algn="l">
                        <a:spcAft>
                          <a:spcPts val="0"/>
                        </a:spcAft>
                      </a:pPr>
                      <a:r>
                        <a:rPr sz="900" b="0">
                          <a:solidFill>
                            <a:srgbClr val="3E444C"/>
                          </a:solidFill>
                          <a:latin typeface="Arial"/>
                        </a:rPr>
                        <a:t>cap 125</a:t>
                      </a:r>
                    </a:p>
                  </a:txBody>
                  <a:tcPr anchor="ctr">
                    <a:solidFill>
                      <a:srgbClr val="ECF4FA"/>
                    </a:solidFill>
                  </a:tcPr>
                </a:tc>
                <a:tc>
                  <a:txBody>
                    <a:bodyPr wrap="square"/>
                    <a:lstStyle/>
                    <a:p>
                      <a:pPr algn="l">
                        <a:spcAft>
                          <a:spcPts val="0"/>
                        </a:spcAft>
                      </a:pPr>
                      <a:r>
                        <a:rPr sz="900" b="0">
                          <a:solidFill>
                            <a:srgbClr val="3E444C"/>
                          </a:solidFill>
                          <a:latin typeface="Arial"/>
                        </a:rPr>
                        <a:t>XGBoost</a:t>
                      </a:r>
                    </a:p>
                  </a:txBody>
                  <a:tcPr anchor="ctr">
                    <a:solidFill>
                      <a:srgbClr val="ECF4FA"/>
                    </a:solidFill>
                  </a:tcPr>
                </a:tc>
                <a:tc>
                  <a:txBody>
                    <a:bodyPr wrap="square"/>
                    <a:lstStyle/>
                    <a:p>
                      <a:pPr algn="l">
                        <a:spcAft>
                          <a:spcPts val="0"/>
                        </a:spcAft>
                      </a:pPr>
                      <a:r>
                        <a:rPr sz="900" b="0">
                          <a:solidFill>
                            <a:srgbClr val="3E444C"/>
                          </a:solidFill>
                          <a:latin typeface="Arial"/>
                        </a:rPr>
                        <a:t>36.2141</a:t>
                      </a:r>
                    </a:p>
                  </a:txBody>
                  <a:tcPr anchor="ctr">
                    <a:solidFill>
                      <a:srgbClr val="ECF4FA"/>
                    </a:solidFill>
                  </a:tcPr>
                </a:tc>
                <a:tc>
                  <a:txBody>
                    <a:bodyPr wrap="square"/>
                    <a:lstStyle/>
                    <a:p>
                      <a:pPr algn="l">
                        <a:spcAft>
                          <a:spcPts val="0"/>
                        </a:spcAft>
                      </a:pPr>
                      <a:r>
                        <a:rPr sz="900" b="0">
                          <a:solidFill>
                            <a:srgbClr val="3E444C"/>
                          </a:solidFill>
                          <a:latin typeface="Arial"/>
                        </a:rPr>
                        <a:t>2.5645</a:t>
                      </a:r>
                    </a:p>
                  </a:txBody>
                  <a:tcPr anchor="ctr">
                    <a:solidFill>
                      <a:srgbClr val="ECF4FA"/>
                    </a:solidFill>
                  </a:tcPr>
                </a:tc>
                <a:tc>
                  <a:txBody>
                    <a:bodyPr wrap="square"/>
                    <a:lstStyle/>
                    <a:p>
                      <a:pPr algn="l">
                        <a:spcAft>
                          <a:spcPts val="0"/>
                        </a:spcAft>
                      </a:pPr>
                      <a:r>
                        <a:rPr sz="900" b="0">
                          <a:solidFill>
                            <a:srgbClr val="3E444C"/>
                          </a:solidFill>
                          <a:latin typeface="Arial"/>
                        </a:rPr>
                        <a:t>0.6690</a:t>
                      </a:r>
                    </a:p>
                  </a:txBody>
                  <a:tcPr anchor="ctr">
                    <a:solidFill>
                      <a:srgbClr val="ECF4FA"/>
                    </a:solidFill>
                  </a:tcPr>
                </a:tc>
                <a:tc>
                  <a:txBody>
                    <a:bodyPr wrap="square"/>
                    <a:lstStyle/>
                    <a:p>
                      <a:pPr algn="l">
                        <a:spcAft>
                          <a:spcPts val="0"/>
                        </a:spcAft>
                      </a:pPr>
                      <a:r>
                        <a:rPr sz="900" b="0">
                          <a:solidFill>
                            <a:srgbClr val="3E444C"/>
                          </a:solidFill>
                          <a:latin typeface="Arial"/>
                        </a:rPr>
                        <a:t>-10.8488</a:t>
                      </a:r>
                    </a:p>
                  </a:txBody>
                  <a:tcPr anchor="ctr">
                    <a:solidFill>
                      <a:srgbClr val="ECF4FA"/>
                    </a:solidFill>
                  </a:tcPr>
                </a:tc>
                <a:tc>
                  <a:txBody>
                    <a:bodyPr wrap="square"/>
                    <a:lstStyle/>
                    <a:p>
                      <a:pPr algn="l">
                        <a:spcAft>
                          <a:spcPts val="0"/>
                        </a:spcAft>
                      </a:pPr>
                      <a:r>
                        <a:rPr sz="900" b="0">
                          <a:solidFill>
                            <a:srgbClr val="3E444C"/>
                          </a:solidFill>
                          <a:latin typeface="Arial"/>
                        </a:rPr>
                        <a:t>46.70%</a:t>
                      </a:r>
                    </a:p>
                  </a:txBody>
                  <a:tcPr anchor="ctr">
                    <a:solidFill>
                      <a:srgbClr val="ECF4FA"/>
                    </a:solidFill>
                  </a:tcPr>
                </a:tc>
              </a:tr>
              <a:tr h="219456">
                <a:tc>
                  <a:txBody>
                    <a:bodyPr wrap="square"/>
                    <a:lstStyle/>
                    <a:p>
                      <a:pPr algn="l">
                        <a:spcAft>
                          <a:spcPts val="0"/>
                        </a:spcAft>
                      </a:pPr>
                      <a:r>
                        <a:rPr sz="900" b="0">
                          <a:solidFill>
                            <a:srgbClr val="3E444C"/>
                          </a:solidFill>
                          <a:latin typeface="Arial"/>
                        </a:rPr>
                        <a:t>current</a:t>
                      </a:r>
                    </a:p>
                  </a:txBody>
                  <a:tcPr anchor="ctr">
                    <a:solidFill>
                      <a:srgbClr val="FFFFFF"/>
                    </a:solidFill>
                  </a:tcPr>
                </a:tc>
                <a:tc>
                  <a:txBody>
                    <a:bodyPr wrap="square"/>
                    <a:lstStyle/>
                    <a:p>
                      <a:pPr algn="l">
                        <a:spcAft>
                          <a:spcPts val="0"/>
                        </a:spcAft>
                      </a:pPr>
                      <a:r>
                        <a:rPr sz="900" b="0">
                          <a:solidFill>
                            <a:srgbClr val="3E444C"/>
                          </a:solidFill>
                          <a:latin typeface="Arial"/>
                        </a:rPr>
                        <a:t>cap 125</a:t>
                      </a:r>
                    </a:p>
                  </a:txBody>
                  <a:tcPr anchor="ctr">
                    <a:solidFill>
                      <a:srgbClr val="FFFFFF"/>
                    </a:solidFill>
                  </a:tcPr>
                </a:tc>
                <a:tc>
                  <a:txBody>
                    <a:bodyPr wrap="square"/>
                    <a:lstStyle/>
                    <a:p>
                      <a:pPr algn="l">
                        <a:spcAft>
                          <a:spcPts val="0"/>
                        </a:spcAft>
                      </a:pPr>
                      <a:r>
                        <a:rPr sz="900" b="0">
                          <a:solidFill>
                            <a:srgbClr val="3E444C"/>
                          </a:solidFill>
                          <a:latin typeface="Arial"/>
                        </a:rPr>
                        <a:t>ExtraTrees</a:t>
                      </a:r>
                    </a:p>
                  </a:txBody>
                  <a:tcPr anchor="ctr">
                    <a:solidFill>
                      <a:srgbClr val="FFFFFF"/>
                    </a:solidFill>
                  </a:tcPr>
                </a:tc>
                <a:tc>
                  <a:txBody>
                    <a:bodyPr wrap="square"/>
                    <a:lstStyle/>
                    <a:p>
                      <a:pPr algn="l">
                        <a:spcAft>
                          <a:spcPts val="0"/>
                        </a:spcAft>
                      </a:pPr>
                      <a:r>
                        <a:rPr sz="900" b="0">
                          <a:solidFill>
                            <a:srgbClr val="3E444C"/>
                          </a:solidFill>
                          <a:latin typeface="Arial"/>
                        </a:rPr>
                        <a:t>37.1100</a:t>
                      </a:r>
                    </a:p>
                  </a:txBody>
                  <a:tcPr anchor="ctr">
                    <a:solidFill>
                      <a:srgbClr val="FFFFFF"/>
                    </a:solidFill>
                  </a:tcPr>
                </a:tc>
                <a:tc>
                  <a:txBody>
                    <a:bodyPr wrap="square"/>
                    <a:lstStyle/>
                    <a:p>
                      <a:pPr algn="l">
                        <a:spcAft>
                          <a:spcPts val="0"/>
                        </a:spcAft>
                      </a:pPr>
                      <a:r>
                        <a:rPr sz="900" b="0">
                          <a:solidFill>
                            <a:srgbClr val="3E444C"/>
                          </a:solidFill>
                          <a:latin typeface="Arial"/>
                        </a:rPr>
                        <a:t>2.5884</a:t>
                      </a:r>
                    </a:p>
                  </a:txBody>
                  <a:tcPr anchor="ctr">
                    <a:solidFill>
                      <a:srgbClr val="FFFFFF"/>
                    </a:solidFill>
                  </a:tcPr>
                </a:tc>
                <a:tc>
                  <a:txBody>
                    <a:bodyPr wrap="square"/>
                    <a:lstStyle/>
                    <a:p>
                      <a:pPr algn="l">
                        <a:spcAft>
                          <a:spcPts val="0"/>
                        </a:spcAft>
                      </a:pPr>
                      <a:r>
                        <a:rPr sz="900" b="0">
                          <a:solidFill>
                            <a:srgbClr val="3E444C"/>
                          </a:solidFill>
                          <a:latin typeface="Arial"/>
                        </a:rPr>
                        <a:t>0.6525</a:t>
                      </a:r>
                    </a:p>
                  </a:txBody>
                  <a:tcPr anchor="ctr">
                    <a:solidFill>
                      <a:srgbClr val="FFFFFF"/>
                    </a:solidFill>
                  </a:tcPr>
                </a:tc>
                <a:tc>
                  <a:txBody>
                    <a:bodyPr wrap="square"/>
                    <a:lstStyle/>
                    <a:p>
                      <a:pPr algn="l">
                        <a:spcAft>
                          <a:spcPts val="0"/>
                        </a:spcAft>
                      </a:pPr>
                      <a:r>
                        <a:rPr sz="900" b="0">
                          <a:solidFill>
                            <a:srgbClr val="3E444C"/>
                          </a:solidFill>
                          <a:latin typeface="Arial"/>
                        </a:rPr>
                        <a:t>-10.7370</a:t>
                      </a:r>
                    </a:p>
                  </a:txBody>
                  <a:tcPr anchor="ctr">
                    <a:solidFill>
                      <a:srgbClr val="FFFFFF"/>
                    </a:solidFill>
                  </a:tcPr>
                </a:tc>
                <a:tc>
                  <a:txBody>
                    <a:bodyPr wrap="square"/>
                    <a:lstStyle/>
                    <a:p>
                      <a:pPr algn="l">
                        <a:spcAft>
                          <a:spcPts val="0"/>
                        </a:spcAft>
                      </a:pPr>
                      <a:r>
                        <a:rPr sz="900" b="0">
                          <a:solidFill>
                            <a:srgbClr val="3E444C"/>
                          </a:solidFill>
                          <a:latin typeface="Arial"/>
                        </a:rPr>
                        <a:t>50.95%</a:t>
                      </a:r>
                    </a:p>
                  </a:txBody>
                  <a:tcPr anchor="ctr">
                    <a:solidFill>
                      <a:srgbClr val="FFFFFF"/>
                    </a:solidFill>
                  </a:tcPr>
                </a:tc>
              </a:tr>
              <a:tr h="219456">
                <a:tc>
                  <a:txBody>
                    <a:bodyPr wrap="square"/>
                    <a:lstStyle/>
                    <a:p>
                      <a:pPr algn="l">
                        <a:spcAft>
                          <a:spcPts val="0"/>
                        </a:spcAft>
                      </a:pPr>
                      <a:r>
                        <a:rPr sz="900" b="0">
                          <a:solidFill>
                            <a:srgbClr val="3E444C"/>
                          </a:solidFill>
                          <a:latin typeface="Arial"/>
                        </a:rPr>
                        <a:t>early/middle</a:t>
                      </a:r>
                    </a:p>
                  </a:txBody>
                  <a:tcPr anchor="ctr">
                    <a:solidFill>
                      <a:srgbClr val="ECF4FA"/>
                    </a:solidFill>
                  </a:tcPr>
                </a:tc>
                <a:tc>
                  <a:txBody>
                    <a:bodyPr wrap="square"/>
                    <a:lstStyle/>
                    <a:p>
                      <a:pPr algn="l">
                        <a:spcAft>
                          <a:spcPts val="0"/>
                        </a:spcAft>
                      </a:pPr>
                      <a:r>
                        <a:rPr sz="900" b="0">
                          <a:solidFill>
                            <a:srgbClr val="3E444C"/>
                          </a:solidFill>
                          <a:latin typeface="Arial"/>
                        </a:rPr>
                        <a:t>raw</a:t>
                      </a:r>
                    </a:p>
                  </a:txBody>
                  <a:tcPr anchor="ctr">
                    <a:solidFill>
                      <a:srgbClr val="ECF4FA"/>
                    </a:solidFill>
                  </a:tcPr>
                </a:tc>
                <a:tc>
                  <a:txBody>
                    <a:bodyPr wrap="square"/>
                    <a:lstStyle/>
                    <a:p>
                      <a:pPr algn="l">
                        <a:spcAft>
                          <a:spcPts val="0"/>
                        </a:spcAft>
                      </a:pPr>
                      <a:r>
                        <a:rPr sz="900" b="0">
                          <a:solidFill>
                            <a:srgbClr val="3E444C"/>
                          </a:solidFill>
                          <a:latin typeface="Arial"/>
                        </a:rPr>
                        <a:t>XGBoost</a:t>
                      </a:r>
                    </a:p>
                  </a:txBody>
                  <a:tcPr anchor="ctr">
                    <a:solidFill>
                      <a:srgbClr val="ECF4FA"/>
                    </a:solidFill>
                  </a:tcPr>
                </a:tc>
                <a:tc>
                  <a:txBody>
                    <a:bodyPr wrap="square"/>
                    <a:lstStyle/>
                    <a:p>
                      <a:pPr algn="l">
                        <a:spcAft>
                          <a:spcPts val="0"/>
                        </a:spcAft>
                      </a:pPr>
                      <a:r>
                        <a:rPr sz="900" b="0">
                          <a:solidFill>
                            <a:srgbClr val="3E444C"/>
                          </a:solidFill>
                          <a:latin typeface="Arial"/>
                        </a:rPr>
                        <a:t>23.3667</a:t>
                      </a:r>
                    </a:p>
                  </a:txBody>
                  <a:tcPr anchor="ctr">
                    <a:solidFill>
                      <a:srgbClr val="ECF4FA"/>
                    </a:solidFill>
                  </a:tcPr>
                </a:tc>
                <a:tc>
                  <a:txBody>
                    <a:bodyPr wrap="square"/>
                    <a:lstStyle/>
                    <a:p>
                      <a:pPr algn="l">
                        <a:spcAft>
                          <a:spcPts val="0"/>
                        </a:spcAft>
                      </a:pPr>
                      <a:r>
                        <a:rPr sz="900" b="0">
                          <a:solidFill>
                            <a:srgbClr val="3E444C"/>
                          </a:solidFill>
                          <a:latin typeface="Arial"/>
                        </a:rPr>
                        <a:t>1.5326</a:t>
                      </a:r>
                    </a:p>
                  </a:txBody>
                  <a:tcPr anchor="ctr">
                    <a:solidFill>
                      <a:srgbClr val="ECF4FA"/>
                    </a:solidFill>
                  </a:tcPr>
                </a:tc>
                <a:tc>
                  <a:txBody>
                    <a:bodyPr wrap="square"/>
                    <a:lstStyle/>
                    <a:p>
                      <a:pPr algn="l">
                        <a:spcAft>
                          <a:spcPts val="0"/>
                        </a:spcAft>
                      </a:pPr>
                      <a:r>
                        <a:rPr sz="900" b="0">
                          <a:solidFill>
                            <a:srgbClr val="3E444C"/>
                          </a:solidFill>
                          <a:latin typeface="Arial"/>
                        </a:rPr>
                        <a:t>0.4867</a:t>
                      </a:r>
                    </a:p>
                  </a:txBody>
                  <a:tcPr anchor="ctr">
                    <a:solidFill>
                      <a:srgbClr val="ECF4FA"/>
                    </a:solidFill>
                  </a:tcPr>
                </a:tc>
                <a:tc>
                  <a:txBody>
                    <a:bodyPr wrap="square"/>
                    <a:lstStyle/>
                    <a:p>
                      <a:pPr algn="l">
                        <a:spcAft>
                          <a:spcPts val="0"/>
                        </a:spcAft>
                      </a:pPr>
                      <a:r>
                        <a:rPr sz="900" b="0">
                          <a:solidFill>
                            <a:srgbClr val="3E444C"/>
                          </a:solidFill>
                          <a:latin typeface="Arial"/>
                        </a:rPr>
                        <a:t>+11.4973</a:t>
                      </a:r>
                    </a:p>
                  </a:txBody>
                  <a:tcPr anchor="ctr">
                    <a:solidFill>
                      <a:srgbClr val="ECF4FA"/>
                    </a:solidFill>
                  </a:tcPr>
                </a:tc>
                <a:tc>
                  <a:txBody>
                    <a:bodyPr wrap="square"/>
                    <a:lstStyle/>
                    <a:p>
                      <a:pPr algn="l">
                        <a:spcAft>
                          <a:spcPts val="0"/>
                        </a:spcAft>
                      </a:pPr>
                      <a:r>
                        <a:rPr sz="900" b="0">
                          <a:solidFill>
                            <a:srgbClr val="3E444C"/>
                          </a:solidFill>
                          <a:latin typeface="Arial"/>
                        </a:rPr>
                        <a:t>71.35%</a:t>
                      </a:r>
                    </a:p>
                  </a:txBody>
                  <a:tcPr anchor="ctr">
                    <a:solidFill>
                      <a:srgbClr val="ECF4FA"/>
                    </a:solidFill>
                  </a:tcPr>
                </a:tc>
              </a:tr>
              <a:tr h="219456">
                <a:tc>
                  <a:txBody>
                    <a:bodyPr wrap="square"/>
                    <a:lstStyle/>
                    <a:p>
                      <a:pPr algn="l">
                        <a:spcAft>
                          <a:spcPts val="0"/>
                        </a:spcAft>
                      </a:pPr>
                      <a:r>
                        <a:rPr sz="900" b="0">
                          <a:solidFill>
                            <a:srgbClr val="3E444C"/>
                          </a:solidFill>
                          <a:latin typeface="Arial"/>
                        </a:rPr>
                        <a:t>early/middle</a:t>
                      </a:r>
                    </a:p>
                  </a:txBody>
                  <a:tcPr anchor="ctr">
                    <a:solidFill>
                      <a:srgbClr val="FFFFFF"/>
                    </a:solidFill>
                  </a:tcPr>
                </a:tc>
                <a:tc>
                  <a:txBody>
                    <a:bodyPr wrap="square"/>
                    <a:lstStyle/>
                    <a:p>
                      <a:pPr algn="l">
                        <a:spcAft>
                          <a:spcPts val="0"/>
                        </a:spcAft>
                      </a:pPr>
                      <a:r>
                        <a:rPr sz="900" b="0">
                          <a:solidFill>
                            <a:srgbClr val="3E444C"/>
                          </a:solidFill>
                          <a:latin typeface="Arial"/>
                        </a:rPr>
                        <a:t>raw</a:t>
                      </a:r>
                    </a:p>
                  </a:txBody>
                  <a:tcPr anchor="ctr">
                    <a:solidFill>
                      <a:srgbClr val="FFFFFF"/>
                    </a:solidFill>
                  </a:tcPr>
                </a:tc>
                <a:tc>
                  <a:txBody>
                    <a:bodyPr wrap="square"/>
                    <a:lstStyle/>
                    <a:p>
                      <a:pPr algn="l">
                        <a:spcAft>
                          <a:spcPts val="0"/>
                        </a:spcAft>
                      </a:pPr>
                      <a:r>
                        <a:rPr sz="900" b="0">
                          <a:solidFill>
                            <a:srgbClr val="3E444C"/>
                          </a:solidFill>
                          <a:latin typeface="Arial"/>
                        </a:rPr>
                        <a:t>ExtraTrees</a:t>
                      </a:r>
                    </a:p>
                  </a:txBody>
                  <a:tcPr anchor="ctr">
                    <a:solidFill>
                      <a:srgbClr val="FFFFFF"/>
                    </a:solidFill>
                  </a:tcPr>
                </a:tc>
                <a:tc>
                  <a:txBody>
                    <a:bodyPr wrap="square"/>
                    <a:lstStyle/>
                    <a:p>
                      <a:pPr algn="l">
                        <a:spcAft>
                          <a:spcPts val="0"/>
                        </a:spcAft>
                      </a:pPr>
                      <a:r>
                        <a:rPr sz="900" b="0">
                          <a:solidFill>
                            <a:srgbClr val="3E444C"/>
                          </a:solidFill>
                          <a:latin typeface="Arial"/>
                        </a:rPr>
                        <a:t>26.6406</a:t>
                      </a:r>
                    </a:p>
                  </a:txBody>
                  <a:tcPr anchor="ctr">
                    <a:solidFill>
                      <a:srgbClr val="FFFFFF"/>
                    </a:solidFill>
                  </a:tcPr>
                </a:tc>
                <a:tc>
                  <a:txBody>
                    <a:bodyPr wrap="square"/>
                    <a:lstStyle/>
                    <a:p>
                      <a:pPr algn="l">
                        <a:spcAft>
                          <a:spcPts val="0"/>
                        </a:spcAft>
                      </a:pPr>
                      <a:r>
                        <a:rPr sz="900" b="0">
                          <a:solidFill>
                            <a:srgbClr val="3E444C"/>
                          </a:solidFill>
                          <a:latin typeface="Arial"/>
                        </a:rPr>
                        <a:t>2.9202</a:t>
                      </a:r>
                    </a:p>
                  </a:txBody>
                  <a:tcPr anchor="ctr">
                    <a:solidFill>
                      <a:srgbClr val="FFFFFF"/>
                    </a:solidFill>
                  </a:tcPr>
                </a:tc>
                <a:tc>
                  <a:txBody>
                    <a:bodyPr wrap="square"/>
                    <a:lstStyle/>
                    <a:p>
                      <a:pPr algn="l">
                        <a:spcAft>
                          <a:spcPts val="0"/>
                        </a:spcAft>
                      </a:pPr>
                      <a:r>
                        <a:rPr sz="900" b="0">
                          <a:solidFill>
                            <a:srgbClr val="3E444C"/>
                          </a:solidFill>
                          <a:latin typeface="Arial"/>
                        </a:rPr>
                        <a:t>0.2703</a:t>
                      </a:r>
                    </a:p>
                  </a:txBody>
                  <a:tcPr anchor="ctr">
                    <a:solidFill>
                      <a:srgbClr val="FFFFFF"/>
                    </a:solidFill>
                  </a:tcPr>
                </a:tc>
                <a:tc>
                  <a:txBody>
                    <a:bodyPr wrap="square"/>
                    <a:lstStyle/>
                    <a:p>
                      <a:pPr algn="l">
                        <a:spcAft>
                          <a:spcPts val="0"/>
                        </a:spcAft>
                      </a:pPr>
                      <a:r>
                        <a:rPr sz="900" b="0">
                          <a:solidFill>
                            <a:srgbClr val="3E444C"/>
                          </a:solidFill>
                          <a:latin typeface="Arial"/>
                        </a:rPr>
                        <a:t>+10.6021</a:t>
                      </a:r>
                    </a:p>
                  </a:txBody>
                  <a:tcPr anchor="ctr">
                    <a:solidFill>
                      <a:srgbClr val="FFFFFF"/>
                    </a:solidFill>
                  </a:tcPr>
                </a:tc>
                <a:tc>
                  <a:txBody>
                    <a:bodyPr wrap="square"/>
                    <a:lstStyle/>
                    <a:p>
                      <a:pPr algn="l">
                        <a:spcAft>
                          <a:spcPts val="0"/>
                        </a:spcAft>
                      </a:pPr>
                      <a:r>
                        <a:rPr sz="900" b="0">
                          <a:solidFill>
                            <a:srgbClr val="3E444C"/>
                          </a:solidFill>
                          <a:latin typeface="Arial"/>
                        </a:rPr>
                        <a:t>67.60%</a:t>
                      </a:r>
                    </a:p>
                  </a:txBody>
                  <a:tcPr anchor="ctr">
                    <a:solidFill>
                      <a:srgbClr val="FFFFFF"/>
                    </a:solidFill>
                  </a:tcPr>
                </a:tc>
              </a:tr>
              <a:tr h="219456">
                <a:tc>
                  <a:txBody>
                    <a:bodyPr wrap="square"/>
                    <a:lstStyle/>
                    <a:p>
                      <a:pPr algn="l">
                        <a:spcAft>
                          <a:spcPts val="0"/>
                        </a:spcAft>
                      </a:pPr>
                      <a:r>
                        <a:rPr sz="900" b="1">
                          <a:solidFill>
                            <a:srgbClr val="00519E"/>
                          </a:solidFill>
                          <a:latin typeface="Arial"/>
                        </a:rPr>
                        <a:t>early/middle</a:t>
                      </a:r>
                    </a:p>
                  </a:txBody>
                  <a:tcPr anchor="ctr">
                    <a:solidFill>
                      <a:srgbClr val="ECF4FA"/>
                    </a:solidFill>
                  </a:tcPr>
                </a:tc>
                <a:tc>
                  <a:txBody>
                    <a:bodyPr wrap="square"/>
                    <a:lstStyle/>
                    <a:p>
                      <a:pPr algn="l">
                        <a:spcAft>
                          <a:spcPts val="0"/>
                        </a:spcAft>
                      </a:pPr>
                      <a:r>
                        <a:rPr sz="900" b="1">
                          <a:solidFill>
                            <a:srgbClr val="00519E"/>
                          </a:solidFill>
                          <a:latin typeface="Arial"/>
                        </a:rPr>
                        <a:t>cap 125</a:t>
                      </a:r>
                    </a:p>
                  </a:txBody>
                  <a:tcPr anchor="ctr">
                    <a:solidFill>
                      <a:srgbClr val="ECF4FA"/>
                    </a:solidFill>
                  </a:tcPr>
                </a:tc>
                <a:tc>
                  <a:txBody>
                    <a:bodyPr wrap="square"/>
                    <a:lstStyle/>
                    <a:p>
                      <a:pPr algn="l">
                        <a:spcAft>
                          <a:spcPts val="0"/>
                        </a:spcAft>
                      </a:pPr>
                      <a:r>
                        <a:rPr sz="900" b="1">
                          <a:solidFill>
                            <a:srgbClr val="00519E"/>
                          </a:solidFill>
                          <a:latin typeface="Arial"/>
                        </a:rPr>
                        <a:t>XGBoost</a:t>
                      </a:r>
                    </a:p>
                  </a:txBody>
                  <a:tcPr anchor="ctr">
                    <a:solidFill>
                      <a:srgbClr val="ECF4FA"/>
                    </a:solidFill>
                  </a:tcPr>
                </a:tc>
                <a:tc>
                  <a:txBody>
                    <a:bodyPr wrap="square"/>
                    <a:lstStyle/>
                    <a:p>
                      <a:pPr algn="l">
                        <a:spcAft>
                          <a:spcPts val="0"/>
                        </a:spcAft>
                      </a:pPr>
                      <a:r>
                        <a:rPr sz="900" b="1">
                          <a:solidFill>
                            <a:srgbClr val="00519E"/>
                          </a:solidFill>
                          <a:latin typeface="Arial"/>
                        </a:rPr>
                        <a:t>11.9746</a:t>
                      </a:r>
                    </a:p>
                  </a:txBody>
                  <a:tcPr anchor="ctr">
                    <a:solidFill>
                      <a:srgbClr val="ECF4FA"/>
                    </a:solidFill>
                  </a:tcPr>
                </a:tc>
                <a:tc>
                  <a:txBody>
                    <a:bodyPr wrap="square"/>
                    <a:lstStyle/>
                    <a:p>
                      <a:pPr algn="l">
                        <a:spcAft>
                          <a:spcPts val="0"/>
                        </a:spcAft>
                      </a:pPr>
                      <a:r>
                        <a:rPr sz="900" b="1">
                          <a:solidFill>
                            <a:srgbClr val="00519E"/>
                          </a:solidFill>
                          <a:latin typeface="Arial"/>
                        </a:rPr>
                        <a:t>0.9418</a:t>
                      </a:r>
                    </a:p>
                  </a:txBody>
                  <a:tcPr anchor="ctr">
                    <a:solidFill>
                      <a:srgbClr val="ECF4FA"/>
                    </a:solidFill>
                  </a:tcPr>
                </a:tc>
                <a:tc>
                  <a:txBody>
                    <a:bodyPr wrap="square"/>
                    <a:lstStyle/>
                    <a:p>
                      <a:pPr algn="l">
                        <a:spcAft>
                          <a:spcPts val="0"/>
                        </a:spcAft>
                      </a:pPr>
                      <a:r>
                        <a:rPr sz="900" b="1">
                          <a:solidFill>
                            <a:srgbClr val="00519E"/>
                          </a:solidFill>
                          <a:latin typeface="Arial"/>
                        </a:rPr>
                        <a:t>0.8661</a:t>
                      </a:r>
                    </a:p>
                  </a:txBody>
                  <a:tcPr anchor="ctr">
                    <a:solidFill>
                      <a:srgbClr val="ECF4FA"/>
                    </a:solidFill>
                  </a:tcPr>
                </a:tc>
                <a:tc>
                  <a:txBody>
                    <a:bodyPr wrap="square"/>
                    <a:lstStyle/>
                    <a:p>
                      <a:pPr algn="l">
                        <a:spcAft>
                          <a:spcPts val="0"/>
                        </a:spcAft>
                      </a:pPr>
                      <a:r>
                        <a:rPr sz="900" b="1">
                          <a:solidFill>
                            <a:srgbClr val="00519E"/>
                          </a:solidFill>
                          <a:latin typeface="Arial"/>
                        </a:rPr>
                        <a:t>-0.9007</a:t>
                      </a:r>
                    </a:p>
                  </a:txBody>
                  <a:tcPr anchor="ctr">
                    <a:solidFill>
                      <a:srgbClr val="ECF4FA"/>
                    </a:solidFill>
                  </a:tcPr>
                </a:tc>
                <a:tc>
                  <a:txBody>
                    <a:bodyPr wrap="square"/>
                    <a:lstStyle/>
                    <a:p>
                      <a:pPr algn="l">
                        <a:spcAft>
                          <a:spcPts val="0"/>
                        </a:spcAft>
                      </a:pPr>
                      <a:r>
                        <a:rPr sz="900" b="1">
                          <a:solidFill>
                            <a:srgbClr val="00519E"/>
                          </a:solidFill>
                          <a:latin typeface="Arial"/>
                        </a:rPr>
                        <a:t>47.30%</a:t>
                      </a:r>
                    </a:p>
                  </a:txBody>
                  <a:tcPr anchor="ctr">
                    <a:solidFill>
                      <a:srgbClr val="ECF4FA"/>
                    </a:solidFill>
                  </a:tcPr>
                </a:tc>
              </a:tr>
              <a:tr h="219456">
                <a:tc>
                  <a:txBody>
                    <a:bodyPr wrap="square"/>
                    <a:lstStyle/>
                    <a:p>
                      <a:pPr algn="l">
                        <a:spcAft>
                          <a:spcPts val="0"/>
                        </a:spcAft>
                      </a:pPr>
                      <a:r>
                        <a:rPr sz="900" b="1">
                          <a:solidFill>
                            <a:srgbClr val="00519E"/>
                          </a:solidFill>
                          <a:latin typeface="Arial"/>
                        </a:rPr>
                        <a:t>early/middle</a:t>
                      </a:r>
                    </a:p>
                  </a:txBody>
                  <a:tcPr anchor="ctr">
                    <a:solidFill>
                      <a:srgbClr val="FFFFFF"/>
                    </a:solidFill>
                  </a:tcPr>
                </a:tc>
                <a:tc>
                  <a:txBody>
                    <a:bodyPr wrap="square"/>
                    <a:lstStyle/>
                    <a:p>
                      <a:pPr algn="l">
                        <a:spcAft>
                          <a:spcPts val="0"/>
                        </a:spcAft>
                      </a:pPr>
                      <a:r>
                        <a:rPr sz="900" b="1">
                          <a:solidFill>
                            <a:srgbClr val="00519E"/>
                          </a:solidFill>
                          <a:latin typeface="Arial"/>
                        </a:rPr>
                        <a:t>cap 125</a:t>
                      </a:r>
                    </a:p>
                  </a:txBody>
                  <a:tcPr anchor="ctr">
                    <a:solidFill>
                      <a:srgbClr val="FFFFFF"/>
                    </a:solidFill>
                  </a:tcPr>
                </a:tc>
                <a:tc>
                  <a:txBody>
                    <a:bodyPr wrap="square"/>
                    <a:lstStyle/>
                    <a:p>
                      <a:pPr algn="l">
                        <a:spcAft>
                          <a:spcPts val="0"/>
                        </a:spcAft>
                      </a:pPr>
                      <a:r>
                        <a:rPr sz="900" b="1">
                          <a:solidFill>
                            <a:srgbClr val="00519E"/>
                          </a:solidFill>
                          <a:latin typeface="Arial"/>
                        </a:rPr>
                        <a:t>ExtraTrees</a:t>
                      </a:r>
                    </a:p>
                  </a:txBody>
                  <a:tcPr anchor="ctr">
                    <a:solidFill>
                      <a:srgbClr val="FFFFFF"/>
                    </a:solidFill>
                  </a:tcPr>
                </a:tc>
                <a:tc>
                  <a:txBody>
                    <a:bodyPr wrap="square"/>
                    <a:lstStyle/>
                    <a:p>
                      <a:pPr algn="l">
                        <a:spcAft>
                          <a:spcPts val="0"/>
                        </a:spcAft>
                      </a:pPr>
                      <a:r>
                        <a:rPr sz="900" b="1">
                          <a:solidFill>
                            <a:srgbClr val="00519E"/>
                          </a:solidFill>
                          <a:latin typeface="Arial"/>
                        </a:rPr>
                        <a:t>12.2693</a:t>
                      </a:r>
                    </a:p>
                  </a:txBody>
                  <a:tcPr anchor="ctr">
                    <a:solidFill>
                      <a:srgbClr val="FFFFFF"/>
                    </a:solidFill>
                  </a:tcPr>
                </a:tc>
                <a:tc>
                  <a:txBody>
                    <a:bodyPr wrap="square"/>
                    <a:lstStyle/>
                    <a:p>
                      <a:pPr algn="l">
                        <a:spcAft>
                          <a:spcPts val="0"/>
                        </a:spcAft>
                      </a:pPr>
                      <a:r>
                        <a:rPr sz="900" b="1">
                          <a:solidFill>
                            <a:srgbClr val="00519E"/>
                          </a:solidFill>
                          <a:latin typeface="Arial"/>
                        </a:rPr>
                        <a:t>0.8427</a:t>
                      </a:r>
                    </a:p>
                  </a:txBody>
                  <a:tcPr anchor="ctr">
                    <a:solidFill>
                      <a:srgbClr val="FFFFFF"/>
                    </a:solidFill>
                  </a:tcPr>
                </a:tc>
                <a:tc>
                  <a:txBody>
                    <a:bodyPr wrap="square"/>
                    <a:lstStyle/>
                    <a:p>
                      <a:pPr algn="l">
                        <a:spcAft>
                          <a:spcPts val="0"/>
                        </a:spcAft>
                      </a:pPr>
                      <a:r>
                        <a:rPr sz="900" b="1">
                          <a:solidFill>
                            <a:srgbClr val="00519E"/>
                          </a:solidFill>
                          <a:latin typeface="Arial"/>
                        </a:rPr>
                        <a:t>0.8598</a:t>
                      </a:r>
                    </a:p>
                  </a:txBody>
                  <a:tcPr anchor="ctr">
                    <a:solidFill>
                      <a:srgbClr val="FFFFFF"/>
                    </a:solidFill>
                  </a:tcPr>
                </a:tc>
                <a:tc>
                  <a:txBody>
                    <a:bodyPr wrap="square"/>
                    <a:lstStyle/>
                    <a:p>
                      <a:pPr algn="l">
                        <a:spcAft>
                          <a:spcPts val="0"/>
                        </a:spcAft>
                      </a:pPr>
                      <a:r>
                        <a:rPr sz="900" b="1">
                          <a:solidFill>
                            <a:srgbClr val="00519E"/>
                          </a:solidFill>
                          <a:latin typeface="Arial"/>
                        </a:rPr>
                        <a:t>-1.0864</a:t>
                      </a:r>
                    </a:p>
                  </a:txBody>
                  <a:tcPr anchor="ctr">
                    <a:solidFill>
                      <a:srgbClr val="FFFFFF"/>
                    </a:solidFill>
                  </a:tcPr>
                </a:tc>
                <a:tc>
                  <a:txBody>
                    <a:bodyPr wrap="square"/>
                    <a:lstStyle/>
                    <a:p>
                      <a:pPr algn="l">
                        <a:spcAft>
                          <a:spcPts val="0"/>
                        </a:spcAft>
                      </a:pPr>
                      <a:r>
                        <a:rPr sz="900" b="1">
                          <a:solidFill>
                            <a:srgbClr val="00519E"/>
                          </a:solidFill>
                          <a:latin typeface="Arial"/>
                        </a:rPr>
                        <a:t>47.15%</a:t>
                      </a:r>
                    </a:p>
                  </a:txBody>
                  <a:tcPr anchor="ctr">
                    <a:solidFill>
                      <a:srgbClr val="FFFFFF"/>
                    </a:solidFill>
                  </a:tcPr>
                </a:tc>
              </a:tr>
            </a:tbl>
          </a:graphicData>
        </a:graphic>
      </p:graphicFrame>
      <p:sp>
        <p:nvSpPr>
          <p:cNvPr id="12" name="TextBox 11"/>
          <p:cNvSpPr txBox="1"/>
          <p:nvPr/>
        </p:nvSpPr>
        <p:spPr>
          <a:xfrm>
            <a:off x="466344" y="3163824"/>
            <a:ext cx="8247888" cy="914400"/>
          </a:xfrm>
          <a:prstGeom prst="rect">
            <a:avLst/>
          </a:prstGeom>
          <a:noFill/>
        </p:spPr>
        <p:txBody>
          <a:bodyPr wrap="square">
            <a:spAutoFit/>
          </a:bodyPr>
          <a:lstStyle/>
          <a:p>
            <a:pPr algn="l">
              <a:spcAft>
                <a:spcPts val="400"/>
              </a:spcAft>
            </a:pPr>
            <a:r>
              <a:rPr sz="1000" b="0">
                <a:solidFill>
                  <a:srgbClr val="3E444C"/>
                </a:solidFill>
                <a:latin typeface="Arial"/>
              </a:rPr>
              <a:t>Cells with different evaluation targets are not on a common R² scale. Fitting cap, evaluation support and prediction clipping are three different things.</a:t>
            </a:r>
          </a:p>
        </p:txBody>
      </p:sp>
      <p:sp>
        <p:nvSpPr>
          <p:cNvPr id="13" name="TextBox 12"/>
          <p:cNvSpPr txBox="1"/>
          <p:nvPr/>
        </p:nvSpPr>
        <p:spPr>
          <a:xfrm>
            <a:off x="466344" y="4535424"/>
            <a:ext cx="8247888" cy="164592"/>
          </a:xfrm>
          <a:prstGeom prst="rect">
            <a:avLst/>
          </a:prstGeom>
          <a:noFill/>
        </p:spPr>
        <p:txBody>
          <a:bodyPr wrap="square">
            <a:spAutoFit/>
          </a:bodyPr>
          <a:lstStyle/>
          <a:p>
            <a:pPr algn="l">
              <a:spcAft>
                <a:spcPts val="400"/>
              </a:spcAft>
            </a:pPr>
            <a:r>
              <a:rPr sz="900" b="0">
                <a:solidFill>
                  <a:srgbClr val="9F9998"/>
                </a:solidFill>
                <a:latin typeface="Arial"/>
              </a:rPr>
              <a:t>Source: experiments/PE_2/runs/run_1/reporting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a:spcAft>
                <a:spcPts val="400"/>
              </a:spcAft>
            </a:pPr>
            <a:r>
              <a:rPr sz="1800" b="1">
                <a:solidFill>
                  <a:srgbClr val="3E444C"/>
                </a:solidFill>
                <a:latin typeface="Arial"/>
              </a:rPr>
              <a:t>Backup: residual correction, calibration and the safety table</a:t>
            </a:r>
          </a:p>
        </p:txBody>
      </p:sp>
      <p:sp>
        <p:nvSpPr>
          <p:cNvPr id="3" name="Text Placeholder 2"/>
          <p:cNvSpPr>
            <a:spLocks noGrp="1"/>
          </p:cNvSpPr>
          <p:nvPr>
            <p:ph type="body" idx="13" sz="quarter"/>
          </p:nvPr>
        </p:nvSpPr>
        <p:spPr/>
        <p:txBody>
          <a:bodyPr wrap="square"/>
          <a:lstStyle/>
          <a:p>
            <a:pPr algn="l">
              <a:spcAft>
                <a:spcPts val="400"/>
              </a:spcAft>
            </a:pPr>
            <a:r>
              <a:rPr sz="1400" b="0">
                <a:solidFill>
                  <a:srgbClr val="9F9998"/>
                </a:solidFill>
                <a:latin typeface="Arial"/>
              </a:rPr>
              <a:t>PE_11 and PE_4 in detail, with the nested-calibration guarantee stated in full</a:t>
            </a:r>
          </a:p>
        </p:txBody>
      </p:sp>
      <p:sp>
        <p:nvSpPr>
          <p:cNvPr id="7" name="Datumsplatzhalter 6">
            <a:extLst>
              <a:ext uri="{FF2B5EF4-FFF2-40B4-BE49-F238E27FC236}">
                <a16:creationId xmlns:a16="http://schemas.microsoft.com/office/drawing/2014/main" id="{124A6A03-5D2E-417E-9A62-737D1DBC92ED}"/>
              </a:ext>
              <a:ext uri="{C183D7F6-B498-43B3-948B-1728B52AA6E4}">
                <adec:decorative xmlns:adec="http://schemas.microsoft.com/office/drawing/2017/decorative" val="1"/>
              </a:ext>
            </a:extLst>
          </p:cNvPr>
          <p:cNvSpPr>
            <a:spLocks noGrp="1"/>
          </p:cNvSpPr>
          <p:nvPr>
            <p:ph type="dt" sz="half" idx="14"/>
          </p:nvPr>
        </p:nvSpPr>
        <p:spPr>
          <a:xfrm>
            <a:off x="6492240" y="4873752"/>
            <a:ext cx="1737360" cy="146304"/>
          </a:xfrm>
        </p:spPr>
        <p:txBody>
          <a:bodyPr/>
          <a:lstStyle/>
          <a:p>
            <a:pPr algn="r"/>
            <a:r>
              <a:rPr lang="de-DE"/>
              <a:t>9 September 2026</a:t>
            </a:r>
            <a:endParaRPr lang="en-US" dirty="0"/>
          </a:p>
        </p:txBody>
      </p:sp>
      <p:sp>
        <p:nvSpPr>
          <p:cNvPr id="8" name="Fußzeilenplatzhalter 7">
            <a:extLst>
              <a:ext uri="{FF2B5EF4-FFF2-40B4-BE49-F238E27FC236}">
                <a16:creationId xmlns:a16="http://schemas.microsoft.com/office/drawing/2014/main" id="{90427F68-7D65-4111-9D28-F407D044A73B}"/>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UAV remaining useful life estimation</a:t>
            </a:r>
            <a:endParaRPr lang="en-US" dirty="0"/>
          </a:p>
        </p:txBody>
      </p:sp>
      <p:sp>
        <p:nvSpPr>
          <p:cNvPr id="10" name="Foliennummernplatzhalter 9">
            <a:extLst>
              <a:ext uri="{FF2B5EF4-FFF2-40B4-BE49-F238E27FC236}">
                <a16:creationId xmlns:a16="http://schemas.microsoft.com/office/drawing/2014/main" id="{BC2B8577-8AB8-42B5-8BA8-1751A412246A}"/>
              </a:ext>
              <a:ext uri="{C183D7F6-B498-43B3-948B-1728B52AA6E4}">
                <adec:decorative xmlns:adec="http://schemas.microsoft.com/office/drawing/2017/decorative" val="1"/>
              </a:ext>
            </a:extLst>
          </p:cNvPr>
          <p:cNvSpPr>
            <a:spLocks noGrp="1"/>
          </p:cNvSpPr>
          <p:nvPr>
            <p:ph type="sldNum" sz="quarter" idx="16"/>
          </p:nvPr>
        </p:nvSpPr>
        <p:spPr/>
        <p:txBody>
          <a:bodyPr/>
          <a:lstStyle/>
          <a:p>
            <a:fld id="{9E82CC3C-1DC0-4FDA-9590-6CC506AB67F8}" type="slidenum">
              <a:rPr lang="en-US" smtClean="0"/>
              <a:pPr/>
              <a:t>‹Nr.›</a:t>
            </a:fld>
            <a:endParaRPr lang="en-US" dirty="0"/>
          </a:p>
        </p:txBody>
      </p:sp>
      <p:sp>
        <p:nvSpPr>
          <p:cNvPr id="11" name="Rounded Rectangle 10"/>
          <p:cNvSpPr/>
          <p:nvPr/>
        </p:nvSpPr>
        <p:spPr>
          <a:xfrm>
            <a:off x="466344" y="1042416"/>
            <a:ext cx="3931920" cy="3017520"/>
          </a:xfrm>
          <a:prstGeom prst="roundRect">
            <a:avLst/>
          </a:prstGeom>
          <a:solidFill>
            <a:srgbClr val="FFFFFF"/>
          </a:solidFill>
          <a:ln w="12700">
            <a:solidFill>
              <a:srgbClr val="9F99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spcAft>
                <a:spcPts val="200"/>
              </a:spcAft>
            </a:pPr>
            <a:r>
              <a:rPr sz="950" b="1">
                <a:solidFill>
                  <a:srgbClr val="00519E"/>
                </a:solidFill>
                <a:latin typeface="Arial"/>
              </a:rPr>
              <a:t>What the Run 7 adapter does</a:t>
            </a:r>
          </a:p>
          <a:p>
            <a:pPr algn="l">
              <a:spcAft>
                <a:spcPts val="200"/>
              </a:spcAft>
            </a:pPr>
            <a:r>
              <a:rPr sz="950" b="0">
                <a:solidFill>
                  <a:srgbClr val="3E444C"/>
                </a:solidFill>
                <a:latin typeface="Arial"/>
              </a:rPr>
              <a:t>· Splits training UAVs internally into four groups.</a:t>
            </a:r>
          </a:p>
          <a:p>
            <a:pPr algn="l">
              <a:spcAft>
                <a:spcPts val="200"/>
              </a:spcAft>
            </a:pPr>
            <a:r>
              <a:rPr sz="950" b="0">
                <a:solidFill>
                  <a:srgbClr val="3E444C"/>
                </a:solidFill>
                <a:latin typeface="Arial"/>
              </a:rPr>
              <a:t>· Fits the six tree members without the held group.</a:t>
            </a:r>
          </a:p>
          <a:p>
            <a:pPr algn="l">
              <a:spcAft>
                <a:spcPts val="200"/>
              </a:spcAft>
            </a:pPr>
            <a:r>
              <a:rPr sz="950" b="0">
                <a:solidFill>
                  <a:srgbClr val="3E444C"/>
                </a:solidFill>
                <a:latin typeface="Arial"/>
              </a:rPr>
              <a:t>· Predicts it; repeats, so no UAV is seen by its own model.</a:t>
            </a:r>
          </a:p>
          <a:p>
            <a:pPr algn="l">
              <a:spcAft>
                <a:spcPts val="200"/>
              </a:spcAft>
            </a:pPr>
            <a:r>
              <a:rPr sz="950" b="0">
                <a:solidFill>
                  <a:srgbClr val="3E444C"/>
                </a:solidFill>
                <a:latin typeface="Arial"/>
              </a:rPr>
              <a:t>· Filters calibration endpoints to training UAVs and balances weight per UAV.</a:t>
            </a:r>
          </a:p>
          <a:p>
            <a:pPr algn="l">
              <a:spcAft>
                <a:spcPts val="200"/>
              </a:spcAft>
            </a:pPr>
            <a:r>
              <a:rPr sz="950" b="0">
                <a:solidFill>
                  <a:srgbClr val="3E444C"/>
                </a:solidFill>
                <a:latin typeface="Arial"/>
              </a:rPr>
              <a:t>· Fits the residual head there, then predicts the external held-out UAVs once.</a:t>
            </a:r>
          </a:p>
          <a:p>
            <a:pPr algn="l">
              <a:spcAft>
                <a:spcPts val="200"/>
              </a:spcAft>
            </a:pPr>
            <a:r>
              <a:rPr sz="950" b="0">
                <a:solidFill>
                  <a:srgbClr val="3E444C"/>
                </a:solidFill>
                <a:latin typeface="Arial"/>
              </a:rPr>
              <a:t>· The earlier PE_11 report is not a fully nested estimate of its own stack; the Run 7 adapter does not share that dependency.</a:t>
            </a:r>
          </a:p>
          <a:p>
            <a:pPr algn="l">
              <a:spcAft>
                <a:spcPts val="200"/>
              </a:spcAft>
            </a:pPr>
            <a:r>
              <a:rPr sz="950" b="0">
                <a:solidFill>
                  <a:srgbClr val="3E444C"/>
                </a:solidFill>
                <a:latin typeface="Arial"/>
              </a:rPr>
              <a:t>· Its remaining limitation: configurations and the workflow were chosen on development data now examined many times.</a:t>
            </a:r>
          </a:p>
        </p:txBody>
      </p:sp>
      <p:sp>
        <p:nvSpPr>
          <p:cNvPr id="12" name="TextBox 11"/>
          <p:cNvSpPr txBox="1"/>
          <p:nvPr/>
        </p:nvSpPr>
        <p:spPr>
          <a:xfrm>
            <a:off x="4599431" y="1024128"/>
            <a:ext cx="4114800" cy="201168"/>
          </a:xfrm>
          <a:prstGeom prst="rect">
            <a:avLst/>
          </a:prstGeom>
          <a:noFill/>
        </p:spPr>
        <p:txBody>
          <a:bodyPr wrap="square">
            <a:spAutoFit/>
          </a:bodyPr>
          <a:lstStyle/>
          <a:p>
            <a:pPr algn="l">
              <a:spcAft>
                <a:spcPts val="400"/>
              </a:spcAft>
            </a:pPr>
            <a:r>
              <a:rPr sz="1050" b="1">
                <a:solidFill>
                  <a:srgbClr val="00519E"/>
                </a:solidFill>
                <a:latin typeface="Arial"/>
              </a:rPr>
              <a:t>Conditional calibration policies (PE_4)</a:t>
            </a:r>
          </a:p>
        </p:txBody>
      </p:sp>
      <p:graphicFrame>
        <p:nvGraphicFramePr>
          <p:cNvPr id="13" name="Table 12"/>
          <p:cNvGraphicFramePr>
            <a:graphicFrameLocks noGrp="1"/>
          </p:cNvGraphicFramePr>
          <p:nvPr/>
        </p:nvGraphicFramePr>
        <p:xfrm>
          <a:off x="4599431" y="1280160"/>
          <a:ext cx="4114800" cy="1664208"/>
        </p:xfrm>
        <a:graphic>
          <a:graphicData uri="http://schemas.openxmlformats.org/drawingml/2006/table">
            <a:tbl>
              <a:tblPr firstRow="1" bandRow="1">
                <a:tableStyleId>{5C22544A-7EE6-4342-B048-85BDC9FD1C3A}</a:tableStyleId>
              </a:tblPr>
              <a:tblGrid>
                <a:gridCol w="1005840"/>
                <a:gridCol w="1005840"/>
                <a:gridCol w="868680"/>
                <a:gridCol w="1234440"/>
              </a:tblGrid>
              <a:tr h="237744">
                <a:tc>
                  <a:txBody>
                    <a:bodyPr wrap="square"/>
                    <a:lstStyle/>
                    <a:p>
                      <a:pPr algn="l">
                        <a:spcAft>
                          <a:spcPts val="0"/>
                        </a:spcAft>
                      </a:pPr>
                      <a:r>
                        <a:rPr sz="900" b="1">
                          <a:solidFill>
                            <a:srgbClr val="FFFFFF"/>
                          </a:solidFill>
                          <a:latin typeface="Arial"/>
                        </a:rPr>
                        <a:t>policy</a:t>
                      </a:r>
                    </a:p>
                  </a:txBody>
                  <a:tcPr anchor="ctr">
                    <a:solidFill>
                      <a:srgbClr val="00519E"/>
                    </a:solidFill>
                  </a:tcPr>
                </a:tc>
                <a:tc>
                  <a:txBody>
                    <a:bodyPr wrap="square"/>
                    <a:lstStyle/>
                    <a:p>
                      <a:pPr algn="l">
                        <a:spcAft>
                          <a:spcPts val="0"/>
                        </a:spcAft>
                      </a:pPr>
                      <a:r>
                        <a:rPr sz="900" b="1">
                          <a:solidFill>
                            <a:srgbClr val="FFFFFF"/>
                          </a:solidFill>
                          <a:latin typeface="Arial"/>
                        </a:rPr>
                        <a:t>mean-fold R²</a:t>
                      </a:r>
                    </a:p>
                  </a:txBody>
                  <a:tcPr anchor="ctr">
                    <a:solidFill>
                      <a:srgbClr val="00519E"/>
                    </a:solidFill>
                  </a:tcPr>
                </a:tc>
                <a:tc>
                  <a:txBody>
                    <a:bodyPr wrap="square"/>
                    <a:lstStyle/>
                    <a:p>
                      <a:pPr algn="l">
                        <a:spcAft>
                          <a:spcPts val="0"/>
                        </a:spcAft>
                      </a:pPr>
                      <a:r>
                        <a:rPr sz="900" b="1">
                          <a:solidFill>
                            <a:srgbClr val="FFFFFF"/>
                          </a:solidFill>
                          <a:latin typeface="Arial"/>
                        </a:rPr>
                        <a:t>RMSE</a:t>
                      </a:r>
                    </a:p>
                  </a:txBody>
                  <a:tcPr anchor="ctr">
                    <a:solidFill>
                      <a:srgbClr val="00519E"/>
                    </a:solidFill>
                  </a:tcPr>
                </a:tc>
                <a:tc>
                  <a:txBody>
                    <a:bodyPr wrap="square"/>
                    <a:lstStyle/>
                    <a:p>
                      <a:pPr algn="l">
                        <a:spcAft>
                          <a:spcPts val="0"/>
                        </a:spcAft>
                      </a:pPr>
                      <a:r>
                        <a:rPr sz="900" b="1">
                          <a:solidFill>
                            <a:srgbClr val="FFFFFF"/>
                          </a:solidFill>
                          <a:latin typeface="Arial"/>
                        </a:rPr>
                        <a:t>RMS overpred.</a:t>
                      </a:r>
                    </a:p>
                  </a:txBody>
                  <a:tcPr anchor="ctr">
                    <a:solidFill>
                      <a:srgbClr val="00519E"/>
                    </a:solidFill>
                  </a:tcPr>
                </a:tc>
              </a:tr>
              <a:tr h="237744">
                <a:tc>
                  <a:txBody>
                    <a:bodyPr wrap="square"/>
                    <a:lstStyle/>
                    <a:p>
                      <a:pPr algn="l">
                        <a:spcAft>
                          <a:spcPts val="0"/>
                        </a:spcAft>
                      </a:pPr>
                      <a:r>
                        <a:rPr sz="900" b="0">
                          <a:solidFill>
                            <a:srgbClr val="3E444C"/>
                          </a:solidFill>
                          <a:latin typeface="Arial"/>
                        </a:rPr>
                        <a:t>control</a:t>
                      </a:r>
                    </a:p>
                  </a:txBody>
                  <a:tcPr anchor="ctr">
                    <a:solidFill>
                      <a:srgbClr val="ECF4FA"/>
                    </a:solidFill>
                  </a:tcPr>
                </a:tc>
                <a:tc>
                  <a:txBody>
                    <a:bodyPr wrap="square"/>
                    <a:lstStyle/>
                    <a:p>
                      <a:pPr algn="l">
                        <a:spcAft>
                          <a:spcPts val="0"/>
                        </a:spcAft>
                      </a:pPr>
                      <a:r>
                        <a:rPr sz="900" b="0">
                          <a:solidFill>
                            <a:srgbClr val="3E444C"/>
                          </a:solidFill>
                          <a:latin typeface="Arial"/>
                        </a:rPr>
                        <a:t>0.89422</a:t>
                      </a:r>
                    </a:p>
                  </a:txBody>
                  <a:tcPr anchor="ctr">
                    <a:solidFill>
                      <a:srgbClr val="ECF4FA"/>
                    </a:solidFill>
                  </a:tcPr>
                </a:tc>
                <a:tc>
                  <a:txBody>
                    <a:bodyPr wrap="square"/>
                    <a:lstStyle/>
                    <a:p>
                      <a:pPr algn="l">
                        <a:spcAft>
                          <a:spcPts val="0"/>
                        </a:spcAft>
                      </a:pPr>
                      <a:r>
                        <a:rPr sz="900" b="0">
                          <a:solidFill>
                            <a:srgbClr val="3E444C"/>
                          </a:solidFill>
                          <a:latin typeface="Arial"/>
                        </a:rPr>
                        <a:t>10.5306</a:t>
                      </a:r>
                    </a:p>
                  </a:txBody>
                  <a:tcPr anchor="ctr">
                    <a:solidFill>
                      <a:srgbClr val="ECF4FA"/>
                    </a:solidFill>
                  </a:tcPr>
                </a:tc>
                <a:tc>
                  <a:txBody>
                    <a:bodyPr wrap="square"/>
                    <a:lstStyle/>
                    <a:p>
                      <a:pPr algn="l">
                        <a:spcAft>
                          <a:spcPts val="0"/>
                        </a:spcAft>
                      </a:pPr>
                      <a:r>
                        <a:rPr sz="900" b="0">
                          <a:solidFill>
                            <a:srgbClr val="3E444C"/>
                          </a:solidFill>
                          <a:latin typeface="Arial"/>
                        </a:rPr>
                        <a:t>7.255</a:t>
                      </a:r>
                    </a:p>
                  </a:txBody>
                  <a:tcPr anchor="ctr">
                    <a:solidFill>
                      <a:srgbClr val="ECF4FA"/>
                    </a:solidFill>
                  </a:tcPr>
                </a:tc>
              </a:tr>
              <a:tr h="237744">
                <a:tc>
                  <a:txBody>
                    <a:bodyPr wrap="square"/>
                    <a:lstStyle/>
                    <a:p>
                      <a:pPr algn="l">
                        <a:spcAft>
                          <a:spcPts val="0"/>
                        </a:spcAft>
                      </a:pPr>
                      <a:r>
                        <a:rPr sz="900" b="0">
                          <a:solidFill>
                            <a:srgbClr val="3E444C"/>
                          </a:solidFill>
                          <a:latin typeface="Arial"/>
                        </a:rPr>
                        <a:t>q = 0.50</a:t>
                      </a:r>
                    </a:p>
                  </a:txBody>
                  <a:tcPr anchor="ctr">
                    <a:solidFill>
                      <a:srgbClr val="FFFFFF"/>
                    </a:solidFill>
                  </a:tcPr>
                </a:tc>
                <a:tc>
                  <a:txBody>
                    <a:bodyPr wrap="square"/>
                    <a:lstStyle/>
                    <a:p>
                      <a:pPr algn="l">
                        <a:spcAft>
                          <a:spcPts val="0"/>
                        </a:spcAft>
                      </a:pPr>
                      <a:r>
                        <a:rPr sz="900" b="0">
                          <a:solidFill>
                            <a:srgbClr val="3E444C"/>
                          </a:solidFill>
                          <a:latin typeface="Arial"/>
                        </a:rPr>
                        <a:t>0.89456</a:t>
                      </a:r>
                    </a:p>
                  </a:txBody>
                  <a:tcPr anchor="ctr">
                    <a:solidFill>
                      <a:srgbClr val="FFFFFF"/>
                    </a:solidFill>
                  </a:tcPr>
                </a:tc>
                <a:tc>
                  <a:txBody>
                    <a:bodyPr wrap="square"/>
                    <a:lstStyle/>
                    <a:p>
                      <a:pPr algn="l">
                        <a:spcAft>
                          <a:spcPts val="0"/>
                        </a:spcAft>
                      </a:pPr>
                      <a:r>
                        <a:rPr sz="900" b="0">
                          <a:solidFill>
                            <a:srgbClr val="3E444C"/>
                          </a:solidFill>
                          <a:latin typeface="Arial"/>
                        </a:rPr>
                        <a:t>10.5354</a:t>
                      </a:r>
                    </a:p>
                  </a:txBody>
                  <a:tcPr anchor="ctr">
                    <a:solidFill>
                      <a:srgbClr val="FFFFFF"/>
                    </a:solidFill>
                  </a:tcPr>
                </a:tc>
                <a:tc>
                  <a:txBody>
                    <a:bodyPr wrap="square"/>
                    <a:lstStyle/>
                    <a:p>
                      <a:pPr algn="l">
                        <a:spcAft>
                          <a:spcPts val="0"/>
                        </a:spcAft>
                      </a:pPr>
                      <a:r>
                        <a:rPr sz="900" b="0">
                          <a:solidFill>
                            <a:srgbClr val="3E444C"/>
                          </a:solidFill>
                          <a:latin typeface="Arial"/>
                        </a:rPr>
                        <a:t>6.817</a:t>
                      </a:r>
                    </a:p>
                  </a:txBody>
                  <a:tcPr anchor="ctr">
                    <a:solidFill>
                      <a:srgbClr val="FFFFFF"/>
                    </a:solidFill>
                  </a:tcPr>
                </a:tc>
              </a:tr>
              <a:tr h="237744">
                <a:tc>
                  <a:txBody>
                    <a:bodyPr wrap="square"/>
                    <a:lstStyle/>
                    <a:p>
                      <a:pPr algn="l">
                        <a:spcAft>
                          <a:spcPts val="0"/>
                        </a:spcAft>
                      </a:pPr>
                      <a:r>
                        <a:rPr sz="900" b="1">
                          <a:solidFill>
                            <a:srgbClr val="00519E"/>
                          </a:solidFill>
                          <a:latin typeface="Arial"/>
                        </a:rPr>
                        <a:t>q = 0.55</a:t>
                      </a:r>
                    </a:p>
                  </a:txBody>
                  <a:tcPr anchor="ctr">
                    <a:solidFill>
                      <a:srgbClr val="ECF4FA"/>
                    </a:solidFill>
                  </a:tcPr>
                </a:tc>
                <a:tc>
                  <a:txBody>
                    <a:bodyPr wrap="square"/>
                    <a:lstStyle/>
                    <a:p>
                      <a:pPr algn="l">
                        <a:spcAft>
                          <a:spcPts val="0"/>
                        </a:spcAft>
                      </a:pPr>
                      <a:r>
                        <a:rPr sz="900" b="1">
                          <a:solidFill>
                            <a:srgbClr val="00519E"/>
                          </a:solidFill>
                          <a:latin typeface="Arial"/>
                        </a:rPr>
                        <a:t>0.89253</a:t>
                      </a:r>
                    </a:p>
                  </a:txBody>
                  <a:tcPr anchor="ctr">
                    <a:solidFill>
                      <a:srgbClr val="ECF4FA"/>
                    </a:solidFill>
                  </a:tcPr>
                </a:tc>
                <a:tc>
                  <a:txBody>
                    <a:bodyPr wrap="square"/>
                    <a:lstStyle/>
                    <a:p>
                      <a:pPr algn="l">
                        <a:spcAft>
                          <a:spcPts val="0"/>
                        </a:spcAft>
                      </a:pPr>
                      <a:r>
                        <a:rPr sz="900" b="1">
                          <a:solidFill>
                            <a:srgbClr val="00519E"/>
                          </a:solidFill>
                          <a:latin typeface="Arial"/>
                        </a:rPr>
                        <a:t>10.6430</a:t>
                      </a:r>
                    </a:p>
                  </a:txBody>
                  <a:tcPr anchor="ctr">
                    <a:solidFill>
                      <a:srgbClr val="ECF4FA"/>
                    </a:solidFill>
                  </a:tcPr>
                </a:tc>
                <a:tc>
                  <a:txBody>
                    <a:bodyPr wrap="square"/>
                    <a:lstStyle/>
                    <a:p>
                      <a:pPr algn="l">
                        <a:spcAft>
                          <a:spcPts val="0"/>
                        </a:spcAft>
                      </a:pPr>
                      <a:r>
                        <a:rPr sz="900" b="1">
                          <a:solidFill>
                            <a:srgbClr val="00519E"/>
                          </a:solidFill>
                          <a:latin typeface="Arial"/>
                        </a:rPr>
                        <a:t>6.567</a:t>
                      </a:r>
                    </a:p>
                  </a:txBody>
                  <a:tcPr anchor="ctr">
                    <a:solidFill>
                      <a:srgbClr val="ECF4FA"/>
                    </a:solidFill>
                  </a:tcPr>
                </a:tc>
              </a:tr>
              <a:tr h="237744">
                <a:tc>
                  <a:txBody>
                    <a:bodyPr wrap="square"/>
                    <a:lstStyle/>
                    <a:p>
                      <a:pPr algn="l">
                        <a:spcAft>
                          <a:spcPts val="0"/>
                        </a:spcAft>
                      </a:pPr>
                      <a:r>
                        <a:rPr sz="900" b="0">
                          <a:solidFill>
                            <a:srgbClr val="3E444C"/>
                          </a:solidFill>
                          <a:latin typeface="Arial"/>
                        </a:rPr>
                        <a:t>q = 0.60</a:t>
                      </a:r>
                    </a:p>
                  </a:txBody>
                  <a:tcPr anchor="ctr">
                    <a:solidFill>
                      <a:srgbClr val="FFFFFF"/>
                    </a:solidFill>
                  </a:tcPr>
                </a:tc>
                <a:tc>
                  <a:txBody>
                    <a:bodyPr wrap="square"/>
                    <a:lstStyle/>
                    <a:p>
                      <a:pPr algn="l">
                        <a:spcAft>
                          <a:spcPts val="0"/>
                        </a:spcAft>
                      </a:pPr>
                      <a:r>
                        <a:rPr sz="900" b="0">
                          <a:solidFill>
                            <a:srgbClr val="3E444C"/>
                          </a:solidFill>
                          <a:latin typeface="Arial"/>
                        </a:rPr>
                        <a:t>0.88931</a:t>
                      </a:r>
                    </a:p>
                  </a:txBody>
                  <a:tcPr anchor="ctr">
                    <a:solidFill>
                      <a:srgbClr val="FFFFFF"/>
                    </a:solidFill>
                  </a:tcPr>
                </a:tc>
                <a:tc>
                  <a:txBody>
                    <a:bodyPr wrap="square"/>
                    <a:lstStyle/>
                    <a:p>
                      <a:pPr algn="l">
                        <a:spcAft>
                          <a:spcPts val="0"/>
                        </a:spcAft>
                      </a:pPr>
                      <a:r>
                        <a:rPr sz="900" b="0">
                          <a:solidFill>
                            <a:srgbClr val="3E444C"/>
                          </a:solidFill>
                          <a:latin typeface="Arial"/>
                        </a:rPr>
                        <a:t>10.8144</a:t>
                      </a:r>
                    </a:p>
                  </a:txBody>
                  <a:tcPr anchor="ctr">
                    <a:solidFill>
                      <a:srgbClr val="FFFFFF"/>
                    </a:solidFill>
                  </a:tcPr>
                </a:tc>
                <a:tc>
                  <a:txBody>
                    <a:bodyPr wrap="square"/>
                    <a:lstStyle/>
                    <a:p>
                      <a:pPr algn="l">
                        <a:spcAft>
                          <a:spcPts val="0"/>
                        </a:spcAft>
                      </a:pPr>
                      <a:r>
                        <a:rPr sz="900" b="0">
                          <a:solidFill>
                            <a:srgbClr val="3E444C"/>
                          </a:solidFill>
                          <a:latin typeface="Arial"/>
                        </a:rPr>
                        <a:t>6.236</a:t>
                      </a:r>
                    </a:p>
                  </a:txBody>
                  <a:tcPr anchor="ctr">
                    <a:solidFill>
                      <a:srgbClr val="FFFFFF"/>
                    </a:solidFill>
                  </a:tcPr>
                </a:tc>
              </a:tr>
              <a:tr h="237744">
                <a:tc>
                  <a:txBody>
                    <a:bodyPr wrap="square"/>
                    <a:lstStyle/>
                    <a:p>
                      <a:pPr algn="l">
                        <a:spcAft>
                          <a:spcPts val="0"/>
                        </a:spcAft>
                      </a:pPr>
                      <a:r>
                        <a:rPr sz="900" b="0">
                          <a:solidFill>
                            <a:srgbClr val="3E444C"/>
                          </a:solidFill>
                          <a:latin typeface="Arial"/>
                        </a:rPr>
                        <a:t>q = 0.65</a:t>
                      </a:r>
                    </a:p>
                  </a:txBody>
                  <a:tcPr anchor="ctr">
                    <a:solidFill>
                      <a:srgbClr val="ECF4FA"/>
                    </a:solidFill>
                  </a:tcPr>
                </a:tc>
                <a:tc>
                  <a:txBody>
                    <a:bodyPr wrap="square"/>
                    <a:lstStyle/>
                    <a:p>
                      <a:pPr algn="l">
                        <a:spcAft>
                          <a:spcPts val="0"/>
                        </a:spcAft>
                      </a:pPr>
                      <a:r>
                        <a:rPr sz="900" b="0">
                          <a:solidFill>
                            <a:srgbClr val="3E444C"/>
                          </a:solidFill>
                          <a:latin typeface="Arial"/>
                        </a:rPr>
                        <a:t>0.88106</a:t>
                      </a:r>
                    </a:p>
                  </a:txBody>
                  <a:tcPr anchor="ctr">
                    <a:solidFill>
                      <a:srgbClr val="ECF4FA"/>
                    </a:solidFill>
                  </a:tcPr>
                </a:tc>
                <a:tc>
                  <a:txBody>
                    <a:bodyPr wrap="square"/>
                    <a:lstStyle/>
                    <a:p>
                      <a:pPr algn="l">
                        <a:spcAft>
                          <a:spcPts val="0"/>
                        </a:spcAft>
                      </a:pPr>
                      <a:r>
                        <a:rPr sz="900" b="0">
                          <a:solidFill>
                            <a:srgbClr val="3E444C"/>
                          </a:solidFill>
                          <a:latin typeface="Arial"/>
                        </a:rPr>
                        <a:t>11.2152</a:t>
                      </a:r>
                    </a:p>
                  </a:txBody>
                  <a:tcPr anchor="ctr">
                    <a:solidFill>
                      <a:srgbClr val="ECF4FA"/>
                    </a:solidFill>
                  </a:tcPr>
                </a:tc>
                <a:tc>
                  <a:txBody>
                    <a:bodyPr wrap="square"/>
                    <a:lstStyle/>
                    <a:p>
                      <a:pPr algn="l">
                        <a:spcAft>
                          <a:spcPts val="0"/>
                        </a:spcAft>
                      </a:pPr>
                      <a:r>
                        <a:rPr sz="900" b="0">
                          <a:solidFill>
                            <a:srgbClr val="3E444C"/>
                          </a:solidFill>
                          <a:latin typeface="Arial"/>
                        </a:rPr>
                        <a:t>5.629</a:t>
                      </a:r>
                    </a:p>
                  </a:txBody>
                  <a:tcPr anchor="ctr">
                    <a:solidFill>
                      <a:srgbClr val="ECF4FA"/>
                    </a:solidFill>
                  </a:tcPr>
                </a:tc>
              </a:tr>
              <a:tr h="237744">
                <a:tc>
                  <a:txBody>
                    <a:bodyPr wrap="square"/>
                    <a:lstStyle/>
                    <a:p>
                      <a:pPr algn="l">
                        <a:spcAft>
                          <a:spcPts val="0"/>
                        </a:spcAft>
                      </a:pPr>
                      <a:r>
                        <a:rPr sz="900" b="0">
                          <a:solidFill>
                            <a:srgbClr val="3E444C"/>
                          </a:solidFill>
                          <a:latin typeface="Arial"/>
                        </a:rPr>
                        <a:t>q = 0.70</a:t>
                      </a:r>
                    </a:p>
                  </a:txBody>
                  <a:tcPr anchor="ctr">
                    <a:solidFill>
                      <a:srgbClr val="FFFFFF"/>
                    </a:solidFill>
                  </a:tcPr>
                </a:tc>
                <a:tc>
                  <a:txBody>
                    <a:bodyPr wrap="square"/>
                    <a:lstStyle/>
                    <a:p>
                      <a:pPr algn="l">
                        <a:spcAft>
                          <a:spcPts val="0"/>
                        </a:spcAft>
                      </a:pPr>
                      <a:r>
                        <a:rPr sz="900" b="0">
                          <a:solidFill>
                            <a:srgbClr val="3E444C"/>
                          </a:solidFill>
                          <a:latin typeface="Arial"/>
                        </a:rPr>
                        <a:t>0.87070</a:t>
                      </a:r>
                    </a:p>
                  </a:txBody>
                  <a:tcPr anchor="ctr">
                    <a:solidFill>
                      <a:srgbClr val="FFFFFF"/>
                    </a:solidFill>
                  </a:tcPr>
                </a:tc>
                <a:tc>
                  <a:txBody>
                    <a:bodyPr wrap="square"/>
                    <a:lstStyle/>
                    <a:p>
                      <a:pPr algn="l">
                        <a:spcAft>
                          <a:spcPts val="0"/>
                        </a:spcAft>
                      </a:pPr>
                      <a:r>
                        <a:rPr sz="900" b="0">
                          <a:solidFill>
                            <a:srgbClr val="3E444C"/>
                          </a:solidFill>
                          <a:latin typeface="Arial"/>
                        </a:rPr>
                        <a:t>11.6989</a:t>
                      </a:r>
                    </a:p>
                  </a:txBody>
                  <a:tcPr anchor="ctr">
                    <a:solidFill>
                      <a:srgbClr val="FFFFFF"/>
                    </a:solidFill>
                  </a:tcPr>
                </a:tc>
                <a:tc>
                  <a:txBody>
                    <a:bodyPr wrap="square"/>
                    <a:lstStyle/>
                    <a:p>
                      <a:pPr algn="l">
                        <a:spcAft>
                          <a:spcPts val="0"/>
                        </a:spcAft>
                      </a:pPr>
                      <a:r>
                        <a:rPr sz="900" b="0">
                          <a:solidFill>
                            <a:srgbClr val="3E444C"/>
                          </a:solidFill>
                          <a:latin typeface="Arial"/>
                        </a:rPr>
                        <a:t>5.053</a:t>
                      </a:r>
                    </a:p>
                  </a:txBody>
                  <a:tcPr anchor="ctr">
                    <a:solidFill>
                      <a:srgbClr val="FFFFFF"/>
                    </a:solidFill>
                  </a:tcPr>
                </a:tc>
              </a:tr>
            </a:tbl>
          </a:graphicData>
        </a:graphic>
      </p:graphicFrame>
      <p:sp>
        <p:nvSpPr>
          <p:cNvPr id="14" name="TextBox 13"/>
          <p:cNvSpPr txBox="1"/>
          <p:nvPr/>
        </p:nvSpPr>
        <p:spPr>
          <a:xfrm>
            <a:off x="4599431" y="3072384"/>
            <a:ext cx="4114800" cy="1005840"/>
          </a:xfrm>
          <a:prstGeom prst="rect">
            <a:avLst/>
          </a:prstGeom>
          <a:noFill/>
        </p:spPr>
        <p:txBody>
          <a:bodyPr wrap="square">
            <a:spAutoFit/>
          </a:bodyPr>
          <a:lstStyle/>
          <a:p>
            <a:pPr algn="l">
              <a:spcAft>
                <a:spcPts val="400"/>
              </a:spcAft>
            </a:pPr>
            <a:r>
              <a:rPr sz="900" b="0">
                <a:solidFill>
                  <a:srgbClr val="3E444C"/>
                </a:solidFill>
                <a:latin typeface="Arial"/>
              </a:rPr>
              <a:t>Rule declared in advance: only policies within 0.005 mean-fold R² of the best are eligible; among those, minimise RMS overprediction, then overprediction rate, then RMSE.</a:t>
            </a:r>
          </a:p>
          <a:p>
            <a:pPr algn="l">
              <a:spcAft>
                <a:spcPts val="400"/>
              </a:spcAft>
            </a:pPr>
            <a:r>
              <a:rPr sz="900" b="0">
                <a:solidFill>
                  <a:srgbClr val="3E444C"/>
                </a:solidFill>
                <a:latin typeface="Arial"/>
              </a:rPr>
              <a:t>A later uncertainty-scaled variant improved near-failure RMS overprediction by 11.31% but raised RMSE by 1.71% and was rejected.</a:t>
            </a:r>
          </a:p>
        </p:txBody>
      </p:sp>
      <p:sp>
        <p:nvSpPr>
          <p:cNvPr id="15" name="TextBox 14"/>
          <p:cNvSpPr txBox="1"/>
          <p:nvPr/>
        </p:nvSpPr>
        <p:spPr>
          <a:xfrm>
            <a:off x="466344" y="4535424"/>
            <a:ext cx="8247888" cy="164592"/>
          </a:xfrm>
          <a:prstGeom prst="rect">
            <a:avLst/>
          </a:prstGeom>
          <a:noFill/>
        </p:spPr>
        <p:txBody>
          <a:bodyPr wrap="square">
            <a:spAutoFit/>
          </a:bodyPr>
          <a:lstStyle/>
          <a:p>
            <a:pPr algn="l">
              <a:spcAft>
                <a:spcPts val="400"/>
              </a:spcAft>
            </a:pPr>
            <a:r>
              <a:rPr sz="900" b="0">
                <a:solidFill>
                  <a:srgbClr val="9F9998"/>
                </a:solidFill>
                <a:latin typeface="Arial"/>
              </a:rPr>
              <a:t>Source: experiments/PE_11 and PE_4, runs/run_1/reporting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a:spcAft>
                <a:spcPts val="400"/>
              </a:spcAft>
            </a:pPr>
            <a:r>
              <a:rPr sz="1800" b="1">
                <a:solidFill>
                  <a:srgbClr val="3E444C"/>
                </a:solidFill>
                <a:latin typeface="Arial"/>
              </a:rPr>
              <a:t>Backup: representation experiments that were rejected</a:t>
            </a:r>
          </a:p>
        </p:txBody>
      </p:sp>
      <p:sp>
        <p:nvSpPr>
          <p:cNvPr id="3" name="Text Placeholder 2"/>
          <p:cNvSpPr>
            <a:spLocks noGrp="1"/>
          </p:cNvSpPr>
          <p:nvPr>
            <p:ph type="body" idx="13" sz="quarter"/>
          </p:nvPr>
        </p:nvSpPr>
        <p:spPr/>
        <p:txBody>
          <a:bodyPr wrap="square"/>
          <a:lstStyle/>
          <a:p>
            <a:pPr algn="l">
              <a:spcAft>
                <a:spcPts val="400"/>
              </a:spcAft>
            </a:pPr>
            <a:r>
              <a:rPr sz="1400" b="0">
                <a:solidFill>
                  <a:srgbClr val="9F9998"/>
                </a:solidFill>
                <a:latin typeface="Arial"/>
              </a:rPr>
              <a:t>Every row is a matched development comparison whose control was retained</a:t>
            </a:r>
          </a:p>
        </p:txBody>
      </p:sp>
      <p:sp>
        <p:nvSpPr>
          <p:cNvPr id="7" name="Datumsplatzhalter 6">
            <a:extLst>
              <a:ext uri="{FF2B5EF4-FFF2-40B4-BE49-F238E27FC236}">
                <a16:creationId xmlns:a16="http://schemas.microsoft.com/office/drawing/2014/main" id="{124A6A03-5D2E-417E-9A62-737D1DBC92ED}"/>
              </a:ext>
              <a:ext uri="{C183D7F6-B498-43B3-948B-1728B52AA6E4}">
                <adec:decorative xmlns:adec="http://schemas.microsoft.com/office/drawing/2017/decorative" val="1"/>
              </a:ext>
            </a:extLst>
          </p:cNvPr>
          <p:cNvSpPr>
            <a:spLocks noGrp="1"/>
          </p:cNvSpPr>
          <p:nvPr>
            <p:ph type="dt" sz="half" idx="14"/>
          </p:nvPr>
        </p:nvSpPr>
        <p:spPr>
          <a:xfrm>
            <a:off x="6492240" y="4873752"/>
            <a:ext cx="1737360" cy="146304"/>
          </a:xfrm>
        </p:spPr>
        <p:txBody>
          <a:bodyPr/>
          <a:lstStyle/>
          <a:p>
            <a:pPr algn="r"/>
            <a:r>
              <a:rPr lang="de-DE"/>
              <a:t>9 September 2026</a:t>
            </a:r>
            <a:endParaRPr lang="en-US" dirty="0"/>
          </a:p>
        </p:txBody>
      </p:sp>
      <p:sp>
        <p:nvSpPr>
          <p:cNvPr id="8" name="Fußzeilenplatzhalter 7">
            <a:extLst>
              <a:ext uri="{FF2B5EF4-FFF2-40B4-BE49-F238E27FC236}">
                <a16:creationId xmlns:a16="http://schemas.microsoft.com/office/drawing/2014/main" id="{90427F68-7D65-4111-9D28-F407D044A73B}"/>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UAV remaining useful life estimation</a:t>
            </a:r>
            <a:endParaRPr lang="en-US" dirty="0"/>
          </a:p>
        </p:txBody>
      </p:sp>
      <p:sp>
        <p:nvSpPr>
          <p:cNvPr id="10" name="Foliennummernplatzhalter 9">
            <a:extLst>
              <a:ext uri="{FF2B5EF4-FFF2-40B4-BE49-F238E27FC236}">
                <a16:creationId xmlns:a16="http://schemas.microsoft.com/office/drawing/2014/main" id="{BC2B8577-8AB8-42B5-8BA8-1751A412246A}"/>
              </a:ext>
              <a:ext uri="{C183D7F6-B498-43B3-948B-1728B52AA6E4}">
                <adec:decorative xmlns:adec="http://schemas.microsoft.com/office/drawing/2017/decorative" val="1"/>
              </a:ext>
            </a:extLst>
          </p:cNvPr>
          <p:cNvSpPr>
            <a:spLocks noGrp="1"/>
          </p:cNvSpPr>
          <p:nvPr>
            <p:ph type="sldNum" sz="quarter" idx="16"/>
          </p:nvPr>
        </p:nvSpPr>
        <p:spPr/>
        <p:txBody>
          <a:bodyPr/>
          <a:lstStyle/>
          <a:p>
            <a:fld id="{9E82CC3C-1DC0-4FDA-9590-6CC506AB67F8}" type="slidenum">
              <a:rPr lang="en-US" smtClean="0"/>
              <a:pPr/>
              <a:t>‹Nr.›</a:t>
            </a:fld>
            <a:endParaRPr lang="en-US" dirty="0"/>
          </a:p>
        </p:txBody>
      </p:sp>
      <p:graphicFrame>
        <p:nvGraphicFramePr>
          <p:cNvPr id="11" name="Table 10"/>
          <p:cNvGraphicFramePr>
            <a:graphicFrameLocks noGrp="1"/>
          </p:cNvGraphicFramePr>
          <p:nvPr/>
        </p:nvGraphicFramePr>
        <p:xfrm>
          <a:off x="466344" y="1060704"/>
          <a:ext cx="8247887" cy="1755648"/>
        </p:xfrm>
        <a:graphic>
          <a:graphicData uri="http://schemas.openxmlformats.org/drawingml/2006/table">
            <a:tbl>
              <a:tblPr firstRow="1" bandRow="1">
                <a:tableStyleId>{5C22544A-7EE6-4342-B048-85BDC9FD1C3A}</a:tableStyleId>
              </a:tblPr>
              <a:tblGrid>
                <a:gridCol w="2788920"/>
                <a:gridCol w="3749039"/>
                <a:gridCol w="1709928"/>
              </a:tblGrid>
              <a:tr h="219456">
                <a:tc>
                  <a:txBody>
                    <a:bodyPr wrap="square"/>
                    <a:lstStyle/>
                    <a:p>
                      <a:pPr algn="l">
                        <a:spcAft>
                          <a:spcPts val="0"/>
                        </a:spcAft>
                      </a:pPr>
                      <a:r>
                        <a:rPr sz="950" b="1">
                          <a:solidFill>
                            <a:srgbClr val="FFFFFF"/>
                          </a:solidFill>
                          <a:latin typeface="Arial"/>
                        </a:rPr>
                        <a:t>representation tested</a:t>
                      </a:r>
                    </a:p>
                  </a:txBody>
                  <a:tcPr anchor="ctr">
                    <a:solidFill>
                      <a:srgbClr val="00519E"/>
                    </a:solidFill>
                  </a:tcPr>
                </a:tc>
                <a:tc>
                  <a:txBody>
                    <a:bodyPr wrap="square"/>
                    <a:lstStyle/>
                    <a:p>
                      <a:pPr algn="l">
                        <a:spcAft>
                          <a:spcPts val="0"/>
                        </a:spcAft>
                      </a:pPr>
                      <a:r>
                        <a:rPr sz="950" b="1">
                          <a:solidFill>
                            <a:srgbClr val="FFFFFF"/>
                          </a:solidFill>
                          <a:latin typeface="Arial"/>
                        </a:rPr>
                        <a:t>matched development result</a:t>
                      </a:r>
                    </a:p>
                  </a:txBody>
                  <a:tcPr anchor="ctr">
                    <a:solidFill>
                      <a:srgbClr val="00519E"/>
                    </a:solidFill>
                  </a:tcPr>
                </a:tc>
                <a:tc>
                  <a:txBody>
                    <a:bodyPr wrap="square"/>
                    <a:lstStyle/>
                    <a:p>
                      <a:pPr algn="l">
                        <a:spcAft>
                          <a:spcPts val="0"/>
                        </a:spcAft>
                      </a:pPr>
                      <a:r>
                        <a:rPr sz="950" b="1">
                          <a:solidFill>
                            <a:srgbClr val="FFFFFF"/>
                          </a:solidFill>
                          <a:latin typeface="Arial"/>
                        </a:rPr>
                        <a:t>decision</a:t>
                      </a:r>
                    </a:p>
                  </a:txBody>
                  <a:tcPr anchor="ctr">
                    <a:solidFill>
                      <a:srgbClr val="00519E"/>
                    </a:solidFill>
                  </a:tcPr>
                </a:tc>
              </a:tr>
              <a:tr h="219456">
                <a:tc>
                  <a:txBody>
                    <a:bodyPr wrap="square"/>
                    <a:lstStyle/>
                    <a:p>
                      <a:pPr algn="l">
                        <a:spcAft>
                          <a:spcPts val="0"/>
                        </a:spcAft>
                      </a:pPr>
                      <a:r>
                        <a:rPr sz="950" b="0">
                          <a:solidFill>
                            <a:srgbClr val="3E444C"/>
                          </a:solidFill>
                          <a:latin typeface="Arial"/>
                        </a:rPr>
                        <a:t>Signal compression (median / PCA indices)</a:t>
                      </a:r>
                    </a:p>
                  </a:txBody>
                  <a:tcPr anchor="ctr">
                    <a:solidFill>
                      <a:srgbClr val="ECF4FA"/>
                    </a:solidFill>
                  </a:tcPr>
                </a:tc>
                <a:tc>
                  <a:txBody>
                    <a:bodyPr wrap="square"/>
                    <a:lstStyle/>
                    <a:p>
                      <a:pPr algn="l">
                        <a:spcAft>
                          <a:spcPts val="0"/>
                        </a:spcAft>
                      </a:pPr>
                      <a:r>
                        <a:rPr sz="950" b="0">
                          <a:solidFill>
                            <a:srgbClr val="3E444C"/>
                          </a:solidFill>
                          <a:latin typeface="Arial"/>
                        </a:rPr>
                        <a:t>R² fell by roughly 0.09-0.11 in both families</a:t>
                      </a:r>
                    </a:p>
                  </a:txBody>
                  <a:tcPr anchor="ctr">
                    <a:solidFill>
                      <a:srgbClr val="ECF4FA"/>
                    </a:solidFill>
                  </a:tcPr>
                </a:tc>
                <a:tc>
                  <a:txBody>
                    <a:bodyPr wrap="square"/>
                    <a:lstStyle/>
                    <a:p>
                      <a:pPr algn="l">
                        <a:spcAft>
                          <a:spcPts val="0"/>
                        </a:spcAft>
                      </a:pPr>
                      <a:r>
                        <a:rPr sz="950" b="0">
                          <a:solidFill>
                            <a:srgbClr val="3E444C"/>
                          </a:solidFill>
                          <a:latin typeface="Arial"/>
                        </a:rPr>
                        <a:t>keep individual features</a:t>
                      </a:r>
                    </a:p>
                  </a:txBody>
                  <a:tcPr anchor="ctr">
                    <a:solidFill>
                      <a:srgbClr val="ECF4FA"/>
                    </a:solidFill>
                  </a:tcPr>
                </a:tc>
              </a:tr>
              <a:tr h="219456">
                <a:tc>
                  <a:txBody>
                    <a:bodyPr wrap="square"/>
                    <a:lstStyle/>
                    <a:p>
                      <a:pPr algn="l">
                        <a:spcAft>
                          <a:spcPts val="0"/>
                        </a:spcAft>
                      </a:pPr>
                      <a:r>
                        <a:rPr sz="950" b="0">
                          <a:solidFill>
                            <a:srgbClr val="3E444C"/>
                          </a:solidFill>
                          <a:latin typeface="Arial"/>
                        </a:rPr>
                        <a:t>Dense training prefixes (stride 5)</a:t>
                      </a:r>
                    </a:p>
                  </a:txBody>
                  <a:tcPr anchor="ctr">
                    <a:solidFill>
                      <a:srgbClr val="FFFFFF"/>
                    </a:solidFill>
                  </a:tcPr>
                </a:tc>
                <a:tc>
                  <a:txBody>
                    <a:bodyPr wrap="square"/>
                    <a:lstStyle/>
                    <a:p>
                      <a:pPr algn="l">
                        <a:spcAft>
                          <a:spcPts val="0"/>
                        </a:spcAft>
                      </a:pPr>
                      <a:r>
                        <a:rPr sz="950" b="0">
                          <a:solidFill>
                            <a:srgbClr val="3E444C"/>
                          </a:solidFill>
                          <a:latin typeface="Arial"/>
                        </a:rPr>
                        <a:t>R² -0.0338 XGBoost, -0.0362 ExtraTrees; lost every fold</a:t>
                      </a:r>
                    </a:p>
                  </a:txBody>
                  <a:tcPr anchor="ctr">
                    <a:solidFill>
                      <a:srgbClr val="FFFFFF"/>
                    </a:solidFill>
                  </a:tcPr>
                </a:tc>
                <a:tc>
                  <a:txBody>
                    <a:bodyPr wrap="square"/>
                    <a:lstStyle/>
                    <a:p>
                      <a:pPr algn="l">
                        <a:spcAft>
                          <a:spcPts val="0"/>
                        </a:spcAft>
                      </a:pPr>
                      <a:r>
                        <a:rPr sz="950" b="0">
                          <a:solidFill>
                            <a:srgbClr val="3E444C"/>
                          </a:solidFill>
                          <a:latin typeface="Arial"/>
                        </a:rPr>
                        <a:t>keep 20 test-like cutoffs</a:t>
                      </a:r>
                    </a:p>
                  </a:txBody>
                  <a:tcPr anchor="ctr">
                    <a:solidFill>
                      <a:srgbClr val="FFFFFF"/>
                    </a:solidFill>
                  </a:tcPr>
                </a:tc>
              </a:tr>
              <a:tr h="219456">
                <a:tc>
                  <a:txBody>
                    <a:bodyPr wrap="square"/>
                    <a:lstStyle/>
                    <a:p>
                      <a:pPr algn="l">
                        <a:spcAft>
                          <a:spcPts val="0"/>
                        </a:spcAft>
                      </a:pPr>
                      <a:r>
                        <a:rPr sz="950" b="0">
                          <a:solidFill>
                            <a:srgbClr val="3E444C"/>
                          </a:solidFill>
                          <a:latin typeface="Arial"/>
                        </a:rPr>
                        <a:t>Per-UAV robust normalisation</a:t>
                      </a:r>
                    </a:p>
                  </a:txBody>
                  <a:tcPr anchor="ctr">
                    <a:solidFill>
                      <a:srgbClr val="ECF4FA"/>
                    </a:solidFill>
                  </a:tcPr>
                </a:tc>
                <a:tc>
                  <a:txBody>
                    <a:bodyPr wrap="square"/>
                    <a:lstStyle/>
                    <a:p>
                      <a:pPr algn="l">
                        <a:spcAft>
                          <a:spcPts val="0"/>
                        </a:spcAft>
                      </a:pPr>
                      <a:r>
                        <a:rPr sz="950" b="0">
                          <a:solidFill>
                            <a:srgbClr val="3E444C"/>
                          </a:solidFill>
                          <a:latin typeface="Arial"/>
                        </a:rPr>
                        <a:t>combined set: +0.0051 XGBoost, -0.0065 ExtraTrees</a:t>
                      </a:r>
                    </a:p>
                  </a:txBody>
                  <a:tcPr anchor="ctr">
                    <a:solidFill>
                      <a:srgbClr val="ECF4FA"/>
                    </a:solidFill>
                  </a:tcPr>
                </a:tc>
                <a:tc>
                  <a:txBody>
                    <a:bodyPr wrap="square"/>
                    <a:lstStyle/>
                    <a:p>
                      <a:pPr algn="l">
                        <a:spcAft>
                          <a:spcPts val="0"/>
                        </a:spcAft>
                      </a:pPr>
                      <a:r>
                        <a:rPr sz="950" b="0">
                          <a:solidFill>
                            <a:srgbClr val="3E444C"/>
                          </a:solidFill>
                          <a:latin typeface="Arial"/>
                        </a:rPr>
                        <a:t>keep raw features</a:t>
                      </a:r>
                    </a:p>
                  </a:txBody>
                  <a:tcPr anchor="ctr">
                    <a:solidFill>
                      <a:srgbClr val="ECF4FA"/>
                    </a:solidFill>
                  </a:tcPr>
                </a:tc>
              </a:tr>
              <a:tr h="219456">
                <a:tc>
                  <a:txBody>
                    <a:bodyPr wrap="square"/>
                    <a:lstStyle/>
                    <a:p>
                      <a:pPr algn="l">
                        <a:spcAft>
                          <a:spcPts val="0"/>
                        </a:spcAft>
                      </a:pPr>
                      <a:r>
                        <a:rPr sz="950" b="0">
                          <a:solidFill>
                            <a:srgbClr val="3E444C"/>
                          </a:solidFill>
                          <a:latin typeface="Arial"/>
                        </a:rPr>
                        <a:t>Failure-cycle target instead of RUL</a:t>
                      </a:r>
                    </a:p>
                  </a:txBody>
                  <a:tcPr anchor="ctr">
                    <a:solidFill>
                      <a:srgbClr val="FFFFFF"/>
                    </a:solidFill>
                  </a:tcPr>
                </a:tc>
                <a:tc>
                  <a:txBody>
                    <a:bodyPr wrap="square"/>
                    <a:lstStyle/>
                    <a:p>
                      <a:pPr algn="l">
                        <a:spcAft>
                          <a:spcPts val="0"/>
                        </a:spcAft>
                      </a:pPr>
                      <a:r>
                        <a:rPr sz="950" b="0">
                          <a:solidFill>
                            <a:srgbClr val="3E444C"/>
                          </a:solidFill>
                          <a:latin typeface="Arial"/>
                        </a:rPr>
                        <a:t>ΔR² -0.4002 XGBoost, -0.5073 ExtraTrees; 0/5 folds</a:t>
                      </a:r>
                    </a:p>
                  </a:txBody>
                  <a:tcPr anchor="ctr">
                    <a:solidFill>
                      <a:srgbClr val="FFFFFF"/>
                    </a:solidFill>
                  </a:tcPr>
                </a:tc>
                <a:tc>
                  <a:txBody>
                    <a:bodyPr wrap="square"/>
                    <a:lstStyle/>
                    <a:p>
                      <a:pPr algn="l">
                        <a:spcAft>
                          <a:spcPts val="0"/>
                        </a:spcAft>
                      </a:pPr>
                      <a:r>
                        <a:rPr sz="950" b="0">
                          <a:solidFill>
                            <a:srgbClr val="3E444C"/>
                          </a:solidFill>
                          <a:latin typeface="Arial"/>
                        </a:rPr>
                        <a:t>keep RUL target</a:t>
                      </a:r>
                    </a:p>
                  </a:txBody>
                  <a:tcPr anchor="ctr">
                    <a:solidFill>
                      <a:srgbClr val="FFFFFF"/>
                    </a:solidFill>
                  </a:tcPr>
                </a:tc>
              </a:tr>
              <a:tr h="219456">
                <a:tc>
                  <a:txBody>
                    <a:bodyPr wrap="square"/>
                    <a:lstStyle/>
                    <a:p>
                      <a:pPr algn="l">
                        <a:spcAft>
                          <a:spcPts val="0"/>
                        </a:spcAft>
                      </a:pPr>
                      <a:r>
                        <a:rPr sz="950" b="0">
                          <a:solidFill>
                            <a:srgbClr val="3E444C"/>
                          </a:solidFill>
                          <a:latin typeface="Arial"/>
                        </a:rPr>
                        <a:t>Personalised degradation-onset targets</a:t>
                      </a:r>
                    </a:p>
                  </a:txBody>
                  <a:tcPr anchor="ctr">
                    <a:solidFill>
                      <a:srgbClr val="ECF4FA"/>
                    </a:solidFill>
                  </a:tcPr>
                </a:tc>
                <a:tc>
                  <a:txBody>
                    <a:bodyPr wrap="square"/>
                    <a:lstStyle/>
                    <a:p>
                      <a:pPr algn="l">
                        <a:spcAft>
                          <a:spcPts val="0"/>
                        </a:spcAft>
                      </a:pPr>
                      <a:r>
                        <a:rPr sz="950" b="0">
                          <a:solidFill>
                            <a:srgbClr val="3E444C"/>
                          </a:solidFill>
                          <a:latin typeface="Arial"/>
                        </a:rPr>
                        <a:t>XGBoost RMSE 12.15 → 19.59-19.69</a:t>
                      </a:r>
                    </a:p>
                  </a:txBody>
                  <a:tcPr anchor="ctr">
                    <a:solidFill>
                      <a:srgbClr val="ECF4FA"/>
                    </a:solidFill>
                  </a:tcPr>
                </a:tc>
                <a:tc>
                  <a:txBody>
                    <a:bodyPr wrap="square"/>
                    <a:lstStyle/>
                    <a:p>
                      <a:pPr algn="l">
                        <a:spcAft>
                          <a:spcPts val="0"/>
                        </a:spcAft>
                      </a:pPr>
                      <a:r>
                        <a:rPr sz="950" b="0">
                          <a:solidFill>
                            <a:srgbClr val="3E444C"/>
                          </a:solidFill>
                          <a:latin typeface="Arial"/>
                        </a:rPr>
                        <a:t>keep cap 125</a:t>
                      </a:r>
                    </a:p>
                  </a:txBody>
                  <a:tcPr anchor="ctr">
                    <a:solidFill>
                      <a:srgbClr val="ECF4FA"/>
                    </a:solidFill>
                  </a:tcPr>
                </a:tc>
              </a:tr>
              <a:tr h="219456">
                <a:tc>
                  <a:txBody>
                    <a:bodyPr wrap="square"/>
                    <a:lstStyle/>
                    <a:p>
                      <a:pPr algn="l">
                        <a:spcAft>
                          <a:spcPts val="0"/>
                        </a:spcAft>
                      </a:pPr>
                      <a:r>
                        <a:rPr sz="950" b="0">
                          <a:solidFill>
                            <a:srgbClr val="3E444C"/>
                          </a:solidFill>
                          <a:latin typeface="Arial"/>
                        </a:rPr>
                        <a:t>Drift-feature pruning</a:t>
                      </a:r>
                    </a:p>
                  </a:txBody>
                  <a:tcPr anchor="ctr">
                    <a:solidFill>
                      <a:srgbClr val="FFFFFF"/>
                    </a:solidFill>
                  </a:tcPr>
                </a:tc>
                <a:tc>
                  <a:txBody>
                    <a:bodyPr wrap="square"/>
                    <a:lstStyle/>
                    <a:p>
                      <a:pPr algn="l">
                        <a:spcAft>
                          <a:spcPts val="0"/>
                        </a:spcAft>
                      </a:pPr>
                      <a:r>
                        <a:rPr sz="950" b="0">
                          <a:solidFill>
                            <a:srgbClr val="3E444C"/>
                          </a:solidFill>
                          <a:latin typeface="Arial"/>
                        </a:rPr>
                        <a:t>domain AUC 0.8565, but no treatment passed the accuracy gate</a:t>
                      </a:r>
                    </a:p>
                  </a:txBody>
                  <a:tcPr anchor="ctr">
                    <a:solidFill>
                      <a:srgbClr val="FFFFFF"/>
                    </a:solidFill>
                  </a:tcPr>
                </a:tc>
                <a:tc>
                  <a:txBody>
                    <a:bodyPr wrap="square"/>
                    <a:lstStyle/>
                    <a:p>
                      <a:pPr algn="l">
                        <a:spcAft>
                          <a:spcPts val="0"/>
                        </a:spcAft>
                      </a:pPr>
                      <a:r>
                        <a:rPr sz="950" b="0">
                          <a:solidFill>
                            <a:srgbClr val="3E444C"/>
                          </a:solidFill>
                          <a:latin typeface="Arial"/>
                        </a:rPr>
                        <a:t>keep all features</a:t>
                      </a:r>
                    </a:p>
                  </a:txBody>
                  <a:tcPr anchor="ctr">
                    <a:solidFill>
                      <a:srgbClr val="FFFFFF"/>
                    </a:solidFill>
                  </a:tcPr>
                </a:tc>
              </a:tr>
              <a:tr h="219456">
                <a:tc>
                  <a:txBody>
                    <a:bodyPr wrap="square"/>
                    <a:lstStyle/>
                    <a:p>
                      <a:pPr algn="l">
                        <a:spcAft>
                          <a:spcPts val="0"/>
                        </a:spcAft>
                      </a:pPr>
                      <a:r>
                        <a:rPr sz="950" b="0">
                          <a:solidFill>
                            <a:srgbClr val="3E444C"/>
                          </a:solidFill>
                          <a:latin typeface="Arial"/>
                        </a:rPr>
                        <a:t>Population degradation features</a:t>
                      </a:r>
                    </a:p>
                  </a:txBody>
                  <a:tcPr anchor="ctr">
                    <a:solidFill>
                      <a:srgbClr val="ECF4FA"/>
                    </a:solidFill>
                  </a:tcPr>
                </a:tc>
                <a:tc>
                  <a:txBody>
                    <a:bodyPr wrap="square"/>
                    <a:lstStyle/>
                    <a:p>
                      <a:pPr algn="l">
                        <a:spcAft>
                          <a:spcPts val="0"/>
                        </a:spcAft>
                      </a:pPr>
                      <a:r>
                        <a:rPr sz="950" b="0">
                          <a:solidFill>
                            <a:srgbClr val="3E444C"/>
                          </a:solidFill>
                          <a:latin typeface="Arial"/>
                        </a:rPr>
                        <a:t>mean RMSE +2.5% (HGB) and +11.8% (ridge)</a:t>
                      </a:r>
                    </a:p>
                  </a:txBody>
                  <a:tcPr anchor="ctr">
                    <a:solidFill>
                      <a:srgbClr val="ECF4FA"/>
                    </a:solidFill>
                  </a:tcPr>
                </a:tc>
                <a:tc>
                  <a:txBody>
                    <a:bodyPr wrap="square"/>
                    <a:lstStyle/>
                    <a:p>
                      <a:pPr algn="l">
                        <a:spcAft>
                          <a:spcPts val="0"/>
                        </a:spcAft>
                      </a:pPr>
                      <a:r>
                        <a:rPr sz="950" b="0">
                          <a:solidFill>
                            <a:srgbClr val="3E444C"/>
                          </a:solidFill>
                          <a:latin typeface="Arial"/>
                        </a:rPr>
                        <a:t>keep control</a:t>
                      </a:r>
                    </a:p>
                  </a:txBody>
                  <a:tcPr anchor="ctr">
                    <a:solidFill>
                      <a:srgbClr val="ECF4FA"/>
                    </a:solidFill>
                  </a:tcPr>
                </a:tc>
              </a:tr>
            </a:tbl>
          </a:graphicData>
        </a:graphic>
      </p:graphicFrame>
      <p:sp>
        <p:nvSpPr>
          <p:cNvPr id="12" name="TextBox 11"/>
          <p:cNvSpPr txBox="1"/>
          <p:nvPr/>
        </p:nvSpPr>
        <p:spPr>
          <a:xfrm>
            <a:off x="466344" y="2980944"/>
            <a:ext cx="8247888" cy="1097280"/>
          </a:xfrm>
          <a:prstGeom prst="rect">
            <a:avLst/>
          </a:prstGeom>
          <a:noFill/>
        </p:spPr>
        <p:txBody>
          <a:bodyPr wrap="square">
            <a:spAutoFit/>
          </a:bodyPr>
          <a:lstStyle/>
          <a:p>
            <a:pPr algn="l">
              <a:spcAft>
                <a:spcPts val="400"/>
              </a:spcAft>
            </a:pPr>
            <a:r>
              <a:rPr sz="1000" b="0">
                <a:solidFill>
                  <a:srgbClr val="3E444C"/>
                </a:solidFill>
                <a:latin typeface="Arial"/>
              </a:rPr>
              <a:t>PE_28 now revisits the representation question deliberately: ten feature sets from 50 to 310 features crossed with two model recipes, varying sensor coverage, summary complexity, baseline averaging and window length one factor at a time. Screening uses grouped seed 20270107; confirmation uses seeds 20270117 and 20270127 on the same UAV population, so it is a robustness check rather than an untouched holdout.</a:t>
            </a:r>
          </a:p>
        </p:txBody>
      </p:sp>
      <p:sp>
        <p:nvSpPr>
          <p:cNvPr id="13" name="TextBox 12"/>
          <p:cNvSpPr txBox="1"/>
          <p:nvPr/>
        </p:nvSpPr>
        <p:spPr>
          <a:xfrm>
            <a:off x="466344" y="4535424"/>
            <a:ext cx="8247888" cy="164592"/>
          </a:xfrm>
          <a:prstGeom prst="rect">
            <a:avLst/>
          </a:prstGeom>
          <a:noFill/>
        </p:spPr>
        <p:txBody>
          <a:bodyPr wrap="square">
            <a:spAutoFit/>
          </a:bodyPr>
          <a:lstStyle/>
          <a:p>
            <a:pPr algn="l">
              <a:spcAft>
                <a:spcPts val="400"/>
              </a:spcAft>
            </a:pPr>
            <a:r>
              <a:rPr sz="900" b="0">
                <a:solidFill>
                  <a:srgbClr val="9F9998"/>
                </a:solidFill>
                <a:latin typeface="Arial"/>
              </a:rPr>
              <a:t>Source: experiments/PE_5, PE_6, PE_7, PE_9, PE_13, PE_22, PE_28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a:spcAft>
                <a:spcPts val="400"/>
              </a:spcAft>
            </a:pPr>
            <a:r>
              <a:rPr sz="1800" b="1">
                <a:solidFill>
                  <a:srgbClr val="3E444C"/>
                </a:solidFill>
                <a:latin typeface="Arial"/>
              </a:rPr>
              <a:t>Backup: uncertainty, endpoint duplication and score provenance</a:t>
            </a:r>
          </a:p>
        </p:txBody>
      </p:sp>
      <p:sp>
        <p:nvSpPr>
          <p:cNvPr id="3" name="Text Placeholder 2"/>
          <p:cNvSpPr>
            <a:spLocks noGrp="1"/>
          </p:cNvSpPr>
          <p:nvPr>
            <p:ph type="body" idx="13" sz="quarter"/>
          </p:nvPr>
        </p:nvSpPr>
        <p:spPr/>
        <p:txBody>
          <a:bodyPr wrap="square"/>
          <a:lstStyle/>
          <a:p>
            <a:pPr algn="l">
              <a:spcAft>
                <a:spcPts val="400"/>
              </a:spcAft>
            </a:pPr>
            <a:r>
              <a:rPr sz="1400" b="0">
                <a:solidFill>
                  <a:srgbClr val="9F9998"/>
                </a:solidFill>
                <a:latin typeface="Arial"/>
              </a:rPr>
              <a:t>How the intervals are built, what the repeated endpoints do, and where each score comes from</a:t>
            </a:r>
          </a:p>
        </p:txBody>
      </p:sp>
      <p:sp>
        <p:nvSpPr>
          <p:cNvPr id="7" name="Datumsplatzhalter 6">
            <a:extLst>
              <a:ext uri="{FF2B5EF4-FFF2-40B4-BE49-F238E27FC236}">
                <a16:creationId xmlns:a16="http://schemas.microsoft.com/office/drawing/2014/main" id="{124A6A03-5D2E-417E-9A62-737D1DBC92ED}"/>
              </a:ext>
              <a:ext uri="{C183D7F6-B498-43B3-948B-1728B52AA6E4}">
                <adec:decorative xmlns:adec="http://schemas.microsoft.com/office/drawing/2017/decorative" val="1"/>
              </a:ext>
            </a:extLst>
          </p:cNvPr>
          <p:cNvSpPr>
            <a:spLocks noGrp="1"/>
          </p:cNvSpPr>
          <p:nvPr>
            <p:ph type="dt" sz="half" idx="14"/>
          </p:nvPr>
        </p:nvSpPr>
        <p:spPr>
          <a:xfrm>
            <a:off x="6492240" y="4873752"/>
            <a:ext cx="1737360" cy="146304"/>
          </a:xfrm>
        </p:spPr>
        <p:txBody>
          <a:bodyPr/>
          <a:lstStyle/>
          <a:p>
            <a:pPr algn="r"/>
            <a:r>
              <a:rPr lang="de-DE"/>
              <a:t>9 September 2026</a:t>
            </a:r>
            <a:endParaRPr lang="en-US" dirty="0"/>
          </a:p>
        </p:txBody>
      </p:sp>
      <p:sp>
        <p:nvSpPr>
          <p:cNvPr id="8" name="Fußzeilenplatzhalter 7">
            <a:extLst>
              <a:ext uri="{FF2B5EF4-FFF2-40B4-BE49-F238E27FC236}">
                <a16:creationId xmlns:a16="http://schemas.microsoft.com/office/drawing/2014/main" id="{90427F68-7D65-4111-9D28-F407D044A73B}"/>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UAV remaining useful life estimation</a:t>
            </a:r>
            <a:endParaRPr lang="en-US" dirty="0"/>
          </a:p>
        </p:txBody>
      </p:sp>
      <p:sp>
        <p:nvSpPr>
          <p:cNvPr id="10" name="Foliennummernplatzhalter 9">
            <a:extLst>
              <a:ext uri="{FF2B5EF4-FFF2-40B4-BE49-F238E27FC236}">
                <a16:creationId xmlns:a16="http://schemas.microsoft.com/office/drawing/2014/main" id="{BC2B8577-8AB8-42B5-8BA8-1751A412246A}"/>
              </a:ext>
              <a:ext uri="{C183D7F6-B498-43B3-948B-1728B52AA6E4}">
                <adec:decorative xmlns:adec="http://schemas.microsoft.com/office/drawing/2017/decorative" val="1"/>
              </a:ext>
            </a:extLst>
          </p:cNvPr>
          <p:cNvSpPr>
            <a:spLocks noGrp="1"/>
          </p:cNvSpPr>
          <p:nvPr>
            <p:ph type="sldNum" sz="quarter" idx="16"/>
          </p:nvPr>
        </p:nvSpPr>
        <p:spPr/>
        <p:txBody>
          <a:bodyPr/>
          <a:lstStyle/>
          <a:p>
            <a:fld id="{9E82CC3C-1DC0-4FDA-9590-6CC506AB67F8}" type="slidenum">
              <a:rPr lang="en-US" smtClean="0"/>
              <a:pPr/>
              <a:t>‹Nr.›</a:t>
            </a:fld>
            <a:endParaRPr lang="en-US" dirty="0"/>
          </a:p>
        </p:txBody>
      </p:sp>
      <p:sp>
        <p:nvSpPr>
          <p:cNvPr id="11" name="Rounded Rectangle 10"/>
          <p:cNvSpPr/>
          <p:nvPr/>
        </p:nvSpPr>
        <p:spPr>
          <a:xfrm>
            <a:off x="466344" y="1060704"/>
            <a:ext cx="2639568" cy="3054096"/>
          </a:xfrm>
          <a:prstGeom prst="roundRect">
            <a:avLst/>
          </a:prstGeom>
          <a:solidFill>
            <a:srgbClr val="FFFFFF"/>
          </a:solidFill>
          <a:ln w="12700">
            <a:solidFill>
              <a:srgbClr val="9F99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spcAft>
                <a:spcPts val="200"/>
              </a:spcAft>
            </a:pPr>
            <a:r>
              <a:rPr sz="950" b="1">
                <a:solidFill>
                  <a:srgbClr val="00519E"/>
                </a:solidFill>
                <a:latin typeface="Arial"/>
              </a:rPr>
              <a:t>What the bootstrap covers</a:t>
            </a:r>
          </a:p>
          <a:p>
            <a:pPr algn="l">
              <a:spcAft>
                <a:spcPts val="200"/>
              </a:spcAft>
            </a:pPr>
            <a:r>
              <a:rPr sz="950" b="0">
                <a:solidFill>
                  <a:srgbClr val="3E444C"/>
                </a:solidFill>
                <a:latin typeface="Arial"/>
              </a:rPr>
              <a:t>· 1,000-3,000 resamples of whole UAVs, never of rows.</a:t>
            </a:r>
          </a:p>
          <a:p>
            <a:pPr algn="l">
              <a:spcAft>
                <a:spcPts val="200"/>
              </a:spcAft>
            </a:pPr>
            <a:r>
              <a:rPr sz="950" b="0">
                <a:solidFill>
                  <a:srgbClr val="3E444C"/>
                </a:solidFill>
                <a:latin typeface="Arial"/>
              </a:rPr>
              <a:t>· Run 7 pooled R² interval 0.87779 - 0.92772.</a:t>
            </a:r>
          </a:p>
          <a:p>
            <a:pPr algn="l">
              <a:spcAft>
                <a:spcPts val="200"/>
              </a:spcAft>
            </a:pPr>
            <a:r>
              <a:rPr sz="950" b="0">
                <a:solidFill>
                  <a:srgbClr val="3E444C"/>
                </a:solidFill>
                <a:latin typeface="Arial"/>
              </a:rPr>
              <a:t>· Run 7 minus Run 6 RMSE interval -1.252 to +0.446 cycles.</a:t>
            </a:r>
          </a:p>
          <a:p>
            <a:pPr algn="l">
              <a:spcAft>
                <a:spcPts val="200"/>
              </a:spcAft>
            </a:pPr>
            <a:r>
              <a:rPr sz="950" b="0">
                <a:solidFill>
                  <a:srgbClr val="3E444C"/>
                </a:solidFill>
                <a:latin typeface="Arial"/>
              </a:rPr>
              <a:t>· It resamples fixed saved predictions, so it excludes training and model-selection uncertainty.</a:t>
            </a:r>
          </a:p>
          <a:p>
            <a:pPr algn="l">
              <a:spcAft>
                <a:spcPts val="200"/>
              </a:spcAft>
            </a:pPr>
            <a:r>
              <a:rPr sz="950" b="0">
                <a:solidFill>
                  <a:srgbClr val="3E444C"/>
                </a:solidFill>
                <a:latin typeface="Arial"/>
              </a:rPr>
              <a:t>· A positive mean with an interval crossing zero is uncertain evidence, not proof of no effect.</a:t>
            </a:r>
          </a:p>
        </p:txBody>
      </p:sp>
      <p:sp>
        <p:nvSpPr>
          <p:cNvPr id="12" name="Rounded Rectangle 11"/>
          <p:cNvSpPr/>
          <p:nvPr/>
        </p:nvSpPr>
        <p:spPr>
          <a:xfrm>
            <a:off x="3270504" y="1060704"/>
            <a:ext cx="2639568" cy="3054096"/>
          </a:xfrm>
          <a:prstGeom prst="roundRect">
            <a:avLst/>
          </a:prstGeom>
          <a:solidFill>
            <a:srgbClr val="FFFFFF"/>
          </a:solidFill>
          <a:ln w="12700">
            <a:solidFill>
              <a:srgbClr val="9F99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spcAft>
                <a:spcPts val="200"/>
              </a:spcAft>
            </a:pPr>
            <a:r>
              <a:rPr sz="950" b="1">
                <a:solidFill>
                  <a:srgbClr val="00519E"/>
                </a:solidFill>
                <a:latin typeface="Arial"/>
              </a:rPr>
              <a:t>Repeated endpoints</a:t>
            </a:r>
          </a:p>
          <a:p>
            <a:pPr algn="l">
              <a:spcAft>
                <a:spcPts val="200"/>
              </a:spcAft>
            </a:pPr>
            <a:r>
              <a:rPr sz="950" b="0">
                <a:solidFill>
                  <a:srgbClr val="3E444C"/>
                </a:solidFill>
                <a:latin typeface="Arial"/>
              </a:rPr>
              <a:t>· 500 development rows contain 444 distinct (UAV, cutoff) pairs.</a:t>
            </a:r>
          </a:p>
          <a:p>
            <a:pPr algn="l">
              <a:spcAft>
                <a:spcPts val="200"/>
              </a:spcAft>
            </a:pPr>
            <a:r>
              <a:rPr sz="950" b="0">
                <a:solidFill>
                  <a:srgbClr val="3E444C"/>
                </a:solidFill>
                <a:latin typeface="Arial"/>
              </a:rPr>
              <a:t>· Removing duplicates changes pooled R² only from 0.90446 to 0.90494.</a:t>
            </a:r>
          </a:p>
          <a:p>
            <a:pPr algn="l">
              <a:spcAft>
                <a:spcPts val="200"/>
              </a:spcAft>
            </a:pPr>
            <a:r>
              <a:rPr sz="950" b="0">
                <a:solidFill>
                  <a:srgbClr val="3E444C"/>
                </a:solidFill>
                <a:latin typeface="Arial"/>
              </a:rPr>
              <a:t>· Duplication therefore does not explain the headline number, but it does affect weighting and precision.</a:t>
            </a:r>
          </a:p>
          <a:p>
            <a:pPr algn="l">
              <a:spcAft>
                <a:spcPts val="200"/>
              </a:spcAft>
            </a:pPr>
            <a:r>
              <a:rPr sz="950" b="0">
                <a:solidFill>
                  <a:srgbClr val="3E444C"/>
                </a:solidFill>
                <a:latin typeface="Arial"/>
              </a:rPr>
              <a:t>· The UAV, not the endpoint, stays the resampling unit.</a:t>
            </a:r>
          </a:p>
        </p:txBody>
      </p:sp>
      <p:sp>
        <p:nvSpPr>
          <p:cNvPr id="13" name="Rounded Rectangle 12"/>
          <p:cNvSpPr/>
          <p:nvPr/>
        </p:nvSpPr>
        <p:spPr>
          <a:xfrm>
            <a:off x="6074664" y="1060704"/>
            <a:ext cx="2639568" cy="3054096"/>
          </a:xfrm>
          <a:prstGeom prst="roundRect">
            <a:avLst/>
          </a:prstGeom>
          <a:solidFill>
            <a:srgbClr val="FFFFFF"/>
          </a:solidFill>
          <a:ln w="12700">
            <a:solidFill>
              <a:srgbClr val="9F999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spcAft>
                <a:spcPts val="200"/>
              </a:spcAft>
            </a:pPr>
            <a:r>
              <a:rPr sz="950" b="1">
                <a:solidFill>
                  <a:srgbClr val="00519E"/>
                </a:solidFill>
                <a:latin typeface="Arial"/>
              </a:rPr>
              <a:t>Public-score provenance</a:t>
            </a:r>
          </a:p>
          <a:p>
            <a:pPr algn="l">
              <a:spcAft>
                <a:spcPts val="200"/>
              </a:spcAft>
            </a:pPr>
            <a:r>
              <a:rPr sz="950" b="0">
                <a:solidFill>
                  <a:srgbClr val="3E444C"/>
                </a:solidFill>
                <a:latin typeface="Arial"/>
              </a:rPr>
              <a:t>· Public scores were transcribed from user-supplied Kaggle screenshots recorded on 7 September 2026, not from a live lookup.</a:t>
            </a:r>
          </a:p>
          <a:p>
            <a:pPr algn="l">
              <a:spcAft>
                <a:spcPts val="200"/>
              </a:spcAft>
            </a:pPr>
            <a:r>
              <a:rPr sz="950" b="0">
                <a:solidFill>
                  <a:srgbClr val="3E444C"/>
                </a:solidFill>
                <a:latin typeface="Arial"/>
              </a:rPr>
              <a:t>· The public leaderboard uses about 30% of the test data; the final standing uses the other 70%.</a:t>
            </a:r>
          </a:p>
          <a:p>
            <a:pPr algn="l">
              <a:spcAft>
                <a:spcPts val="200"/>
              </a:spcAft>
            </a:pPr>
            <a:r>
              <a:rPr sz="950" b="0">
                <a:solidFill>
                  <a:srgbClr val="3E444C"/>
                </a:solidFill>
                <a:latin typeface="Arial"/>
              </a:rPr>
              <a:t>· The 0.87877 figure for the alternative script is user-reported and has no submission artifact in this repository.</a:t>
            </a:r>
          </a:p>
        </p:txBody>
      </p:sp>
      <p:sp>
        <p:nvSpPr>
          <p:cNvPr id="14" name="TextBox 13"/>
          <p:cNvSpPr txBox="1"/>
          <p:nvPr/>
        </p:nvSpPr>
        <p:spPr>
          <a:xfrm>
            <a:off x="466344" y="4535424"/>
            <a:ext cx="8247888" cy="164592"/>
          </a:xfrm>
          <a:prstGeom prst="rect">
            <a:avLst/>
          </a:prstGeom>
          <a:noFill/>
        </p:spPr>
        <p:txBody>
          <a:bodyPr wrap="square">
            <a:spAutoFit/>
          </a:bodyPr>
          <a:lstStyle/>
          <a:p>
            <a:pPr algn="l">
              <a:spcAft>
                <a:spcPts val="400"/>
              </a:spcAft>
            </a:pPr>
            <a:r>
              <a:rPr sz="900" b="0">
                <a:solidFill>
                  <a:srgbClr val="9F9998"/>
                </a:solidFill>
                <a:latin typeface="Arial"/>
              </a:rPr>
              <a:t>Source: r2_research_2026_09_07/ and kaggle_scores.csv</a:t>
            </a:r>
          </a:p>
        </p:txBody>
      </p:sp>
    </p:spTree>
  </p:cSld>
  <p:clrMapOvr>
    <a:masterClrMapping/>
  </p:clrMapOvr>
</p:sld>
</file>

<file path=ppt/theme/theme1.xml><?xml version="1.0" encoding="utf-8"?>
<a:theme xmlns:a="http://schemas.openxmlformats.org/drawingml/2006/main" name="Uni_Stuttgart">
  <a:themeElements>
    <a:clrScheme name="UNI COLOUR">
      <a:dk1>
        <a:srgbClr val="3E444C"/>
      </a:dk1>
      <a:lt1>
        <a:sysClr val="window" lastClr="FFFFFF"/>
      </a:lt1>
      <a:dk2>
        <a:srgbClr val="000000"/>
      </a:dk2>
      <a:lt2>
        <a:srgbClr val="9F9998"/>
      </a:lt2>
      <a:accent1>
        <a:srgbClr val="00BEFF"/>
      </a:accent1>
      <a:accent2>
        <a:srgbClr val="00519E"/>
      </a:accent2>
      <a:accent3>
        <a:srgbClr val="3E444C"/>
      </a:accent3>
      <a:accent4>
        <a:srgbClr val="7DC6EA"/>
      </a:accent4>
      <a:accent5>
        <a:srgbClr val="9F9998"/>
      </a:accent5>
      <a:accent6>
        <a:srgbClr val="FFD500"/>
      </a:accent6>
      <a:hlink>
        <a:srgbClr val="00BEFF"/>
      </a:hlink>
      <a:folHlink>
        <a:srgbClr val="3E444C"/>
      </a:folHlink>
    </a:clrScheme>
    <a:fontScheme name="Universitaet_Stuttgart_Font">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179388" indent="-179388">
          <a:lnSpc>
            <a:spcPct val="120000"/>
          </a:lnSpc>
          <a:spcBef>
            <a:spcPts val="750"/>
          </a:spcBef>
          <a:buClr>
            <a:schemeClr val="accent1"/>
          </a:buClr>
          <a:buFont typeface="Arial" panose="020B0604020202020204" pitchFamily="34" charset="0"/>
          <a:buChar char="•"/>
          <a:defRPr sz="1600" dirty="0" smtClean="0"/>
        </a:defPPr>
      </a:lstStyle>
    </a:txDef>
  </a:objectDefaults>
  <a:extraClrSchemeLst/>
  <a:extLst>
    <a:ext uri="{05A4C25C-085E-4340-85A3-A5531E510DB2}">
      <thm15:themeFamily xmlns:thm15="http://schemas.microsoft.com/office/thememl/2012/main" name="Uni Master D_16zu10 Institute.potx" id="{C3B3A38B-0338-49FB-B231-116B7D339AEF}" vid="{AA825256-4409-4510-8B2A-E00170960EBA}"/>
    </a:ext>
  </a:extLst>
</a:theme>
</file>

<file path=ppt/theme/theme2.xml><?xml version="1.0" encoding="utf-8"?>
<a:theme xmlns:a="http://schemas.openxmlformats.org/drawingml/2006/main" name="Office Theme">
  <a:themeElements>
    <a:clrScheme name="Universität Stuttgart Version 2">
      <a:dk1>
        <a:srgbClr val="323232"/>
      </a:dk1>
      <a:lt1>
        <a:sysClr val="window" lastClr="FFFFFF"/>
      </a:lt1>
      <a:dk2>
        <a:srgbClr val="000000"/>
      </a:dk2>
      <a:lt2>
        <a:srgbClr val="9F9998"/>
      </a:lt2>
      <a:accent1>
        <a:srgbClr val="00BEFF"/>
      </a:accent1>
      <a:accent2>
        <a:srgbClr val="004191"/>
      </a:accent2>
      <a:accent3>
        <a:srgbClr val="323232"/>
      </a:accent3>
      <a:accent4>
        <a:srgbClr val="7DC6EA"/>
      </a:accent4>
      <a:accent5>
        <a:srgbClr val="9F9998"/>
      </a:accent5>
      <a:accent6>
        <a:srgbClr val="FFD500"/>
      </a:accent6>
      <a:hlink>
        <a:srgbClr val="00BEFF"/>
      </a:hlink>
      <a:folHlink>
        <a:srgbClr val="524D4D"/>
      </a:folHlink>
    </a:clrScheme>
    <a:fontScheme name="Universität Stuttgar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Universität Stuttgart Version 2">
      <a:dk1>
        <a:srgbClr val="323232"/>
      </a:dk1>
      <a:lt1>
        <a:sysClr val="window" lastClr="FFFFFF"/>
      </a:lt1>
      <a:dk2>
        <a:srgbClr val="000000"/>
      </a:dk2>
      <a:lt2>
        <a:srgbClr val="9F9998"/>
      </a:lt2>
      <a:accent1>
        <a:srgbClr val="00BEFF"/>
      </a:accent1>
      <a:accent2>
        <a:srgbClr val="004191"/>
      </a:accent2>
      <a:accent3>
        <a:srgbClr val="323232"/>
      </a:accent3>
      <a:accent4>
        <a:srgbClr val="7DC6EA"/>
      </a:accent4>
      <a:accent5>
        <a:srgbClr val="9F9998"/>
      </a:accent5>
      <a:accent6>
        <a:srgbClr val="FFD500"/>
      </a:accent6>
      <a:hlink>
        <a:srgbClr val="00BEFF"/>
      </a:hlink>
      <a:folHlink>
        <a:srgbClr val="524D4D"/>
      </a:folHlink>
    </a:clrScheme>
    <a:fontScheme name="Universität Stuttgar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65</Words>
  <Application>Microsoft Office PowerPoint</Application>
  <PresentationFormat>Bildschirmpräsentation (16:9)</PresentationFormat>
  <Paragraphs>19</Paragraphs>
  <Slides>10</Slides>
  <Notes>0</Notes>
  <HiddenSlides>0</HiddenSlides>
  <MMClips>0</MMClips>
  <ScaleCrop>false</ScaleCrop>
  <HeadingPairs>
    <vt:vector size="6" baseType="variant">
      <vt:variant>
        <vt:lpstr>Verwendete Schriftarten</vt:lpstr>
      </vt:variant>
      <vt:variant>
        <vt:i4>1</vt:i4>
      </vt:variant>
      <vt:variant>
        <vt:lpstr>Design</vt:lpstr>
      </vt:variant>
      <vt:variant>
        <vt:i4>1</vt:i4>
      </vt:variant>
      <vt:variant>
        <vt:lpstr>Folientitel</vt:lpstr>
      </vt:variant>
      <vt:variant>
        <vt:i4>10</vt:i4>
      </vt:variant>
    </vt:vector>
  </HeadingPairs>
  <TitlesOfParts>
    <vt:vector size="12" baseType="lpstr">
      <vt:lpstr>Arial</vt:lpstr>
      <vt:lpstr>Uni_Stuttgart</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Joest Homann</cp:lastModifiedBy>
  <cp:revision>1</cp:revision>
  <dcterms:created xsi:type="dcterms:W3CDTF">2016-11-21T05:24:26Z</dcterms:created>
  <dcterms:modified xsi:type="dcterms:W3CDTF">2026-09-08T16:48:54Z</dcterms:modified>
</cp:coreProperties>
</file>